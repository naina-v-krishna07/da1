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80"/>
  </p:notesMasterIdLst>
  <p:sldIdLst>
    <p:sldId id="317" r:id="rId2"/>
    <p:sldId id="322" r:id="rId3"/>
    <p:sldId id="323" r:id="rId4"/>
    <p:sldId id="324" r:id="rId5"/>
    <p:sldId id="326" r:id="rId6"/>
    <p:sldId id="325" r:id="rId7"/>
    <p:sldId id="318" r:id="rId8"/>
    <p:sldId id="319" r:id="rId9"/>
    <p:sldId id="327" r:id="rId10"/>
    <p:sldId id="328" r:id="rId11"/>
    <p:sldId id="330" r:id="rId12"/>
    <p:sldId id="331" r:id="rId13"/>
    <p:sldId id="337" r:id="rId14"/>
    <p:sldId id="338" r:id="rId15"/>
    <p:sldId id="329" r:id="rId16"/>
    <p:sldId id="332" r:id="rId17"/>
    <p:sldId id="334" r:id="rId18"/>
    <p:sldId id="333" r:id="rId19"/>
    <p:sldId id="339" r:id="rId20"/>
    <p:sldId id="335" r:id="rId21"/>
    <p:sldId id="336" r:id="rId22"/>
    <p:sldId id="286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1" r:id="rId34"/>
    <p:sldId id="353" r:id="rId35"/>
    <p:sldId id="354" r:id="rId36"/>
    <p:sldId id="352" r:id="rId37"/>
    <p:sldId id="355" r:id="rId38"/>
    <p:sldId id="357" r:id="rId39"/>
    <p:sldId id="359" r:id="rId40"/>
    <p:sldId id="360" r:id="rId41"/>
    <p:sldId id="356" r:id="rId42"/>
    <p:sldId id="256" r:id="rId43"/>
    <p:sldId id="361" r:id="rId44"/>
    <p:sldId id="258" r:id="rId45"/>
    <p:sldId id="259" r:id="rId46"/>
    <p:sldId id="362" r:id="rId47"/>
    <p:sldId id="363" r:id="rId48"/>
    <p:sldId id="364" r:id="rId49"/>
    <p:sldId id="365" r:id="rId50"/>
    <p:sldId id="366" r:id="rId51"/>
    <p:sldId id="367" r:id="rId52"/>
    <p:sldId id="371" r:id="rId53"/>
    <p:sldId id="383" r:id="rId54"/>
    <p:sldId id="384" r:id="rId55"/>
    <p:sldId id="385" r:id="rId56"/>
    <p:sldId id="386" r:id="rId57"/>
    <p:sldId id="387" r:id="rId58"/>
    <p:sldId id="388" r:id="rId59"/>
    <p:sldId id="389" r:id="rId60"/>
    <p:sldId id="391" r:id="rId61"/>
    <p:sldId id="368" r:id="rId62"/>
    <p:sldId id="369" r:id="rId63"/>
    <p:sldId id="373" r:id="rId64"/>
    <p:sldId id="374" r:id="rId65"/>
    <p:sldId id="375" r:id="rId66"/>
    <p:sldId id="376" r:id="rId67"/>
    <p:sldId id="377" r:id="rId68"/>
    <p:sldId id="378" r:id="rId69"/>
    <p:sldId id="379" r:id="rId70"/>
    <p:sldId id="380" r:id="rId71"/>
    <p:sldId id="381" r:id="rId72"/>
    <p:sldId id="404" r:id="rId73"/>
    <p:sldId id="405" r:id="rId74"/>
    <p:sldId id="406" r:id="rId75"/>
    <p:sldId id="407" r:id="rId76"/>
    <p:sldId id="408" r:id="rId77"/>
    <p:sldId id="409" r:id="rId78"/>
    <p:sldId id="410" r:id="rId79"/>
    <p:sldId id="411" r:id="rId80"/>
    <p:sldId id="412" r:id="rId81"/>
    <p:sldId id="413" r:id="rId82"/>
    <p:sldId id="414" r:id="rId83"/>
    <p:sldId id="415" r:id="rId84"/>
    <p:sldId id="416" r:id="rId85"/>
    <p:sldId id="417" r:id="rId86"/>
    <p:sldId id="418" r:id="rId87"/>
    <p:sldId id="419" r:id="rId88"/>
    <p:sldId id="420" r:id="rId89"/>
    <p:sldId id="421" r:id="rId90"/>
    <p:sldId id="422" r:id="rId91"/>
    <p:sldId id="423" r:id="rId92"/>
    <p:sldId id="424" r:id="rId93"/>
    <p:sldId id="425" r:id="rId94"/>
    <p:sldId id="449" r:id="rId95"/>
    <p:sldId id="451" r:id="rId96"/>
    <p:sldId id="453" r:id="rId97"/>
    <p:sldId id="426" r:id="rId98"/>
    <p:sldId id="427" r:id="rId99"/>
    <p:sldId id="428" r:id="rId100"/>
    <p:sldId id="429" r:id="rId101"/>
    <p:sldId id="430" r:id="rId102"/>
    <p:sldId id="431" r:id="rId103"/>
    <p:sldId id="432" r:id="rId104"/>
    <p:sldId id="433" r:id="rId105"/>
    <p:sldId id="436" r:id="rId106"/>
    <p:sldId id="437" r:id="rId107"/>
    <p:sldId id="438" r:id="rId108"/>
    <p:sldId id="439" r:id="rId109"/>
    <p:sldId id="440" r:id="rId110"/>
    <p:sldId id="441" r:id="rId111"/>
    <p:sldId id="442" r:id="rId112"/>
    <p:sldId id="443" r:id="rId113"/>
    <p:sldId id="444" r:id="rId114"/>
    <p:sldId id="445" r:id="rId115"/>
    <p:sldId id="270" r:id="rId116"/>
    <p:sldId id="271" r:id="rId117"/>
    <p:sldId id="446" r:id="rId118"/>
    <p:sldId id="447" r:id="rId119"/>
    <p:sldId id="448" r:id="rId120"/>
    <p:sldId id="454" r:id="rId121"/>
    <p:sldId id="455" r:id="rId122"/>
    <p:sldId id="456" r:id="rId123"/>
    <p:sldId id="457" r:id="rId124"/>
    <p:sldId id="458" r:id="rId125"/>
    <p:sldId id="459" r:id="rId126"/>
    <p:sldId id="460" r:id="rId127"/>
    <p:sldId id="461" r:id="rId128"/>
    <p:sldId id="462" r:id="rId129"/>
    <p:sldId id="463" r:id="rId130"/>
    <p:sldId id="464" r:id="rId131"/>
    <p:sldId id="465" r:id="rId132"/>
    <p:sldId id="466" r:id="rId133"/>
    <p:sldId id="467" r:id="rId134"/>
    <p:sldId id="468" r:id="rId135"/>
    <p:sldId id="257" r:id="rId136"/>
    <p:sldId id="469" r:id="rId137"/>
    <p:sldId id="470" r:id="rId138"/>
    <p:sldId id="260" r:id="rId139"/>
    <p:sldId id="261" r:id="rId140"/>
    <p:sldId id="262" r:id="rId141"/>
    <p:sldId id="263" r:id="rId142"/>
    <p:sldId id="264" r:id="rId143"/>
    <p:sldId id="265" r:id="rId144"/>
    <p:sldId id="266" r:id="rId145"/>
    <p:sldId id="267" r:id="rId146"/>
    <p:sldId id="268" r:id="rId147"/>
    <p:sldId id="269" r:id="rId148"/>
    <p:sldId id="471" r:id="rId149"/>
    <p:sldId id="472" r:id="rId150"/>
    <p:sldId id="473" r:id="rId151"/>
    <p:sldId id="484" r:id="rId152"/>
    <p:sldId id="474" r:id="rId153"/>
    <p:sldId id="485" r:id="rId154"/>
    <p:sldId id="486" r:id="rId155"/>
    <p:sldId id="475" r:id="rId156"/>
    <p:sldId id="476" r:id="rId157"/>
    <p:sldId id="487" r:id="rId158"/>
    <p:sldId id="477" r:id="rId159"/>
    <p:sldId id="478" r:id="rId160"/>
    <p:sldId id="479" r:id="rId161"/>
    <p:sldId id="480" r:id="rId162"/>
    <p:sldId id="488" r:id="rId163"/>
    <p:sldId id="481" r:id="rId164"/>
    <p:sldId id="482" r:id="rId165"/>
    <p:sldId id="483" r:id="rId166"/>
    <p:sldId id="489" r:id="rId167"/>
    <p:sldId id="490" r:id="rId168"/>
    <p:sldId id="491" r:id="rId169"/>
    <p:sldId id="492" r:id="rId170"/>
    <p:sldId id="499" r:id="rId171"/>
    <p:sldId id="500" r:id="rId172"/>
    <p:sldId id="495" r:id="rId173"/>
    <p:sldId id="501" r:id="rId174"/>
    <p:sldId id="496" r:id="rId175"/>
    <p:sldId id="502" r:id="rId176"/>
    <p:sldId id="497" r:id="rId177"/>
    <p:sldId id="503" r:id="rId178"/>
    <p:sldId id="505" r:id="rId179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090">
          <p15:clr>
            <a:srgbClr val="A4A3A4"/>
          </p15:clr>
        </p15:guide>
        <p15:guide id="2" pos="14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157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36" d="100"/>
          <a:sy n="136" d="100"/>
        </p:scale>
        <p:origin x="2082" y="108"/>
      </p:cViewPr>
      <p:guideLst>
        <p:guide orient="horz" pos="1090"/>
        <p:guide pos="14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slide" Target="slides/slide171.xml"/><Relationship Id="rId180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77023-915E-4374-BDB2-F48958876D2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260350"/>
            <a:ext cx="1727200" cy="129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A4605-9951-433F-867A-DB0762976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5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10100" cy="3460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200" y="388801"/>
            <a:ext cx="4077057" cy="1691922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34" spc="-61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403" y="2118642"/>
            <a:ext cx="3489414" cy="830580"/>
          </a:xfrm>
        </p:spPr>
        <p:txBody>
          <a:bodyPr>
            <a:normAutofit/>
          </a:bodyPr>
          <a:lstStyle>
            <a:lvl1pPr marL="0" indent="0" algn="l">
              <a:buNone/>
              <a:defRPr sz="1412">
                <a:solidFill>
                  <a:schemeClr val="bg1"/>
                </a:solidFill>
                <a:latin typeface="+mj-lt"/>
              </a:defRPr>
            </a:lvl1pPr>
            <a:lvl2pPr marL="230520" indent="0" algn="ctr">
              <a:buNone/>
              <a:defRPr sz="1412"/>
            </a:lvl2pPr>
            <a:lvl3pPr marL="461040" indent="0" algn="ctr">
              <a:buNone/>
              <a:defRPr sz="1210"/>
            </a:lvl3pPr>
            <a:lvl4pPr marL="691561" indent="0" algn="ctr">
              <a:buNone/>
              <a:defRPr sz="1008"/>
            </a:lvl4pPr>
            <a:lvl5pPr marL="922081" indent="0" algn="ctr">
              <a:buNone/>
              <a:defRPr sz="1008"/>
            </a:lvl5pPr>
            <a:lvl6pPr marL="1152601" indent="0" algn="ctr">
              <a:buNone/>
              <a:defRPr sz="1008"/>
            </a:lvl6pPr>
            <a:lvl7pPr marL="1383121" indent="0" algn="ctr">
              <a:buNone/>
              <a:defRPr sz="1008"/>
            </a:lvl7pPr>
            <a:lvl8pPr marL="1613642" indent="0" algn="ctr">
              <a:buNone/>
              <a:defRPr sz="1008"/>
            </a:lvl8pPr>
            <a:lvl9pPr marL="184416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07056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44408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200" y="387263"/>
            <a:ext cx="4076481" cy="169346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4034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403" y="2113023"/>
            <a:ext cx="3488693" cy="830580"/>
          </a:xfrm>
        </p:spPr>
        <p:txBody>
          <a:bodyPr anchor="t">
            <a:normAutofit/>
          </a:bodyPr>
          <a:lstStyle>
            <a:lvl1pPr marL="0" indent="0">
              <a:buNone/>
              <a:defRPr sz="1412">
                <a:solidFill>
                  <a:schemeClr val="tx1"/>
                </a:solidFill>
                <a:latin typeface="+mj-lt"/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287713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861" y="1005925"/>
            <a:ext cx="1918954" cy="1901105"/>
          </a:xfrm>
        </p:spPr>
        <p:txBody>
          <a:bodyPr/>
          <a:lstStyle>
            <a:lvl1pPr>
              <a:defRPr sz="1109"/>
            </a:lvl1pPr>
            <a:lvl2pPr>
              <a:defRPr sz="958"/>
            </a:lvl2pPr>
            <a:lvl3pPr>
              <a:defRPr sz="857"/>
            </a:lvl3pPr>
            <a:lvl4pPr>
              <a:defRPr sz="756"/>
            </a:lvl4pPr>
            <a:lvl5pPr>
              <a:defRPr sz="706"/>
            </a:lvl5pPr>
            <a:lvl6pPr>
              <a:defRPr sz="706"/>
            </a:lvl6pPr>
            <a:lvl7pPr>
              <a:defRPr sz="706"/>
            </a:lvl7pPr>
            <a:lvl8pPr>
              <a:defRPr sz="706"/>
            </a:lvl8pPr>
            <a:lvl9pPr>
              <a:defRPr sz="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98693" y="1005925"/>
            <a:ext cx="1918954" cy="1901105"/>
          </a:xfrm>
        </p:spPr>
        <p:txBody>
          <a:bodyPr/>
          <a:lstStyle>
            <a:lvl1pPr>
              <a:defRPr sz="1109"/>
            </a:lvl1pPr>
            <a:lvl2pPr>
              <a:defRPr sz="958"/>
            </a:lvl2pPr>
            <a:lvl3pPr>
              <a:defRPr sz="857"/>
            </a:lvl3pPr>
            <a:lvl4pPr>
              <a:defRPr sz="756"/>
            </a:lvl4pPr>
            <a:lvl5pPr>
              <a:defRPr sz="706"/>
            </a:lvl5pPr>
            <a:lvl6pPr>
              <a:defRPr sz="706"/>
            </a:lvl6pPr>
            <a:lvl7pPr>
              <a:defRPr sz="706"/>
            </a:lvl7pPr>
            <a:lvl8pPr>
              <a:defRPr sz="706"/>
            </a:lvl8pPr>
            <a:lvl9pPr>
              <a:defRPr sz="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94771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861" y="1025407"/>
            <a:ext cx="1918954" cy="365049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008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861" y="1380742"/>
            <a:ext cx="1918954" cy="1615017"/>
          </a:xfrm>
        </p:spPr>
        <p:txBody>
          <a:bodyPr/>
          <a:lstStyle>
            <a:lvl1pPr>
              <a:defRPr sz="1059"/>
            </a:lvl1pPr>
            <a:lvl2pPr>
              <a:defRPr sz="908"/>
            </a:lvl2pPr>
            <a:lvl3pPr>
              <a:defRPr sz="807"/>
            </a:lvl3pPr>
            <a:lvl4pPr>
              <a:defRPr sz="706"/>
            </a:lvl4pPr>
            <a:lvl5pPr>
              <a:defRPr sz="706"/>
            </a:lvl5pPr>
            <a:lvl6pPr>
              <a:defRPr sz="706"/>
            </a:lvl6pPr>
            <a:lvl7pPr>
              <a:defRPr sz="706"/>
            </a:lvl7pPr>
            <a:lvl8pPr>
              <a:defRPr sz="706"/>
            </a:lvl8pPr>
            <a:lvl9pPr>
              <a:defRPr sz="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3015" y="1024382"/>
            <a:ext cx="1918954" cy="364532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008" b="0" cap="all" baseline="0">
                <a:latin typeface="+mj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03015" y="1379686"/>
            <a:ext cx="1918954" cy="1615017"/>
          </a:xfrm>
        </p:spPr>
        <p:txBody>
          <a:bodyPr/>
          <a:lstStyle>
            <a:lvl1pPr>
              <a:defRPr sz="1059"/>
            </a:lvl1pPr>
            <a:lvl2pPr>
              <a:defRPr sz="908"/>
            </a:lvl2pPr>
            <a:lvl3pPr>
              <a:defRPr sz="807"/>
            </a:lvl3pPr>
            <a:lvl4pPr>
              <a:defRPr sz="706"/>
            </a:lvl4pPr>
            <a:lvl5pPr>
              <a:defRPr sz="706"/>
            </a:lvl5pPr>
            <a:lvl6pPr>
              <a:defRPr sz="706"/>
            </a:lvl6pPr>
            <a:lvl7pPr>
              <a:defRPr sz="706"/>
            </a:lvl7pPr>
            <a:lvl8pPr>
              <a:defRPr sz="706"/>
            </a:lvl8pPr>
            <a:lvl9pPr>
              <a:defRPr sz="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93380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34704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15723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1312" y="0"/>
            <a:ext cx="1728788" cy="3460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123843" y="273652"/>
            <a:ext cx="1279303" cy="96901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181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31" y="384528"/>
            <a:ext cx="2305050" cy="2307167"/>
          </a:xfrm>
        </p:spPr>
        <p:txBody>
          <a:bodyPr/>
          <a:lstStyle>
            <a:lvl1pPr>
              <a:defRPr sz="1109"/>
            </a:lvl1pPr>
            <a:lvl2pPr>
              <a:defRPr sz="958"/>
            </a:lvl2pPr>
            <a:lvl3pPr>
              <a:defRPr sz="857"/>
            </a:lvl3pPr>
            <a:lvl4pPr>
              <a:defRPr sz="756"/>
            </a:lvl4pPr>
            <a:lvl5pPr>
              <a:defRPr sz="706"/>
            </a:lvl5pPr>
            <a:lvl6pPr>
              <a:defRPr sz="706"/>
            </a:lvl6pPr>
            <a:lvl7pPr>
              <a:defRPr sz="706"/>
            </a:lvl7pPr>
            <a:lvl8pPr>
              <a:defRPr sz="706"/>
            </a:lvl8pPr>
            <a:lvl9pPr>
              <a:defRPr sz="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29356" y="1267536"/>
            <a:ext cx="1285065" cy="1577970"/>
          </a:xfrm>
        </p:spPr>
        <p:txBody>
          <a:bodyPr>
            <a:normAutofit/>
          </a:bodyPr>
          <a:lstStyle>
            <a:lvl1pPr marL="0" marR="0" indent="0" algn="l" defTabSz="46104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6">
                <a:solidFill>
                  <a:srgbClr val="404040"/>
                </a:solidFill>
              </a:defRPr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marL="0" marR="0" lvl="0" indent="0" algn="l" defTabSz="461040" rtl="0" eaLnBrk="1" fontAlgn="auto" latinLnBrk="0" hangingPunct="1">
              <a:lnSpc>
                <a:spcPct val="100000"/>
              </a:lnSpc>
              <a:spcBef>
                <a:spcPts val="70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71385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488" y="2734421"/>
            <a:ext cx="4076481" cy="309481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1412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4610100" cy="2690156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403"/>
              </a:spcBef>
              <a:buNone/>
              <a:defRPr sz="1613">
                <a:solidFill>
                  <a:srgbClr val="4D4D4D"/>
                </a:solidFill>
              </a:defRPr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860" y="2982228"/>
            <a:ext cx="3489846" cy="269169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5"/>
              </a:spcBef>
              <a:buNone/>
              <a:defRPr sz="706">
                <a:solidFill>
                  <a:srgbClr val="262626"/>
                </a:solidFill>
              </a:defRPr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2779812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08567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06307" y="350882"/>
            <a:ext cx="994053" cy="2422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1733" y="360495"/>
            <a:ext cx="2924532" cy="27253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388115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8514" y="252079"/>
            <a:ext cx="4073455" cy="836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717" y="1005925"/>
            <a:ext cx="4066252" cy="1900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9318" y="3235911"/>
            <a:ext cx="1555909" cy="1153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9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318" y="3307694"/>
            <a:ext cx="1901666" cy="1153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9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97851" y="2941864"/>
            <a:ext cx="1106424" cy="70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538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216284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61040" rtl="0" eaLnBrk="1" latinLnBrk="0" hangingPunct="1">
        <a:lnSpc>
          <a:spcPct val="90000"/>
        </a:lnSpc>
        <a:spcBef>
          <a:spcPct val="0"/>
        </a:spcBef>
        <a:buNone/>
        <a:defRPr sz="2420" kern="1200" spc="-61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85000"/>
        </a:lnSpc>
        <a:spcBef>
          <a:spcPts val="655"/>
        </a:spcBef>
        <a:buFont typeface="Arial" pitchFamily="34" charset="0"/>
        <a:buChar char=" "/>
        <a:defRPr sz="121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38312" indent="-172890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15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76624" indent="-276624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1008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414936" indent="-414936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90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553249" indent="-553249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90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605040" indent="-115260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90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705880" indent="-115260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90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806720" indent="-115260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90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907560" indent="-115260" algn="l" defTabSz="461040" rtl="0" eaLnBrk="1" latinLnBrk="0" hangingPunct="1">
        <a:lnSpc>
          <a:spcPct val="85000"/>
        </a:lnSpc>
        <a:spcBef>
          <a:spcPts val="303"/>
        </a:spcBef>
        <a:buFont typeface="Arial" pitchFamily="34" charset="0"/>
        <a:buChar char=" "/>
        <a:defRPr sz="90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522" y="1020603"/>
            <a:ext cx="3976211" cy="668918"/>
          </a:xfrm>
        </p:spPr>
        <p:txBody>
          <a:bodyPr vert="horz" lIns="38734" tIns="19367" rIns="38734" bIns="19367" rtlCol="0" anchor="ctr">
            <a:normAutofit fontScale="90000"/>
          </a:bodyPr>
          <a:lstStyle/>
          <a:p>
            <a:pPr algn="ctr"/>
            <a:r>
              <a:rPr lang="en-IN" sz="25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BACSE104 (2 4 0 4)</a:t>
            </a:r>
            <a:br>
              <a:rPr lang="en-IN" sz="25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</a:br>
            <a:r>
              <a:rPr lang="en-IN" sz="2500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n-lt"/>
              </a:rPr>
              <a:t>Structured and Object 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358597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8D2542-534D-A6D7-6326-C44A7AD39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7254"/>
            <a:ext cx="4610100" cy="14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9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CBFF-02CF-F26D-8BA3-B58B7EEE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C3B55-226B-F523-3A12-47398B89F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048"/>
            <a:ext cx="4610100" cy="193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10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E28A5-5E1F-DD81-04D3-A8931163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41638-E76E-92CC-2483-408864D38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30175"/>
            <a:ext cx="3875404" cy="16927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SYLLABUS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E9EF2-E28C-EEFE-2D01-E861B43E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3373"/>
            <a:ext cx="4610100" cy="20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6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96B3-2925-3612-A12E-CD839439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B11B-51AB-F5F8-801D-EA521F987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66FE3-5F29-0376-5830-DA54AB520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30175"/>
            <a:ext cx="3875404" cy="16927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SYLLABUS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D5A2D-550C-D4EF-D633-A4897E739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358775"/>
            <a:ext cx="4514850" cy="380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926CC9-7802-A7E4-1535-EDD9B7931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3141"/>
            <a:ext cx="4610100" cy="268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25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F2BD-6168-11FB-A805-6E4ED4B8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D0713-347B-8CC3-086D-171FF7FF1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59461-8B74-E520-43BE-7B393DBA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038"/>
            <a:ext cx="4610100" cy="23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14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53975"/>
            <a:ext cx="3893845" cy="232756"/>
          </a:xfr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IN" sz="1400" b="1" spc="15" dirty="0">
                <a:solidFill>
                  <a:srgbClr val="993333"/>
                </a:solidFill>
                <a:latin typeface="Arial"/>
                <a:cs typeface="Arial"/>
              </a:rPr>
              <a:t>Evaluation- Theory BACSE104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23850" y="739775"/>
            <a:ext cx="3875404" cy="1015663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Assignment-1 : 10%</a:t>
            </a:r>
          </a:p>
          <a:p>
            <a:r>
              <a:rPr lang="en-IN" dirty="0"/>
              <a:t>Assignment-2 : 10%</a:t>
            </a:r>
          </a:p>
          <a:p>
            <a:r>
              <a:rPr lang="en-IN" dirty="0"/>
              <a:t>Quiz : 10%</a:t>
            </a:r>
          </a:p>
          <a:p>
            <a:r>
              <a:rPr lang="en-IN" dirty="0"/>
              <a:t>CAT-1: 15%</a:t>
            </a:r>
          </a:p>
          <a:p>
            <a:r>
              <a:rPr lang="en-IN" dirty="0"/>
              <a:t>CAT-2 : 15%</a:t>
            </a:r>
          </a:p>
          <a:p>
            <a:r>
              <a:rPr lang="en-IN" dirty="0"/>
              <a:t>FAT : 40%</a:t>
            </a:r>
          </a:p>
        </p:txBody>
      </p:sp>
    </p:spTree>
    <p:extLst>
      <p:ext uri="{BB962C8B-B14F-4D97-AF65-F5344CB8AC3E}">
        <p14:creationId xmlns:p14="http://schemas.microsoft.com/office/powerpoint/2010/main" val="2336286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53975"/>
            <a:ext cx="3893845" cy="232756"/>
          </a:xfr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IN" sz="1400" b="1" spc="15" dirty="0">
                <a:solidFill>
                  <a:srgbClr val="993333"/>
                </a:solidFill>
                <a:latin typeface="Arial"/>
                <a:cs typeface="Arial"/>
              </a:rPr>
              <a:t>Evaluation- LAB BACSE104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23850" y="739775"/>
            <a:ext cx="3875404" cy="118494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PAT-1 : 10%</a:t>
            </a:r>
          </a:p>
          <a:p>
            <a:r>
              <a:rPr lang="en-IN" dirty="0"/>
              <a:t>PAT-2 : 15%</a:t>
            </a:r>
          </a:p>
          <a:p>
            <a:r>
              <a:rPr lang="en-IN" dirty="0"/>
              <a:t>PAT-3 : 15%</a:t>
            </a:r>
          </a:p>
          <a:p>
            <a:r>
              <a:rPr lang="en-IN" dirty="0"/>
              <a:t>PAT-4: 10%</a:t>
            </a:r>
          </a:p>
          <a:p>
            <a:r>
              <a:rPr lang="en-IN" dirty="0"/>
              <a:t>Practice  in  Iam Neo – 10%</a:t>
            </a:r>
          </a:p>
          <a:p>
            <a:r>
              <a:rPr lang="en-IN" dirty="0"/>
              <a:t>FAT : 40%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80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D22D-0EBD-FDB0-189A-83E55B2DC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499607"/>
            <a:ext cx="3893845" cy="169277"/>
          </a:xfrm>
        </p:spPr>
        <p:txBody>
          <a:bodyPr>
            <a:normAutofit fontScale="90000"/>
          </a:bodyPr>
          <a:lstStyle/>
          <a:p>
            <a:r>
              <a:rPr lang="en-IN" sz="1100" b="1" dirty="0"/>
              <a:t>What is a Program?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AF934-C169-7038-96B5-F2F80A813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739775"/>
            <a:ext cx="3875404" cy="1354217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program</a:t>
            </a:r>
            <a:r>
              <a:rPr lang="en-US" dirty="0"/>
              <a:t> is a set of instructions written to perform a specific task.</a:t>
            </a:r>
            <a:br>
              <a:rPr lang="en-US" dirty="0"/>
            </a:br>
            <a:r>
              <a:rPr lang="en-US" dirty="0"/>
              <a:t>Examples: WhatsApp chat, YouTube app, ATM operations, bill payment.</a:t>
            </a:r>
          </a:p>
          <a:p>
            <a:r>
              <a:rPr lang="en-US" dirty="0"/>
              <a:t>A computer understands only </a:t>
            </a:r>
            <a:r>
              <a:rPr lang="en-US" b="1" dirty="0"/>
              <a:t>binary (0s &amp; 1s)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Programming languages help humans communicate with machines.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60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3417-44E0-1F58-D036-F13D7621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83" y="499607"/>
            <a:ext cx="3893845" cy="169277"/>
          </a:xfrm>
        </p:spPr>
        <p:txBody>
          <a:bodyPr>
            <a:normAutofit fontScale="90000"/>
          </a:bodyPr>
          <a:lstStyle/>
          <a:p>
            <a:r>
              <a:rPr lang="en-US" sz="1100" b="1" dirty="0"/>
              <a:t>What is a Programming Language?</a:t>
            </a:r>
            <a:endParaRPr lang="en-IN" sz="11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26148-131F-2523-62DB-E90FCC36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715347"/>
            <a:ext cx="3875404" cy="10156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programming language is a communication bridge between:</a:t>
            </a:r>
          </a:p>
          <a:p>
            <a:r>
              <a:rPr lang="en-US" b="1" dirty="0"/>
              <a:t>Human → Computer</a:t>
            </a:r>
          </a:p>
          <a:p>
            <a:r>
              <a:rPr lang="en-US" dirty="0"/>
              <a:t>Human writes code</a:t>
            </a:r>
          </a:p>
          <a:p>
            <a:r>
              <a:rPr lang="en-US" dirty="0"/>
              <a:t>Compiler converts it</a:t>
            </a:r>
          </a:p>
          <a:p>
            <a:r>
              <a:rPr lang="en-US" dirty="0"/>
              <a:t>CPU executes 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21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ADEA-A8B3-338E-C7A5-E795359E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1E5DC-9127-A929-EFB2-14AC88AF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83" y="499607"/>
            <a:ext cx="4212667" cy="338554"/>
          </a:xfrm>
        </p:spPr>
        <p:txBody>
          <a:bodyPr/>
          <a:lstStyle/>
          <a:p>
            <a:r>
              <a:rPr lang="en-US" sz="1100" b="1" dirty="0"/>
              <a:t>Evolution of Programming Languages (1940 → 2025 → Future)</a:t>
            </a:r>
            <a:endParaRPr lang="en-IN" sz="11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C2CB2-5689-A2F4-95C2-A6DFC6BA2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892175"/>
            <a:ext cx="3875404" cy="50783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1940s – Machine Language (1st Generation)</a:t>
            </a:r>
          </a:p>
          <a:p>
            <a:r>
              <a:rPr lang="en-US" dirty="0"/>
              <a:t>Programs written directly in </a:t>
            </a:r>
            <a:r>
              <a:rPr lang="en-US" b="1" dirty="0"/>
              <a:t>binary (0s &amp; 1s)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Extremely difficult.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C128051-D5E8-AB22-7EF2-5D02D8BB3E1E}"/>
              </a:ext>
            </a:extLst>
          </p:cNvPr>
          <p:cNvSpPr txBox="1">
            <a:spLocks/>
          </p:cNvSpPr>
          <p:nvPr/>
        </p:nvSpPr>
        <p:spPr>
          <a:xfrm>
            <a:off x="579120" y="1552914"/>
            <a:ext cx="3875404" cy="1354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1950s – Assembly Language (2nd Generation)</a:t>
            </a:r>
          </a:p>
          <a:p>
            <a:r>
              <a:rPr lang="en-US" dirty="0"/>
              <a:t>Mnemonics like:</a:t>
            </a:r>
          </a:p>
          <a:p>
            <a:endParaRPr lang="en-US" dirty="0"/>
          </a:p>
          <a:p>
            <a:r>
              <a:rPr lang="en-US" dirty="0"/>
              <a:t>MOV A, B</a:t>
            </a:r>
          </a:p>
          <a:p>
            <a:r>
              <a:rPr lang="en-US" dirty="0"/>
              <a:t>ADD A, C</a:t>
            </a:r>
          </a:p>
          <a:p>
            <a:endParaRPr lang="en-US" dirty="0"/>
          </a:p>
          <a:p>
            <a:r>
              <a:rPr lang="en-IN" dirty="0"/>
              <a:t>Easier, but still hardware-dependent.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4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2C87-E982-8A48-5046-474886E5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CAC9-D0E6-4BA6-FC58-156B77AC9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83" y="499607"/>
            <a:ext cx="4212667" cy="338554"/>
          </a:xfrm>
        </p:spPr>
        <p:txBody>
          <a:bodyPr/>
          <a:lstStyle/>
          <a:p>
            <a:r>
              <a:rPr lang="en-US" sz="1100" b="1" dirty="0"/>
              <a:t>Evolution of Programming Languages (1940 → 2025 → Future)</a:t>
            </a:r>
            <a:endParaRPr lang="en-IN" sz="11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F9385-91F1-834F-D74C-62206418A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183" y="892175"/>
            <a:ext cx="4125671" cy="247760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1960s–2025 – High-Level Languages (3rd Generation)</a:t>
            </a:r>
          </a:p>
          <a:p>
            <a:r>
              <a:rPr lang="en-US" dirty="0"/>
              <a:t>Human-friendly languages:</a:t>
            </a:r>
          </a:p>
          <a:p>
            <a:r>
              <a:rPr lang="en-US" dirty="0"/>
              <a:t>C, C++, Java, Python, JavaScript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Procedural Languages → 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Object-Oriented Languages → C++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&amp; Virtual Machine Languages → Java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Scripting → Python</a:t>
            </a:r>
          </a:p>
          <a:p>
            <a:endParaRPr lang="en-US" dirty="0"/>
          </a:p>
          <a:p>
            <a:r>
              <a:rPr lang="en-US" b="1" dirty="0"/>
              <a:t>2000+ – Domain-Specific Languages (4th Generation)</a:t>
            </a:r>
          </a:p>
          <a:p>
            <a:r>
              <a:rPr lang="en-US" dirty="0"/>
              <a:t>SQL, MATLAB, R, SAS.</a:t>
            </a:r>
          </a:p>
          <a:p>
            <a:br>
              <a:rPr lang="en-US" dirty="0"/>
            </a:br>
            <a:r>
              <a:rPr lang="en-US" b="1" dirty="0"/>
              <a:t>2020+ – AI-Assisted Programming (5th Generation)</a:t>
            </a:r>
          </a:p>
          <a:p>
            <a:r>
              <a:rPr lang="en-US" dirty="0"/>
              <a:t>AI tools like ChatGPT, Copilot generate code automatically.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772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ions of Programming Languages - GeeksforGeeks">
            <a:extLst>
              <a:ext uri="{FF2B5EF4-FFF2-40B4-BE49-F238E27FC236}">
                <a16:creationId xmlns:a16="http://schemas.microsoft.com/office/drawing/2014/main" id="{84A7541D-03CE-7DC6-63D1-BE9A468164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14450" y="739775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5" name="AutoShape 4" descr="Generations of Programming Languages - GeeksforGeeks">
            <a:extLst>
              <a:ext uri="{FF2B5EF4-FFF2-40B4-BE49-F238E27FC236}">
                <a16:creationId xmlns:a16="http://schemas.microsoft.com/office/drawing/2014/main" id="{D9F793F9-2D25-5B01-0895-FC863A8731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66850" y="892175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0BC57-A80F-A1E7-D50E-59AAFF4C5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8" y="629859"/>
            <a:ext cx="4473063" cy="220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27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3C4E-84AD-7B5C-3AB3-01F5F7E36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52406-52D0-63E0-CB5E-D354AA0A8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History Of Programming Languages">
            <a:extLst>
              <a:ext uri="{FF2B5EF4-FFF2-40B4-BE49-F238E27FC236}">
                <a16:creationId xmlns:a16="http://schemas.microsoft.com/office/drawing/2014/main" id="{87ADE198-EBAB-0E69-04F7-D6859CDC7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2938"/>
            <a:ext cx="4610100" cy="217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849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9E7D-E018-2753-7BBB-01C24E72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4" y="499607"/>
            <a:ext cx="3893845" cy="161583"/>
          </a:xfrm>
        </p:spPr>
        <p:txBody>
          <a:bodyPr>
            <a:normAutofit fontScale="90000"/>
          </a:bodyPr>
          <a:lstStyle/>
          <a:p>
            <a:r>
              <a:rPr lang="en-IN" sz="1050" b="1" dirty="0"/>
              <a:t>Future of Programming – Of course its started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239D15-7197-B8F5-44A2-56A127864E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2582" y="791656"/>
            <a:ext cx="3744936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90% of code written by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Neural-linked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Robotics &amp; embedded coding (still dominated by C/C++)</a:t>
            </a:r>
          </a:p>
        </p:txBody>
      </p:sp>
    </p:spTree>
    <p:extLst>
      <p:ext uri="{BB962C8B-B14F-4D97-AF65-F5344CB8AC3E}">
        <p14:creationId xmlns:p14="http://schemas.microsoft.com/office/powerpoint/2010/main" val="2707885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0E5C-779A-A86A-7FE8-F23F37DF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418815"/>
            <a:ext cx="3893845" cy="161583"/>
          </a:xfrm>
        </p:spPr>
        <p:txBody>
          <a:bodyPr>
            <a:normAutofit fontScale="90000"/>
          </a:bodyPr>
          <a:lstStyle/>
          <a:p>
            <a:r>
              <a:rPr lang="en-US" sz="1050" b="1" dirty="0"/>
              <a:t>WHY Learn C Programming in Even Now?</a:t>
            </a:r>
            <a:endParaRPr lang="en-IN" sz="105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A5721-3D36-29D1-C30E-6546380DD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48" y="663575"/>
            <a:ext cx="3875404" cy="25391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 teaches: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Memory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Pointers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Efficiency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System-level thinking</a:t>
            </a:r>
          </a:p>
          <a:p>
            <a:r>
              <a:rPr lang="en-US" dirty="0"/>
              <a:t>C is the </a:t>
            </a:r>
            <a:r>
              <a:rPr lang="en-US" b="1" dirty="0"/>
              <a:t>foundation of all modern languages</a:t>
            </a:r>
            <a:r>
              <a:rPr lang="en-US" dirty="0"/>
              <a:t> and used in: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Operating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Embedded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Robotics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Automotive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Banking hardware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Medical instruments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945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3CB01-1016-1E34-74F6-213313A9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C4829-CF39-4CF4-973E-6F5A32F80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483" cy="3460750"/>
          </a:xfrm>
          <a:prstGeom prst="rect">
            <a:avLst/>
          </a:prstGeom>
          <a:solidFill>
            <a:schemeClr val="accent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3501B-79DF-682A-0251-DE081E4FE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965" y="346018"/>
            <a:ext cx="2952454" cy="1900529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600" b="1" dirty="0">
                <a:latin typeface="Arial" panose="020B0604020202020204" pitchFamily="34" charset="0"/>
                <a:cs typeface="Arial" panose="020B0604020202020204" pitchFamily="34" charset="0"/>
              </a:rPr>
              <a:t>C = Procedural Language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Focus on functions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Program = Set of instructions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No classes/objects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Direct hardware control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Fast &amp; efficient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Used for OS, embedded &amp; low-level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600" b="1" dirty="0">
                <a:latin typeface="Arial" panose="020B0604020202020204" pitchFamily="34" charset="0"/>
                <a:cs typeface="Arial" panose="020B0604020202020204" pitchFamily="34" charset="0"/>
              </a:rPr>
              <a:t>C++ = Object-Oriented Language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Built on top of 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Adds </a:t>
            </a:r>
            <a:r>
              <a:rPr lang="en-IN" sz="600" b="1" dirty="0">
                <a:latin typeface="Arial" panose="020B0604020202020204" pitchFamily="34" charset="0"/>
                <a:cs typeface="Arial" panose="020B0604020202020204" pitchFamily="34" charset="0"/>
              </a:rPr>
              <a:t>classes, objects, inheritance, polymorphism, abstraction, encapsulation</a:t>
            </a:r>
            <a:endParaRPr lang="en-IN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Supports both </a:t>
            </a:r>
            <a:r>
              <a:rPr lang="en-IN" sz="600" b="1" dirty="0">
                <a:latin typeface="Arial" panose="020B0604020202020204" pitchFamily="34" charset="0"/>
                <a:cs typeface="Arial" panose="020B0604020202020204" pitchFamily="34" charset="0"/>
              </a:rPr>
              <a:t>procedural + OOP</a:t>
            </a: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 (hybrid)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600" dirty="0">
                <a:latin typeface="Arial" panose="020B0604020202020204" pitchFamily="34" charset="0"/>
                <a:cs typeface="Arial" panose="020B0604020202020204" pitchFamily="34" charset="0"/>
              </a:rPr>
              <a:t>Used in: Gaming engines, Real-time simulations, Banking systems, Robotics, 3D Rendering (Unreal Engine), Automotive software (ADAS, ECUs)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7DB57-83A7-39F7-2127-C02E2748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400" y="2318330"/>
            <a:ext cx="3075568" cy="917580"/>
          </a:xfrm>
        </p:spPr>
        <p:txBody>
          <a:bodyPr anchor="b">
            <a:normAutofit/>
          </a:bodyPr>
          <a:lstStyle/>
          <a:p>
            <a:pPr algn="r"/>
            <a:r>
              <a:rPr lang="en-IN" sz="2600" dirty="0"/>
              <a:t>C vs C++</a:t>
            </a:r>
            <a:endParaRPr lang="en-IN" sz="2600" b="1" dirty="0"/>
          </a:p>
        </p:txBody>
      </p:sp>
    </p:spTree>
    <p:extLst>
      <p:ext uri="{BB962C8B-B14F-4D97-AF65-F5344CB8AC3E}">
        <p14:creationId xmlns:p14="http://schemas.microsoft.com/office/powerpoint/2010/main" val="2546313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8AF8-E0AF-2EE8-768F-006268AB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499607"/>
            <a:ext cx="3893845" cy="153888"/>
          </a:xfrm>
        </p:spPr>
        <p:txBody>
          <a:bodyPr>
            <a:normAutofit fontScale="90000"/>
          </a:bodyPr>
          <a:lstStyle/>
          <a:p>
            <a:r>
              <a:rPr lang="en-US" sz="1000" b="1" dirty="0"/>
              <a:t>Why C Came First, Then C++? </a:t>
            </a:r>
            <a:endParaRPr lang="en-IN" sz="1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17A3E-78DD-462D-C4B2-6AB427086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48" y="892175"/>
            <a:ext cx="3875404" cy="17389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🔵 C → Focus: How to do the task?</a:t>
            </a:r>
          </a:p>
          <a:p>
            <a:r>
              <a:rPr lang="en-US" dirty="0"/>
              <a:t>Steps, procedures, functions.</a:t>
            </a:r>
          </a:p>
          <a:p>
            <a:r>
              <a:rPr lang="en-US" b="1" dirty="0"/>
              <a:t>🔴 C++ → Focus: Who performs the task?</a:t>
            </a:r>
          </a:p>
          <a:p>
            <a:r>
              <a:rPr lang="en-US" dirty="0"/>
              <a:t>Objects, responsibilities, real-world modelling.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sz="1200" b="1" dirty="0"/>
              <a:t>BCPL → B → C → C++ → Java → C#</a:t>
            </a:r>
          </a:p>
          <a:p>
            <a:endParaRPr lang="en-IN" sz="1200" b="1" dirty="0"/>
          </a:p>
          <a:p>
            <a:r>
              <a:rPr lang="en-US" sz="1200" dirty="0"/>
              <a:t>Python, JavaScript are influenced indirectly.</a:t>
            </a:r>
            <a:endParaRPr lang="en-IN" sz="12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331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B6BA-B775-A868-E7D3-4A8590E2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2A749-A693-9F5A-5441-89FAED775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3A14B-20FA-9ECC-03DE-0FEB9105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345"/>
            <a:ext cx="461010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26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F48-A2A1-6E9F-E113-90F769B9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53888"/>
          </a:xfrm>
        </p:spPr>
        <p:txBody>
          <a:bodyPr>
            <a:normAutofit fontScale="90000"/>
          </a:bodyPr>
          <a:lstStyle/>
          <a:p>
            <a:r>
              <a:rPr lang="en-US" sz="1000" b="1" dirty="0"/>
              <a:t>Why We Learn BOTH C and C++ Today?</a:t>
            </a:r>
            <a:endParaRPr lang="en-IN" sz="1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4ACC2-D25C-F95D-9C79-EA69F3AEC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511175"/>
            <a:ext cx="3875404" cy="186204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⭐ Why Learn 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Memory-level understanding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Pointers, arrays, recursion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Efficient system programming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Base for modern languages</a:t>
            </a:r>
          </a:p>
          <a:p>
            <a:r>
              <a:rPr lang="en-IN" b="1" dirty="0"/>
              <a:t>⭐ Why Learn C++?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Real-world problem modelling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Object Oriented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Industry demand (gaming, AI frameworks, robotics)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Strong base for learning </a:t>
            </a:r>
            <a:r>
              <a:rPr lang="en-IN" b="1" dirty="0"/>
              <a:t>Java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289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7D06-ECCE-7E0B-41EA-9A7180D4B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130175"/>
            <a:ext cx="3893845" cy="153888"/>
          </a:xfrm>
        </p:spPr>
        <p:txBody>
          <a:bodyPr>
            <a:normAutofit fontScale="90000"/>
          </a:bodyPr>
          <a:lstStyle/>
          <a:p>
            <a:r>
              <a:rPr lang="en-US" sz="1000" b="1" dirty="0"/>
              <a:t>Future of Programming (C &amp; C++)</a:t>
            </a:r>
            <a:endParaRPr lang="en-IN" sz="1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09DCE4-219F-3098-6B05-18F2DF9A0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050" y="625103"/>
            <a:ext cx="3754554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remains dominant in embedded &amp; OS-level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C++ 26/29 standards (modern C++) are booming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compilers will still rely on C/C++ foundations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Robotics, ADAS, aerospace → C++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IoT, medical devices → C</a:t>
            </a:r>
          </a:p>
        </p:txBody>
      </p:sp>
    </p:spTree>
    <p:extLst>
      <p:ext uri="{BB962C8B-B14F-4D97-AF65-F5344CB8AC3E}">
        <p14:creationId xmlns:p14="http://schemas.microsoft.com/office/powerpoint/2010/main" val="4184347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54C4829-CF39-4CF4-973E-6F5A32F80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483" cy="3460750"/>
          </a:xfrm>
          <a:prstGeom prst="rect">
            <a:avLst/>
          </a:prstGeom>
          <a:solidFill>
            <a:schemeClr val="accent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364964" y="346018"/>
            <a:ext cx="4073685" cy="19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 is a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general-purpose, procedural programming language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developed by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Dennis Ritchie at Bell Labs in 1972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was originally created for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programming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especially for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writing operating systems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85000"/>
              </a:lnSpc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Why C became popular?</a:t>
            </a: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Fast &amp; efficient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(close to hardware)</a:t>
            </a: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Portable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(write once, run anywhere)</a:t>
            </a: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Structured language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(clean design)</a:t>
            </a: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Rich set of operators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Flexibility for both low-level &amp; high-level tasks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83515" marR="17780" indent="-171450">
              <a:lnSpc>
                <a:spcPct val="85000"/>
              </a:lnSpc>
              <a:spcBef>
                <a:spcPts val="229"/>
              </a:spcBef>
              <a:buSzPct val="90909"/>
              <a:buFont typeface="Arial" panose="020B0604020202020204" pitchFamily="34" charset="0"/>
              <a:buChar char="•"/>
              <a:tabLst>
                <a:tab pos="144780" algn="l"/>
              </a:tabLst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6400" y="2318330"/>
            <a:ext cx="3075568" cy="917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r" defTabSz="914400">
              <a:lnSpc>
                <a:spcPct val="85000"/>
              </a:lnSpc>
            </a:pPr>
            <a:r>
              <a:rPr lang="en-US" sz="2600" b="1" spc="-120" dirty="0"/>
              <a:t>What is C?</a:t>
            </a:r>
          </a:p>
        </p:txBody>
      </p:sp>
    </p:spTree>
    <p:extLst>
      <p:ext uri="{BB962C8B-B14F-4D97-AF65-F5344CB8AC3E}">
        <p14:creationId xmlns:p14="http://schemas.microsoft.com/office/powerpoint/2010/main" val="1041201541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C4829-CF39-4CF4-973E-6F5A32F80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483" cy="3460750"/>
          </a:xfrm>
          <a:prstGeom prst="rect">
            <a:avLst/>
          </a:prstGeom>
          <a:solidFill>
            <a:schemeClr val="accent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6B775-29A4-610B-894E-140B10645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964" y="346018"/>
            <a:ext cx="3768885" cy="1900529"/>
          </a:xfrm>
        </p:spPr>
        <p:txBody>
          <a:bodyPr>
            <a:noAutofit/>
          </a:bodyPr>
          <a:lstStyle/>
          <a:p>
            <a:r>
              <a:rPr lang="en-IN" sz="1500" b="1" dirty="0">
                <a:solidFill>
                  <a:schemeClr val="accent1">
                    <a:lumMod val="75000"/>
                  </a:schemeClr>
                </a:solidFill>
              </a:rPr>
              <a:t>Where is C used today?</a:t>
            </a:r>
          </a:p>
          <a:p>
            <a:endParaRPr lang="en-IN" sz="15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1200" dirty="0"/>
              <a:t>C is still unbeatable in: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Operating Systems</a:t>
            </a:r>
            <a:br>
              <a:rPr lang="en-IN" sz="1200" dirty="0"/>
            </a:br>
            <a:r>
              <a:rPr lang="en-IN" sz="1200" dirty="0"/>
              <a:t>Windows, Linux, iOS kernel components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Embedded Systems</a:t>
            </a:r>
            <a:br>
              <a:rPr lang="en-IN" sz="1200" dirty="0"/>
            </a:br>
            <a:r>
              <a:rPr lang="en-IN" sz="1200" dirty="0"/>
              <a:t>Washing machine boards, microcontrollers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Automotive Control Units 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Robotics firmware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Telecom systems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Compilers &amp; interpreters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Game engines core</a:t>
            </a:r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46439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C4829-CF39-4CF4-973E-6F5A32F80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483" cy="3460750"/>
          </a:xfrm>
          <a:prstGeom prst="rect">
            <a:avLst/>
          </a:prstGeom>
          <a:solidFill>
            <a:schemeClr val="accent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EC955-4B19-08D6-AA3A-21D4A8879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965" y="346018"/>
            <a:ext cx="2952454" cy="1900529"/>
          </a:xfrm>
        </p:spPr>
        <p:txBody>
          <a:bodyPr>
            <a:normAutofit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("Hello, World!");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967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CEAA-E8D5-701D-08E8-5C8D3E79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0175"/>
            <a:ext cx="3893845" cy="161583"/>
          </a:xfrm>
        </p:spPr>
        <p:txBody>
          <a:bodyPr>
            <a:noAutofit/>
          </a:bodyPr>
          <a:lstStyle/>
          <a:p>
            <a:r>
              <a:rPr lang="en-US" sz="1600" b="1" dirty="0"/>
              <a:t>Structure of a C Program</a:t>
            </a:r>
            <a:endParaRPr lang="en-IN" sz="1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C63F6-725A-ED5D-5C33-17008A2A7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54" y="358775"/>
            <a:ext cx="4420994" cy="1292662"/>
          </a:xfrm>
        </p:spPr>
        <p:txBody>
          <a:bodyPr>
            <a:normAutofit fontScale="92500" lnSpcReduction="10000"/>
          </a:bodyPr>
          <a:lstStyle/>
          <a:p>
            <a:r>
              <a:rPr lang="en-IN" sz="1200" dirty="0"/>
              <a:t>Documentation Section  	→ // comments</a:t>
            </a:r>
          </a:p>
          <a:p>
            <a:r>
              <a:rPr lang="en-IN" sz="1200" dirty="0"/>
              <a:t>Link Section            	→ #include &lt;</a:t>
            </a:r>
            <a:r>
              <a:rPr lang="en-IN" sz="1200" dirty="0" err="1"/>
              <a:t>stdio.h</a:t>
            </a:r>
            <a:r>
              <a:rPr lang="en-IN" sz="1200" dirty="0"/>
              <a:t>&gt;</a:t>
            </a:r>
          </a:p>
          <a:p>
            <a:r>
              <a:rPr lang="en-IN" sz="1200" dirty="0"/>
              <a:t>Definition Section      	→ #define PI 3.14</a:t>
            </a:r>
          </a:p>
          <a:p>
            <a:r>
              <a:rPr lang="en-IN" sz="1200" dirty="0"/>
              <a:t>Global Declarations     	→ int a;</a:t>
            </a:r>
          </a:p>
          <a:p>
            <a:r>
              <a:rPr lang="en-IN" sz="1200" dirty="0"/>
              <a:t>main() Function         	→ starting point of program</a:t>
            </a:r>
          </a:p>
          <a:p>
            <a:r>
              <a:rPr lang="en-IN" sz="1200" dirty="0"/>
              <a:t>User-defined Functions  	→ custom functions</a:t>
            </a:r>
          </a:p>
          <a:p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0C2B2-169B-8F9F-258D-8647A0D1F181}"/>
              </a:ext>
            </a:extLst>
          </p:cNvPr>
          <p:cNvSpPr txBox="1"/>
          <p:nvPr/>
        </p:nvSpPr>
        <p:spPr>
          <a:xfrm>
            <a:off x="171450" y="1712077"/>
            <a:ext cx="41161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r>
              <a:rPr lang="en-IN" sz="1600" dirty="0"/>
              <a:t>#define PI 3.14</a:t>
            </a:r>
          </a:p>
          <a:p>
            <a:r>
              <a:rPr lang="en-IN" sz="1600" dirty="0"/>
              <a:t>int main() {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("Area: %f", PI * 5 * 5);</a:t>
            </a:r>
          </a:p>
          <a:p>
            <a:r>
              <a:rPr lang="en-IN" sz="1600" dirty="0"/>
              <a:t>    return 0;</a:t>
            </a:r>
          </a:p>
          <a:p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8017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8BAFE4F-01D5-1E99-B7F1-90B1460CD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0174"/>
            <a:ext cx="2971800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928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595E625-1D4D-9B64-5B50-9F79CDA2C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0"/>
            <a:ext cx="3200399" cy="346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951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BB6C-38E3-003C-2BB5-1E6F64A9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128687"/>
            <a:ext cx="3893845" cy="153888"/>
          </a:xfrm>
        </p:spPr>
        <p:txBody>
          <a:bodyPr>
            <a:noAutofit/>
          </a:bodyPr>
          <a:lstStyle/>
          <a:p>
            <a:r>
              <a:rPr lang="en-IN" sz="1500" b="1" dirty="0"/>
              <a:t>Compiler vs Interpreter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20B8-5510-199F-4512-882ECDF5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18" y="357287"/>
            <a:ext cx="3875404" cy="194668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IN" sz="1200" b="1" dirty="0"/>
              <a:t>Compiler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Translates </a:t>
            </a:r>
            <a:r>
              <a:rPr lang="en-IN" sz="1200" b="1" dirty="0"/>
              <a:t>entire program at once</a:t>
            </a:r>
            <a:endParaRPr lang="en-IN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Generates </a:t>
            </a:r>
            <a:r>
              <a:rPr lang="en-IN" sz="1200" b="1" dirty="0"/>
              <a:t>.exe</a:t>
            </a:r>
            <a:r>
              <a:rPr lang="en-IN" sz="1200" dirty="0"/>
              <a:t> file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Faster execution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Error messages shown after full compilation</a:t>
            </a:r>
            <a:br>
              <a:rPr lang="en-IN" sz="1200" dirty="0"/>
            </a:br>
            <a:r>
              <a:rPr lang="en-IN" sz="1200" dirty="0"/>
              <a:t>Examples: </a:t>
            </a:r>
            <a:r>
              <a:rPr lang="en-IN" sz="1200" b="1" dirty="0"/>
              <a:t>C, C++, Java</a:t>
            </a:r>
            <a:endParaRPr lang="en-IN" sz="1200" dirty="0"/>
          </a:p>
          <a:p>
            <a:pPr>
              <a:spcBef>
                <a:spcPts val="0"/>
              </a:spcBef>
            </a:pPr>
            <a:r>
              <a:rPr lang="en-IN" sz="1200" b="1" dirty="0"/>
              <a:t>Interpreter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Translates </a:t>
            </a:r>
            <a:r>
              <a:rPr lang="en-IN" sz="1200" b="1" dirty="0"/>
              <a:t>line-by-line</a:t>
            </a:r>
            <a:endParaRPr lang="en-IN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No executable generated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Slower execution</a:t>
            </a:r>
            <a:br>
              <a:rPr lang="en-IN" sz="1200" dirty="0"/>
            </a:br>
            <a:r>
              <a:rPr lang="en-IN" sz="1200" dirty="0"/>
              <a:t>Examples: </a:t>
            </a:r>
            <a:r>
              <a:rPr lang="en-IN" sz="1200" b="1" dirty="0"/>
              <a:t>Python, JavaScript</a:t>
            </a:r>
            <a:endParaRPr lang="en-IN" sz="1200" dirty="0"/>
          </a:p>
          <a:p>
            <a:pPr>
              <a:spcBef>
                <a:spcPts val="0"/>
              </a:spcBef>
            </a:pP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40587C-4F40-68B3-7640-3045D30CB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8" y="2263775"/>
            <a:ext cx="4451140" cy="119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63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037D-E8FE-91B5-5290-125664C3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2" y="95378"/>
            <a:ext cx="3893845" cy="161583"/>
          </a:xfrm>
        </p:spPr>
        <p:txBody>
          <a:bodyPr>
            <a:noAutofit/>
          </a:bodyPr>
          <a:lstStyle/>
          <a:p>
            <a:r>
              <a:rPr lang="en-IN" sz="1500" b="1" dirty="0"/>
              <a:t>Tokens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2665-5071-5813-27BE-BEF4F1751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3" y="311765"/>
            <a:ext cx="3875404" cy="1292662"/>
          </a:xfrm>
        </p:spPr>
        <p:txBody>
          <a:bodyPr>
            <a:noAutofit/>
          </a:bodyPr>
          <a:lstStyle/>
          <a:p>
            <a:r>
              <a:rPr lang="en-US" sz="1200" dirty="0"/>
              <a:t>Tokens are the </a:t>
            </a:r>
            <a:r>
              <a:rPr lang="en-US" sz="1200" b="1" dirty="0"/>
              <a:t>smallest elements</a:t>
            </a:r>
            <a:r>
              <a:rPr lang="en-US" sz="1200" dirty="0"/>
              <a:t> in a C program.</a:t>
            </a:r>
            <a:br>
              <a:rPr lang="en-US" sz="1200" dirty="0"/>
            </a:br>
            <a:r>
              <a:rPr lang="en-US" sz="1200" dirty="0"/>
              <a:t>Every program is built using these tokens.</a:t>
            </a:r>
          </a:p>
          <a:p>
            <a:r>
              <a:rPr lang="en-US" sz="1200" b="1" dirty="0"/>
              <a:t>Types of Tokens</a:t>
            </a:r>
          </a:p>
          <a:p>
            <a:r>
              <a:rPr lang="en-US" sz="1200" b="1" dirty="0"/>
              <a:t>Keywords are r</a:t>
            </a:r>
            <a:r>
              <a:rPr lang="en-US" sz="1200" dirty="0"/>
              <a:t>eserved words which cannot be used as variable names -   Example: int, return, if, while - 32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17F0B-6E37-2A14-5437-404732B8D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49375"/>
            <a:ext cx="4419600" cy="211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28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7073-B558-CD6D-A0B8-D968F0BB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3975"/>
            <a:ext cx="3893845" cy="215444"/>
          </a:xfrm>
        </p:spPr>
        <p:txBody>
          <a:bodyPr>
            <a:noAutofit/>
          </a:bodyPr>
          <a:lstStyle/>
          <a:p>
            <a:r>
              <a:rPr lang="en-US" sz="1400" b="1" dirty="0"/>
              <a:t>Tokens</a:t>
            </a:r>
            <a:endParaRPr lang="en-IN" sz="1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C8FAA9-257E-F621-AAB0-D4320AEEF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1450" y="342642"/>
            <a:ext cx="3733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Identifiers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User-defined names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Examples: age, sum, marks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Constants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Fixed values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Examples: 10, 3.14, 'A'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Sequence of characters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"Hello World"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Symbols performing operations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+, -, *, /, %, ==, &amp;&amp;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Special Symbols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(), {}, [], ;, #, " "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2C71F-6216-6298-CF59-51D520672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1" y="428114"/>
            <a:ext cx="1771650" cy="26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24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5166-7E40-B24C-125D-D0B59DDEC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61583"/>
          </a:xfrm>
        </p:spPr>
        <p:txBody>
          <a:bodyPr>
            <a:noAutofit/>
          </a:bodyPr>
          <a:lstStyle/>
          <a:p>
            <a:r>
              <a:rPr lang="en-IN" sz="1500" b="1" dirty="0"/>
              <a:t>Variables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9CEB-D3B1-4CF7-EFE4-8997F206F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587375"/>
            <a:ext cx="3875404" cy="1523494"/>
          </a:xfrm>
        </p:spPr>
        <p:txBody>
          <a:bodyPr/>
          <a:lstStyle/>
          <a:p>
            <a:r>
              <a:rPr lang="en-US" b="1" dirty="0"/>
              <a:t>What is a Variable?</a:t>
            </a:r>
          </a:p>
          <a:p>
            <a:r>
              <a:rPr lang="en-US" dirty="0"/>
              <a:t>A </a:t>
            </a:r>
            <a:r>
              <a:rPr lang="en-US" b="1" dirty="0"/>
              <a:t>variable</a:t>
            </a:r>
            <a:r>
              <a:rPr lang="en-US" dirty="0"/>
              <a:t> is a </a:t>
            </a:r>
            <a:r>
              <a:rPr lang="en-US" i="1" dirty="0"/>
              <a:t>named memory location</a:t>
            </a:r>
            <a:r>
              <a:rPr lang="en-US" dirty="0"/>
              <a:t> that can store a value which may change during program execution.</a:t>
            </a:r>
          </a:p>
          <a:p>
            <a:br>
              <a:rPr lang="en-US" dirty="0"/>
            </a:br>
            <a:r>
              <a:rPr lang="en-US" dirty="0"/>
              <a:t>“Variable = a name given to a box in memory where we keep a value.”</a:t>
            </a:r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068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7171-6261-34AA-8B64-797BCF42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FF900-01EC-ECAE-6AA3-A8C5CA1F1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34975"/>
            <a:ext cx="4267200" cy="2488019"/>
          </a:xfrm>
        </p:spPr>
        <p:txBody>
          <a:bodyPr>
            <a:noAutofit/>
          </a:bodyPr>
          <a:lstStyle/>
          <a:p>
            <a:r>
              <a:rPr lang="en-US" sz="1200" b="1" dirty="0"/>
              <a:t>Declaration and Initialization</a:t>
            </a:r>
          </a:p>
          <a:p>
            <a:r>
              <a:rPr lang="en-US" sz="1200" b="1" dirty="0"/>
              <a:t>Declaration</a:t>
            </a:r>
            <a:r>
              <a:rPr lang="en-US" sz="1200" dirty="0"/>
              <a:t> – Telling the compiler </a:t>
            </a:r>
            <a:r>
              <a:rPr lang="en-US" sz="1200" i="1" dirty="0"/>
              <a:t>what type</a:t>
            </a:r>
            <a:r>
              <a:rPr lang="en-US" sz="1200" dirty="0"/>
              <a:t> of data the variable will hold.</a:t>
            </a:r>
          </a:p>
          <a:p>
            <a:r>
              <a:rPr lang="en-US" sz="1200" dirty="0"/>
              <a:t>int age;</a:t>
            </a:r>
          </a:p>
          <a:p>
            <a:r>
              <a:rPr lang="en-US" sz="1200" dirty="0"/>
              <a:t>float salary;</a:t>
            </a:r>
          </a:p>
          <a:p>
            <a:r>
              <a:rPr lang="en-US" sz="1200" dirty="0"/>
              <a:t>char grade;</a:t>
            </a:r>
          </a:p>
          <a:p>
            <a:r>
              <a:rPr lang="en-US" sz="1200" b="1" dirty="0"/>
              <a:t>Initialization</a:t>
            </a:r>
            <a:r>
              <a:rPr lang="en-US" sz="1200" dirty="0"/>
              <a:t> – Giving an initial value at the time of declaration.</a:t>
            </a:r>
          </a:p>
          <a:p>
            <a:r>
              <a:rPr lang="en-US" sz="1200" dirty="0"/>
              <a:t>int age = 20;</a:t>
            </a:r>
          </a:p>
          <a:p>
            <a:r>
              <a:rPr lang="en-US" sz="1200" dirty="0"/>
              <a:t>float salary = 35000.50;</a:t>
            </a:r>
          </a:p>
          <a:p>
            <a:r>
              <a:rPr lang="en-US" sz="1200" dirty="0"/>
              <a:t>char grade = 'A’;</a:t>
            </a:r>
          </a:p>
          <a:p>
            <a:r>
              <a:rPr lang="en-US" sz="1200" dirty="0"/>
              <a:t>int x;    // declaration</a:t>
            </a:r>
          </a:p>
          <a:p>
            <a:r>
              <a:rPr lang="en-US" sz="1200" dirty="0"/>
              <a:t>x = 10;   // assignment</a:t>
            </a:r>
          </a:p>
          <a:p>
            <a:endParaRPr lang="en-US" sz="1200" dirty="0"/>
          </a:p>
          <a:p>
            <a:endParaRPr lang="en-IN" sz="1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FAC9898-1DE0-6FC7-7FCD-E48C4CD58139}"/>
              </a:ext>
            </a:extLst>
          </p:cNvPr>
          <p:cNvSpPr txBox="1">
            <a:spLocks/>
          </p:cNvSpPr>
          <p:nvPr/>
        </p:nvSpPr>
        <p:spPr>
          <a:xfrm>
            <a:off x="95250" y="130175"/>
            <a:ext cx="3893845" cy="161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61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20" kern="1200" spc="-61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500" b="1"/>
              <a:t>Variables in C</a:t>
            </a:r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22423112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6816-A2B2-F80B-9217-45B43E4C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292CE-C0DA-657B-C799-D0A2C5877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358775"/>
            <a:ext cx="4267200" cy="1569660"/>
          </a:xfrm>
        </p:spPr>
        <p:txBody>
          <a:bodyPr>
            <a:noAutofit/>
          </a:bodyPr>
          <a:lstStyle/>
          <a:p>
            <a:r>
              <a:rPr lang="en-US" sz="1200" dirty="0"/>
              <a:t>Rules for Naming Variables (Identifiers)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Can contain letters, digits, and underscore (_).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Must not start with a digit.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✅ mark1, _total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❌ 1stmark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 spaces or special characters like @ , . #.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Case-sensitive. Total and total are different.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Keywords cannot be used as variable names.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❌ int while; is invalid.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472452-F6E6-1E6F-A1FE-D706B417F217}"/>
              </a:ext>
            </a:extLst>
          </p:cNvPr>
          <p:cNvSpPr txBox="1">
            <a:spLocks/>
          </p:cNvSpPr>
          <p:nvPr/>
        </p:nvSpPr>
        <p:spPr>
          <a:xfrm>
            <a:off x="95250" y="130175"/>
            <a:ext cx="3893845" cy="161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61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20" kern="1200" spc="-61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500" b="1" dirty="0"/>
              <a:t>Variables in C</a:t>
            </a:r>
          </a:p>
        </p:txBody>
      </p:sp>
    </p:spTree>
    <p:extLst>
      <p:ext uri="{BB962C8B-B14F-4D97-AF65-F5344CB8AC3E}">
        <p14:creationId xmlns:p14="http://schemas.microsoft.com/office/powerpoint/2010/main" val="2604604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A7A4-0614-1AAC-1030-E459E0A6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87643-C30D-4795-1F71-498792573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358775"/>
            <a:ext cx="4267200" cy="1692771"/>
          </a:xfrm>
        </p:spPr>
        <p:txBody>
          <a:bodyPr>
            <a:noAutofit/>
          </a:bodyPr>
          <a:lstStyle/>
          <a:p>
            <a:r>
              <a:rPr lang="en-US" sz="1200" b="1" dirty="0"/>
              <a:t>Memory Concept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/>
              <a:t>When you declare a variable, the compiler </a:t>
            </a:r>
            <a:r>
              <a:rPr lang="en-US" sz="1200" b="1" dirty="0"/>
              <a:t>reserves some bytes in RAM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int a = 5;</a:t>
            </a:r>
          </a:p>
          <a:p>
            <a:pPr marL="0" indent="0">
              <a:buNone/>
            </a:pPr>
            <a:r>
              <a:rPr lang="en-US" sz="1200" dirty="0"/>
              <a:t>If int is 4 bytes:</a:t>
            </a:r>
          </a:p>
          <a:p>
            <a:endParaRPr lang="en-US" sz="1200" dirty="0"/>
          </a:p>
          <a:p>
            <a:endParaRPr lang="en-US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6A669C-853F-57C0-6A8E-58D1696F8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039177"/>
              </p:ext>
            </p:extLst>
          </p:nvPr>
        </p:nvGraphicFramePr>
        <p:xfrm>
          <a:off x="1003777" y="1882775"/>
          <a:ext cx="2754946" cy="1315640"/>
        </p:xfrm>
        <a:graphic>
          <a:graphicData uri="http://schemas.openxmlformats.org/drawingml/2006/table">
            <a:tbl>
              <a:tblPr/>
              <a:tblGrid>
                <a:gridCol w="1377473">
                  <a:extLst>
                    <a:ext uri="{9D8B030D-6E8A-4147-A177-3AD203B41FA5}">
                      <a16:colId xmlns:a16="http://schemas.microsoft.com/office/drawing/2014/main" val="2039507350"/>
                    </a:ext>
                  </a:extLst>
                </a:gridCol>
                <a:gridCol w="1377473">
                  <a:extLst>
                    <a:ext uri="{9D8B030D-6E8A-4147-A177-3AD203B41FA5}">
                      <a16:colId xmlns:a16="http://schemas.microsoft.com/office/drawing/2014/main" val="1404566258"/>
                    </a:ext>
                  </a:extLst>
                </a:gridCol>
              </a:tblGrid>
              <a:tr h="260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Address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Value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58335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1000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00151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1001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–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195927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1002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–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233010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1003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–</a:t>
                      </a:r>
                    </a:p>
                  </a:txBody>
                  <a:tcPr marL="65008" marR="65008" marT="32504" marB="32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41710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E3607EF-BCC5-E3E1-CBDC-F264716A9A7C}"/>
              </a:ext>
            </a:extLst>
          </p:cNvPr>
          <p:cNvSpPr txBox="1">
            <a:spLocks/>
          </p:cNvSpPr>
          <p:nvPr/>
        </p:nvSpPr>
        <p:spPr>
          <a:xfrm>
            <a:off x="95250" y="81177"/>
            <a:ext cx="3893845" cy="161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61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20" kern="1200" spc="-61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500" b="1" dirty="0"/>
              <a:t>Variables in C</a:t>
            </a:r>
          </a:p>
        </p:txBody>
      </p:sp>
    </p:spTree>
    <p:extLst>
      <p:ext uri="{BB962C8B-B14F-4D97-AF65-F5344CB8AC3E}">
        <p14:creationId xmlns:p14="http://schemas.microsoft.com/office/powerpoint/2010/main" val="492400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D7BE-48FD-BD61-435B-F2AFE0E7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4E13D-D81B-19AB-6450-75CC1AA51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358775"/>
            <a:ext cx="4267200" cy="2031325"/>
          </a:xfrm>
        </p:spPr>
        <p:txBody>
          <a:bodyPr>
            <a:noAutofit/>
          </a:bodyPr>
          <a:lstStyle/>
          <a:p>
            <a:r>
              <a:rPr lang="en-US" sz="1200" b="1" dirty="0"/>
              <a:t>Types of Variables</a:t>
            </a:r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Local variables</a:t>
            </a:r>
            <a:r>
              <a:rPr lang="en-US" sz="1200" dirty="0"/>
              <a:t> – Declared inside a function/block.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Global variables</a:t>
            </a:r>
            <a:r>
              <a:rPr lang="en-US" sz="1200" dirty="0"/>
              <a:t> – Declared outside all functions.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Formal parameters</a:t>
            </a:r>
            <a:r>
              <a:rPr lang="en-US" sz="1200" dirty="0"/>
              <a:t> – Variables in function parameter list.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/>
              <a:t>Common Beginner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Using a variable </a:t>
            </a:r>
            <a:r>
              <a:rPr lang="en-US" sz="1200" b="1" dirty="0"/>
              <a:t>without declaring</a:t>
            </a:r>
            <a:r>
              <a:rPr lang="en-US" sz="1200" dirty="0"/>
              <a:t>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Mismatched type (storing 3.14 in int unintentionally).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Typo in variable name.</a:t>
            </a:r>
          </a:p>
          <a:p>
            <a:endParaRPr lang="en-US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259F1E-7498-85A1-ED18-E5E48517E375}"/>
              </a:ext>
            </a:extLst>
          </p:cNvPr>
          <p:cNvSpPr txBox="1">
            <a:spLocks/>
          </p:cNvSpPr>
          <p:nvPr/>
        </p:nvSpPr>
        <p:spPr>
          <a:xfrm>
            <a:off x="95250" y="130175"/>
            <a:ext cx="3893845" cy="161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61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20" kern="1200" spc="-61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500" b="1"/>
              <a:t>Variables in C</a:t>
            </a:r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900992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76106-4431-2BD9-6078-60028A22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F48E-E0AE-7C87-3799-5364AA65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84666"/>
          </a:xfrm>
        </p:spPr>
        <p:txBody>
          <a:bodyPr>
            <a:noAutofit/>
          </a:bodyPr>
          <a:lstStyle/>
          <a:p>
            <a:r>
              <a:rPr lang="en-IN" sz="1500" b="1" dirty="0"/>
              <a:t>DATA TYPES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B48A2-6E7B-DAFF-AA74-710CAD4C7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34975"/>
            <a:ext cx="4267200" cy="2569934"/>
          </a:xfrm>
        </p:spPr>
        <p:txBody>
          <a:bodyPr>
            <a:noAutofit/>
          </a:bodyPr>
          <a:lstStyle/>
          <a:p>
            <a:r>
              <a:rPr lang="en-US" sz="1200" dirty="0"/>
              <a:t>C needs to know </a:t>
            </a:r>
            <a:r>
              <a:rPr lang="en-US" sz="1200" b="1" dirty="0"/>
              <a:t>what kind</a:t>
            </a:r>
            <a:r>
              <a:rPr lang="en-US" sz="1200" dirty="0"/>
              <a:t> of data you store so it can: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Reserve appropriate </a:t>
            </a:r>
            <a:r>
              <a:rPr lang="en-US" sz="1200" b="1" dirty="0"/>
              <a:t>memory size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Decide </a:t>
            </a:r>
            <a:r>
              <a:rPr lang="en-US" sz="1200" b="1" dirty="0"/>
              <a:t>valid operations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Interpret bits correctly (as int, float, char…).</a:t>
            </a:r>
          </a:p>
          <a:p>
            <a:r>
              <a:rPr lang="en-US" sz="1200" b="1" u="sng" dirty="0"/>
              <a:t>Classification of Data Types</a:t>
            </a:r>
          </a:p>
          <a:p>
            <a:r>
              <a:rPr lang="en-US" sz="1200" b="1" dirty="0"/>
              <a:t>Basic (Primary) Types</a:t>
            </a:r>
            <a:endParaRPr lang="en-US" sz="1200" dirty="0"/>
          </a:p>
          <a:p>
            <a:pPr lvl="1"/>
            <a:r>
              <a:rPr lang="en-US" sz="1200" dirty="0"/>
              <a:t>Int, char, float, double, _Bool (in newer standards)</a:t>
            </a:r>
          </a:p>
          <a:p>
            <a:r>
              <a:rPr lang="en-US" sz="1200" b="1" dirty="0"/>
              <a:t>Derived Types</a:t>
            </a:r>
            <a:endParaRPr lang="en-US" sz="1200" dirty="0"/>
          </a:p>
          <a:p>
            <a:pPr lvl="1"/>
            <a:r>
              <a:rPr lang="en-US" sz="1200" dirty="0"/>
              <a:t>Arrays, Pointers, Structures, Unions, Function types</a:t>
            </a:r>
          </a:p>
          <a:p>
            <a:r>
              <a:rPr lang="en-US" sz="1200" b="1" dirty="0"/>
              <a:t>Void Type</a:t>
            </a:r>
            <a:endParaRPr lang="en-US" sz="1200" dirty="0"/>
          </a:p>
          <a:p>
            <a:pPr lvl="1"/>
            <a:r>
              <a:rPr lang="en-US" sz="1200" dirty="0"/>
              <a:t>void – “no value / no type”</a:t>
            </a:r>
          </a:p>
          <a:p>
            <a:r>
              <a:rPr lang="en-US" sz="1200" b="1" dirty="0"/>
              <a:t>Type Modifiers</a:t>
            </a:r>
            <a:endParaRPr lang="en-US" sz="1200" dirty="0"/>
          </a:p>
          <a:p>
            <a:pPr lvl="1"/>
            <a:r>
              <a:rPr lang="en-US" sz="1200" dirty="0"/>
              <a:t>short, long, signed, unsigned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2577132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379D-0154-28DC-7C32-6E7273A2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45AF-959B-03D9-C16C-B5B0217C7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84666"/>
          </a:xfrm>
        </p:spPr>
        <p:txBody>
          <a:bodyPr>
            <a:noAutofit/>
          </a:bodyPr>
          <a:lstStyle/>
          <a:p>
            <a:r>
              <a:rPr lang="en-IN" sz="1500" b="1" dirty="0"/>
              <a:t>DATA TYPES IN 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22175-A7ED-AEBE-BA1D-CF6A73F3E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229"/>
            <a:ext cx="4610100" cy="238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34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615B-F365-D0CB-A23F-8C7C7B6D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9ACA-1214-E594-64B3-F6CAB40D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84666"/>
          </a:xfrm>
        </p:spPr>
        <p:txBody>
          <a:bodyPr>
            <a:noAutofit/>
          </a:bodyPr>
          <a:lstStyle/>
          <a:p>
            <a:r>
              <a:rPr lang="en-IN" sz="1500" b="1" dirty="0"/>
              <a:t>DATA TYPES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5DDF3-0528-F709-1293-1840E1C5D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34975"/>
            <a:ext cx="4267200" cy="2693045"/>
          </a:xfrm>
        </p:spPr>
        <p:txBody>
          <a:bodyPr>
            <a:noAutofit/>
          </a:bodyPr>
          <a:lstStyle/>
          <a:p>
            <a:r>
              <a:rPr lang="en-US" sz="1200" b="1" dirty="0"/>
              <a:t>What are Type Modifiers?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Type modifiers are keywords in C that are used to </a:t>
            </a:r>
            <a:r>
              <a:rPr lang="en-US" sz="1200" b="1" dirty="0"/>
              <a:t>change the size or range</a:t>
            </a:r>
            <a:r>
              <a:rPr lang="en-US" sz="1200" dirty="0"/>
              <a:t> of a basic data type.</a:t>
            </a:r>
            <a:br>
              <a:rPr lang="en-US" sz="1200" dirty="0"/>
            </a:br>
            <a:r>
              <a:rPr lang="en-US" sz="1200" dirty="0"/>
              <a:t>They do </a:t>
            </a:r>
            <a:r>
              <a:rPr lang="en-US" sz="1200" i="1" dirty="0"/>
              <a:t>not</a:t>
            </a:r>
            <a:r>
              <a:rPr lang="en-US" sz="1200" dirty="0"/>
              <a:t> create new data types;</a:t>
            </a:r>
            <a:br>
              <a:rPr lang="en-US" sz="1200" dirty="0"/>
            </a:br>
            <a:r>
              <a:rPr lang="en-US" sz="1200" dirty="0"/>
              <a:t>they </a:t>
            </a:r>
            <a:r>
              <a:rPr lang="en-US" sz="1200" b="1" dirty="0"/>
              <a:t>modify</a:t>
            </a:r>
            <a:r>
              <a:rPr lang="en-US" sz="1200" dirty="0"/>
              <a:t> existing ones like int, double, or char.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 provides </a:t>
            </a:r>
            <a:r>
              <a:rPr lang="en-US" sz="1200" b="1" dirty="0"/>
              <a:t>four</a:t>
            </a:r>
            <a:r>
              <a:rPr lang="en-US" sz="1200" dirty="0"/>
              <a:t> type modifiers: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short</a:t>
            </a:r>
            <a:r>
              <a:rPr lang="en-US" sz="1200" dirty="0"/>
              <a:t>, </a:t>
            </a:r>
            <a:r>
              <a:rPr lang="en-US" sz="1200" b="1" dirty="0"/>
              <a:t>long, signed, unsigned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These modifiers are used with </a:t>
            </a:r>
            <a:r>
              <a:rPr lang="en-US" sz="1200" b="1" dirty="0"/>
              <a:t>integer</a:t>
            </a:r>
            <a:r>
              <a:rPr lang="en-US" sz="1200" dirty="0"/>
              <a:t> and </a:t>
            </a:r>
            <a:r>
              <a:rPr lang="en-US" sz="1200" b="1" dirty="0"/>
              <a:t>character</a:t>
            </a:r>
            <a:r>
              <a:rPr lang="en-US" sz="1200" dirty="0"/>
              <a:t> data types to: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Increase the storage size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Decrease the storage size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Remove negative number support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Add support for larger numbers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Increase precision (for long double)</a:t>
            </a:r>
          </a:p>
          <a:p>
            <a:pPr>
              <a:spcBef>
                <a:spcPts val="0"/>
              </a:spcBef>
            </a:pPr>
            <a:r>
              <a:rPr lang="en-US" sz="1200" dirty="0"/>
              <a:t>Type modifiers help programmers </a:t>
            </a:r>
            <a:r>
              <a:rPr lang="en-US" sz="1200" b="1" dirty="0"/>
              <a:t>control memory usage</a:t>
            </a:r>
            <a:r>
              <a:rPr lang="en-US" sz="1200" dirty="0"/>
              <a:t>, especially important in </a:t>
            </a:r>
            <a:r>
              <a:rPr lang="en-US" sz="1200" b="1" dirty="0"/>
              <a:t>embedded systems, IoT, system-level programming</a:t>
            </a:r>
            <a:r>
              <a:rPr lang="en-US" sz="1200" dirty="0"/>
              <a:t>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92380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4966-DB55-A810-B264-D5CD4818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4CC7-9B5B-8A85-158E-4C7D262E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84666"/>
          </a:xfrm>
        </p:spPr>
        <p:txBody>
          <a:bodyPr>
            <a:noAutofit/>
          </a:bodyPr>
          <a:lstStyle/>
          <a:p>
            <a:r>
              <a:rPr lang="en-IN" sz="1500" b="1" dirty="0"/>
              <a:t>DATA TYPES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8511B-E56E-CBD3-6A4E-720FB28A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34975"/>
            <a:ext cx="4267200" cy="1523494"/>
          </a:xfrm>
        </p:spPr>
        <p:txBody>
          <a:bodyPr>
            <a:noAutofit/>
          </a:bodyPr>
          <a:lstStyle/>
          <a:p>
            <a:r>
              <a:rPr lang="en-US" sz="1200" b="1" dirty="0"/>
              <a:t>Why Do We Need Type Modifiers?</a:t>
            </a:r>
          </a:p>
          <a:p>
            <a:r>
              <a:rPr lang="en-US" sz="1200" dirty="0"/>
              <a:t>Because not every situation needs a full 4-byte integer.</a:t>
            </a:r>
          </a:p>
          <a:p>
            <a:r>
              <a:rPr lang="en-US" sz="1200" b="1" dirty="0"/>
              <a:t>Example Situations: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you only need to store values from </a:t>
            </a:r>
            <a:r>
              <a:rPr lang="en-US" sz="1200" b="1" dirty="0"/>
              <a:t>0 to 255</a:t>
            </a:r>
            <a:r>
              <a:rPr lang="en-US" sz="1200" dirty="0"/>
              <a:t>, using a 4-byte int wastes memory → use unsigned char.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you need to store very large integers, int is not enough → use long int.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you want to prevent negative values, use unsigned.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Type modifiers give </a:t>
            </a:r>
            <a:r>
              <a:rPr lang="en-US" sz="1200" b="1" dirty="0"/>
              <a:t>fine control</a:t>
            </a:r>
            <a:r>
              <a:rPr lang="en-US" sz="1200" dirty="0"/>
              <a:t> over memory and value range</a:t>
            </a:r>
          </a:p>
        </p:txBody>
      </p:sp>
    </p:spTree>
    <p:extLst>
      <p:ext uri="{BB962C8B-B14F-4D97-AF65-F5344CB8AC3E}">
        <p14:creationId xmlns:p14="http://schemas.microsoft.com/office/powerpoint/2010/main" val="1595650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DAF2-F90E-0704-C904-D02196E9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2133-0612-EA5F-9846-23EBBF75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84666"/>
          </a:xfrm>
        </p:spPr>
        <p:txBody>
          <a:bodyPr>
            <a:noAutofit/>
          </a:bodyPr>
          <a:lstStyle/>
          <a:p>
            <a:r>
              <a:rPr lang="en-IN" sz="1500" b="1" dirty="0"/>
              <a:t>DATA TYPES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1EF20-EEF8-0912-D852-C0E576C8F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34975"/>
            <a:ext cx="4267200" cy="169277"/>
          </a:xfrm>
        </p:spPr>
        <p:txBody>
          <a:bodyPr>
            <a:noAutofit/>
          </a:bodyPr>
          <a:lstStyle/>
          <a:p>
            <a:r>
              <a:rPr lang="en-US" sz="1200" dirty="0"/>
              <a:t>How Type Modifiers Affect a Data Type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14919-4885-BC1C-97F7-CEA7201E1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" y="686921"/>
            <a:ext cx="4575810" cy="241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31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37FE-177E-7D40-2B9C-369C0B35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4749-60C5-3277-2D3F-6DD94352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0175"/>
            <a:ext cx="3893845" cy="184666"/>
          </a:xfrm>
        </p:spPr>
        <p:txBody>
          <a:bodyPr>
            <a:noAutofit/>
          </a:bodyPr>
          <a:lstStyle/>
          <a:p>
            <a:r>
              <a:rPr lang="en-IN" sz="1500" b="1" dirty="0"/>
              <a:t>DATA TYPES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2FC39-7FA0-8DBC-D6B9-3841E4EDE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34975"/>
            <a:ext cx="4267200" cy="1354217"/>
          </a:xfrm>
        </p:spPr>
        <p:txBody>
          <a:bodyPr>
            <a:noAutofit/>
          </a:bodyPr>
          <a:lstStyle/>
          <a:p>
            <a:r>
              <a:rPr lang="en-US" sz="1200" dirty="0"/>
              <a:t>short int s = 32767;</a:t>
            </a:r>
          </a:p>
          <a:p>
            <a:r>
              <a:rPr lang="en-US" sz="1200" dirty="0"/>
              <a:t>unsigned short u = 65535;</a:t>
            </a:r>
          </a:p>
          <a:p>
            <a:endParaRPr lang="en-US" sz="1200" dirty="0"/>
          </a:p>
          <a:p>
            <a:r>
              <a:rPr lang="en-US" sz="1200" dirty="0"/>
              <a:t>long int </a:t>
            </a:r>
            <a:r>
              <a:rPr lang="en-US" sz="1200" dirty="0" err="1"/>
              <a:t>hugeNumber</a:t>
            </a:r>
            <a:r>
              <a:rPr lang="en-US" sz="1200" dirty="0"/>
              <a:t> = 1234567890;</a:t>
            </a:r>
          </a:p>
          <a:p>
            <a:r>
              <a:rPr lang="en-US" sz="1200" dirty="0"/>
              <a:t>unsigned long </a:t>
            </a:r>
            <a:r>
              <a:rPr lang="en-US" sz="1200" dirty="0" err="1"/>
              <a:t>bigPositive</a:t>
            </a:r>
            <a:r>
              <a:rPr lang="en-US" sz="1200" dirty="0"/>
              <a:t> = 4000000000;</a:t>
            </a:r>
          </a:p>
          <a:p>
            <a:endParaRPr lang="en-US" sz="1200" dirty="0"/>
          </a:p>
          <a:p>
            <a:r>
              <a:rPr lang="en-US" sz="1200" dirty="0"/>
              <a:t>signed char c1 = -10;</a:t>
            </a:r>
          </a:p>
          <a:p>
            <a:r>
              <a:rPr lang="en-US" sz="1200" dirty="0"/>
              <a:t>unsigned char c2 = 250;</a:t>
            </a:r>
          </a:p>
        </p:txBody>
      </p:sp>
    </p:spTree>
    <p:extLst>
      <p:ext uri="{BB962C8B-B14F-4D97-AF65-F5344CB8AC3E}">
        <p14:creationId xmlns:p14="http://schemas.microsoft.com/office/powerpoint/2010/main" val="1963249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1C09-FFA9-6818-F1FB-0E0242D55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OPERATORS IN C</a:t>
            </a:r>
          </a:p>
        </p:txBody>
      </p:sp>
    </p:spTree>
    <p:extLst>
      <p:ext uri="{BB962C8B-B14F-4D97-AF65-F5344CB8AC3E}">
        <p14:creationId xmlns:p14="http://schemas.microsoft.com/office/powerpoint/2010/main" val="38904014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CE2B-D2C5-5BBE-A76E-F660557A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5" y="28133"/>
            <a:ext cx="4073455" cy="836776"/>
          </a:xfrm>
        </p:spPr>
        <p:txBody>
          <a:bodyPr>
            <a:normAutofit/>
          </a:bodyPr>
          <a:lstStyle/>
          <a:p>
            <a:r>
              <a:rPr lang="en-US" sz="2200" dirty="0"/>
              <a:t>What is an Operator?</a:t>
            </a: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3176-F489-6CC6-F324-511F284BA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Definition: A symbol that performs a specific operation on operands.</a:t>
            </a:r>
          </a:p>
          <a:p>
            <a:r>
              <a:rPr lang="en-US" sz="1200" dirty="0"/>
              <a:t>Simple Logic:</a:t>
            </a:r>
          </a:p>
          <a:p>
            <a:r>
              <a:rPr lang="en-US" sz="1200" dirty="0"/>
              <a:t>   • Operator = Action</a:t>
            </a:r>
          </a:p>
          <a:p>
            <a:r>
              <a:rPr lang="en-US" sz="1200" dirty="0"/>
              <a:t>   • Operand = Data</a:t>
            </a:r>
          </a:p>
          <a:p>
            <a:endParaRPr lang="en-US" sz="1200" dirty="0"/>
          </a:p>
          <a:p>
            <a:r>
              <a:rPr lang="en-US" sz="1200" dirty="0"/>
              <a:t>Example:</a:t>
            </a:r>
          </a:p>
          <a:p>
            <a:r>
              <a:rPr lang="en-US" sz="1200" dirty="0"/>
              <a:t>   int a = 10 + 20;</a:t>
            </a:r>
          </a:p>
          <a:p>
            <a:r>
              <a:rPr lang="en-US" sz="1200" dirty="0"/>
              <a:t>   (+) is the Operator | (10, 20) are Operands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9202577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C11D-D2B6-37D7-4FDD-2D8FD1B8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36085"/>
            <a:ext cx="4073455" cy="836776"/>
          </a:xfrm>
        </p:spPr>
        <p:txBody>
          <a:bodyPr/>
          <a:lstStyle/>
          <a:p>
            <a:r>
              <a:rPr lang="en-US" dirty="0"/>
              <a:t>Why Are Operators Important?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E34BE-D61B-05F5-C293-9CC9FB5AC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Operators allow C programs to:</a:t>
            </a:r>
          </a:p>
          <a:p>
            <a:r>
              <a:rPr lang="en-US" dirty="0"/>
              <a:t>• Perform calculations</a:t>
            </a:r>
          </a:p>
          <a:p>
            <a:r>
              <a:rPr lang="en-US" dirty="0"/>
              <a:t>• Make decisions (if/else)</a:t>
            </a:r>
          </a:p>
          <a:p>
            <a:r>
              <a:rPr lang="en-US" dirty="0"/>
              <a:t>• Control program flow</a:t>
            </a:r>
          </a:p>
          <a:p>
            <a:r>
              <a:rPr lang="en-US" dirty="0"/>
              <a:t>• Manipulate data and Work with memory addresses</a:t>
            </a:r>
          </a:p>
          <a:p>
            <a:endParaRPr lang="en-US" dirty="0"/>
          </a:p>
          <a:p>
            <a:r>
              <a:rPr lang="en-US" u="sng" dirty="0"/>
              <a:t>Bottom Line: Without operators, you cannot write logic.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1667904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AB5A-CD29-C69F-246F-B169D744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73455" cy="836776"/>
          </a:xfrm>
        </p:spPr>
        <p:txBody>
          <a:bodyPr/>
          <a:lstStyle/>
          <a:p>
            <a:r>
              <a:rPr lang="en-US" dirty="0"/>
              <a:t>Types of Operators in 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4873-CD11-B67D-623C-956661E1D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C provides these major categories:</a:t>
            </a:r>
          </a:p>
          <a:p>
            <a:r>
              <a:rPr lang="en-US"/>
              <a:t>1. Arithmetic (+, -, *, /, %)</a:t>
            </a:r>
          </a:p>
          <a:p>
            <a:r>
              <a:rPr lang="en-US"/>
              <a:t>2. Relational (&lt;, &gt;, ==)</a:t>
            </a:r>
          </a:p>
          <a:p>
            <a:r>
              <a:rPr lang="en-US"/>
              <a:t>3. Logical (&amp;&amp;, ||, !)</a:t>
            </a:r>
          </a:p>
          <a:p>
            <a:r>
              <a:rPr lang="en-US"/>
              <a:t>4. Assignment (=, +=)</a:t>
            </a:r>
          </a:p>
          <a:p>
            <a:r>
              <a:rPr lang="en-US"/>
              <a:t>5. Increment/Decrement (++, --)</a:t>
            </a:r>
          </a:p>
          <a:p>
            <a:r>
              <a:rPr lang="en-US"/>
              <a:t>6. Conditional/Ternary (?:)</a:t>
            </a:r>
          </a:p>
          <a:p>
            <a:r>
              <a:rPr lang="en-US"/>
              <a:t>7. Bitwise (&amp;, |, ^)</a:t>
            </a:r>
          </a:p>
          <a:p>
            <a:r>
              <a:rPr lang="en-US"/>
              <a:t>8. Special (sizeof, comma, pointer)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650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FBFA-A1ED-F356-A8CF-4E434075C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085"/>
            <a:ext cx="4073455" cy="836776"/>
          </a:xfrm>
        </p:spPr>
        <p:txBody>
          <a:bodyPr/>
          <a:lstStyle/>
          <a:p>
            <a:r>
              <a:rPr lang="en-IN" dirty="0"/>
              <a:t>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3C70-4961-86EE-990C-59B2055B6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Basic Math Operations:</a:t>
            </a:r>
          </a:p>
          <a:p>
            <a:r>
              <a:rPr lang="en-US" dirty="0"/>
              <a:t>• (+) Addition</a:t>
            </a:r>
          </a:p>
          <a:p>
            <a:r>
              <a:rPr lang="en-US" dirty="0"/>
              <a:t>• (-) Subtraction</a:t>
            </a:r>
          </a:p>
          <a:p>
            <a:r>
              <a:rPr lang="en-US" dirty="0"/>
              <a:t>• (*) Multiplication</a:t>
            </a:r>
          </a:p>
          <a:p>
            <a:r>
              <a:rPr lang="en-US" dirty="0"/>
              <a:t>• (/) Division</a:t>
            </a:r>
          </a:p>
          <a:p>
            <a:r>
              <a:rPr lang="en-US" dirty="0"/>
              <a:t>• (%) Modulus (Remainder)</a:t>
            </a:r>
          </a:p>
          <a:p>
            <a:endParaRPr lang="en-US" dirty="0"/>
          </a:p>
          <a:p>
            <a:r>
              <a:rPr lang="en-US" u="sng" dirty="0"/>
              <a:t>Important Note:</a:t>
            </a:r>
          </a:p>
          <a:p>
            <a:r>
              <a:rPr lang="en-US" dirty="0"/>
              <a:t>Integer Division: 10 / 3 = 3 (Not 3.33)</a:t>
            </a:r>
          </a:p>
          <a:p>
            <a:r>
              <a:rPr lang="en-US" dirty="0"/>
              <a:t>Modulus (%): Works ONLY with integers.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9468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D56E-FA24-9D18-218C-A12C4A35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1" y="135908"/>
            <a:ext cx="4073455" cy="836776"/>
          </a:xfrm>
        </p:spPr>
        <p:txBody>
          <a:bodyPr/>
          <a:lstStyle/>
          <a:p>
            <a:r>
              <a:rPr lang="en-IN" dirty="0"/>
              <a:t>Relational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432BE-195A-0505-703F-1AEE5A342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Used to compare two values (Returns True/False).</a:t>
            </a:r>
          </a:p>
          <a:p>
            <a:r>
              <a:rPr lang="en-US" dirty="0"/>
              <a:t>• &lt;   Less than</a:t>
            </a:r>
          </a:p>
          <a:p>
            <a:r>
              <a:rPr lang="en-US" dirty="0"/>
              <a:t>• &lt;=  Less than or equal</a:t>
            </a:r>
          </a:p>
          <a:p>
            <a:r>
              <a:rPr lang="en-US" dirty="0"/>
              <a:t>• &gt;   Greater than</a:t>
            </a:r>
          </a:p>
          <a:p>
            <a:r>
              <a:rPr lang="en-US" dirty="0"/>
              <a:t>• &gt;=  Greater than or equal</a:t>
            </a:r>
          </a:p>
          <a:p>
            <a:r>
              <a:rPr lang="en-US" dirty="0"/>
              <a:t>• ==  Equal to</a:t>
            </a:r>
          </a:p>
          <a:p>
            <a:r>
              <a:rPr lang="en-US" dirty="0"/>
              <a:t>• !=  Not equal to</a:t>
            </a:r>
          </a:p>
          <a:p>
            <a:endParaRPr lang="en-US" dirty="0"/>
          </a:p>
          <a:p>
            <a:r>
              <a:rPr lang="en-US" u="sng" dirty="0"/>
              <a:t>Usage: Used primarily in Decision Making (if/while).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41103034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29C0-DF49-78AA-F5C9-FFEC2799D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73455" cy="836776"/>
          </a:xfrm>
        </p:spPr>
        <p:txBody>
          <a:bodyPr/>
          <a:lstStyle/>
          <a:p>
            <a:r>
              <a:rPr lang="en-IN" dirty="0"/>
              <a:t>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C9B7-4FF7-CE13-ACAF-E5AC56ED4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combine conditions.</a:t>
            </a:r>
          </a:p>
          <a:p>
            <a:r>
              <a:rPr lang="en-US" dirty="0"/>
              <a:t>1. &amp;&amp; (AND): True only if BOTH are true.</a:t>
            </a:r>
          </a:p>
          <a:p>
            <a:r>
              <a:rPr lang="en-US" dirty="0"/>
              <a:t>2. || (OR):  True if AT LEAST ONE is true.</a:t>
            </a:r>
          </a:p>
          <a:p>
            <a:r>
              <a:rPr lang="en-US" dirty="0"/>
              <a:t>3. !  (NOT): Reverses the truth value.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F9C861-1AC6-9C9B-BC52-E997AA823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975005"/>
              </p:ext>
            </p:extLst>
          </p:nvPr>
        </p:nvGraphicFramePr>
        <p:xfrm>
          <a:off x="2228850" y="2035175"/>
          <a:ext cx="2286001" cy="126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947">
                  <a:extLst>
                    <a:ext uri="{9D8B030D-6E8A-4147-A177-3AD203B41FA5}">
                      <a16:colId xmlns:a16="http://schemas.microsoft.com/office/drawing/2014/main" val="2071173434"/>
                    </a:ext>
                  </a:extLst>
                </a:gridCol>
                <a:gridCol w="240632">
                  <a:extLst>
                    <a:ext uri="{9D8B030D-6E8A-4147-A177-3AD203B41FA5}">
                      <a16:colId xmlns:a16="http://schemas.microsoft.com/office/drawing/2014/main" val="3001299857"/>
                    </a:ext>
                  </a:extLst>
                </a:gridCol>
                <a:gridCol w="842211">
                  <a:extLst>
                    <a:ext uri="{9D8B030D-6E8A-4147-A177-3AD203B41FA5}">
                      <a16:colId xmlns:a16="http://schemas.microsoft.com/office/drawing/2014/main" val="1998364428"/>
                    </a:ext>
                  </a:extLst>
                </a:gridCol>
                <a:gridCol w="842211">
                  <a:extLst>
                    <a:ext uri="{9D8B030D-6E8A-4147-A177-3AD203B41FA5}">
                      <a16:colId xmlns:a16="http://schemas.microsoft.com/office/drawing/2014/main" val="1489028534"/>
                    </a:ext>
                  </a:extLst>
                </a:gridCol>
              </a:tblGrid>
              <a:tr h="2533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B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 &amp;&amp; B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A||B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3556940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4974197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0427313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8016714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8601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8962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93C0-BCB0-DDA8-F180-E729449C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7" y="135908"/>
            <a:ext cx="4073455" cy="836776"/>
          </a:xfrm>
        </p:spPr>
        <p:txBody>
          <a:bodyPr/>
          <a:lstStyle/>
          <a:p>
            <a:r>
              <a:rPr lang="en-IN" dirty="0"/>
              <a:t>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DB50D-62CF-8834-4C4B-524EAC63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Assigns values from right side to left side.</a:t>
            </a:r>
          </a:p>
          <a:p>
            <a:r>
              <a:rPr lang="en-US" dirty="0"/>
              <a:t>• =   (Simple Assign) -&gt; a = 5</a:t>
            </a:r>
          </a:p>
          <a:p>
            <a:r>
              <a:rPr lang="en-US" dirty="0"/>
              <a:t>• +=  (Add &amp; Assign)  -&gt; a += 10 (same as a = a + 10)</a:t>
            </a:r>
          </a:p>
          <a:p>
            <a:r>
              <a:rPr lang="en-US" dirty="0"/>
              <a:t>• -=  (Sub &amp; Assign)</a:t>
            </a:r>
          </a:p>
          <a:p>
            <a:r>
              <a:rPr lang="en-US" dirty="0"/>
              <a:t>• *=  (Mul &amp; Assign)</a:t>
            </a:r>
          </a:p>
          <a:p>
            <a:r>
              <a:rPr lang="en-US" dirty="0"/>
              <a:t>• /=  (Div &amp; Assign)</a:t>
            </a:r>
          </a:p>
          <a:p>
            <a:r>
              <a:rPr lang="en-US" dirty="0"/>
              <a:t>• %=  (Mod &amp; Assign)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0E08B-7E62-88F2-1920-912106D76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82" y="1730375"/>
            <a:ext cx="885568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8184BD-DA97-6F61-097A-657C7BF4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772" y="1761490"/>
            <a:ext cx="542925" cy="156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226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6117-E3DD-07D5-BB5E-8C485922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" y="36085"/>
            <a:ext cx="4480560" cy="836776"/>
          </a:xfrm>
        </p:spPr>
        <p:txBody>
          <a:bodyPr/>
          <a:lstStyle/>
          <a:p>
            <a:r>
              <a:rPr lang="en-IN" dirty="0"/>
              <a:t>Increment / Decrement (++ / --)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6B40-50B7-AB7E-BD7C-8E8922B4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 vs Post (Interview Concept)</a:t>
            </a:r>
          </a:p>
          <a:p>
            <a:endParaRPr lang="en-US" dirty="0"/>
          </a:p>
          <a:p>
            <a:r>
              <a:rPr lang="en-US" dirty="0"/>
              <a:t>1. Pre-Increment (++a):</a:t>
            </a:r>
          </a:p>
          <a:p>
            <a:r>
              <a:rPr lang="en-US" dirty="0"/>
              <a:t>   First Increment -&gt; Then Print/Use</a:t>
            </a:r>
          </a:p>
          <a:p>
            <a:r>
              <a:rPr lang="en-US" dirty="0"/>
              <a:t>   </a:t>
            </a:r>
          </a:p>
          <a:p>
            <a:endParaRPr lang="en-US" dirty="0"/>
          </a:p>
          <a:p>
            <a:r>
              <a:rPr lang="en-US" dirty="0"/>
              <a:t>2. Post-Increment (a++):</a:t>
            </a:r>
          </a:p>
          <a:p>
            <a:r>
              <a:rPr lang="en-US" dirty="0"/>
              <a:t>   First Print/Use -&gt; Then Increment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57416-F445-D25C-6688-659BE8373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86" y="872861"/>
            <a:ext cx="2157814" cy="24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006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2D5-7D32-D764-9774-E5549F050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133"/>
            <a:ext cx="4073455" cy="836776"/>
          </a:xfrm>
        </p:spPr>
        <p:txBody>
          <a:bodyPr/>
          <a:lstStyle/>
          <a:p>
            <a:r>
              <a:rPr lang="en-IN" dirty="0"/>
              <a:t>Conditional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7495-8703-A431-6973-4B04DF467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17" y="663575"/>
            <a:ext cx="4066252" cy="2242879"/>
          </a:xfrm>
        </p:spPr>
        <p:txBody>
          <a:bodyPr>
            <a:normAutofit/>
          </a:bodyPr>
          <a:lstStyle/>
          <a:p>
            <a:r>
              <a:rPr lang="en-IN" dirty="0"/>
              <a:t>Conditional (Ternary):</a:t>
            </a:r>
          </a:p>
          <a:p>
            <a:r>
              <a:rPr lang="en-IN" dirty="0"/>
              <a:t>Syntax: condition ? </a:t>
            </a:r>
            <a:r>
              <a:rPr lang="en-IN" dirty="0" err="1"/>
              <a:t>true_val</a:t>
            </a:r>
            <a:r>
              <a:rPr lang="en-IN" dirty="0"/>
              <a:t> : </a:t>
            </a:r>
            <a:r>
              <a:rPr lang="en-IN" dirty="0" err="1"/>
              <a:t>false_val</a:t>
            </a:r>
            <a:r>
              <a:rPr lang="en-IN" dirty="0"/>
              <a:t>;</a:t>
            </a:r>
          </a:p>
          <a:p>
            <a:r>
              <a:rPr lang="en-IN" dirty="0"/>
              <a:t>Ex: int max = (a &gt; b) ? a : b;</a:t>
            </a:r>
          </a:p>
          <a:p>
            <a:endParaRPr lang="en-IN" dirty="0"/>
          </a:p>
          <a:p>
            <a:r>
              <a:rPr lang="en-US" dirty="0"/>
              <a:t>if(a &gt; b)</a:t>
            </a:r>
          </a:p>
          <a:p>
            <a:r>
              <a:rPr lang="en-US" dirty="0"/>
              <a:t>    max = a;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max = b;</a:t>
            </a:r>
          </a:p>
        </p:txBody>
      </p:sp>
    </p:spTree>
    <p:extLst>
      <p:ext uri="{BB962C8B-B14F-4D97-AF65-F5344CB8AC3E}">
        <p14:creationId xmlns:p14="http://schemas.microsoft.com/office/powerpoint/2010/main" val="12027336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9BBD-AF9C-6D4B-B635-E104AF1F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C470-1B8F-AFC3-5D61-7392EFEA0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133"/>
            <a:ext cx="4073455" cy="254442"/>
          </a:xfrm>
        </p:spPr>
        <p:txBody>
          <a:bodyPr>
            <a:normAutofit fontScale="90000"/>
          </a:bodyPr>
          <a:lstStyle/>
          <a:p>
            <a:r>
              <a:rPr lang="en-IN" dirty="0"/>
              <a:t>Bitwise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A6703-D547-ED03-1B1A-0CAE4D49F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58775"/>
            <a:ext cx="4514849" cy="29718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Bitwise Operators (Advanced):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/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Operate on individual bits (0s and 1s)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IN" dirty="0"/>
              <a:t>Embedded Systems, OS Kernels, Cryptography, Image Processing, 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Outputs numerical values, not </a:t>
            </a:r>
            <a:r>
              <a:rPr lang="en-US" dirty="0" err="1"/>
              <a:t>booleans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A740EA-F300-F84C-217B-FD358D108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890093"/>
              </p:ext>
            </p:extLst>
          </p:nvPr>
        </p:nvGraphicFramePr>
        <p:xfrm>
          <a:off x="1031543" y="587375"/>
          <a:ext cx="2514600" cy="18997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2858812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3473336"/>
                    </a:ext>
                  </a:extLst>
                </a:gridCol>
              </a:tblGrid>
              <a:tr h="1380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Operator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Meaning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extLst>
                  <a:ext uri="{0D108BD9-81ED-4DB2-BD59-A6C34878D82A}">
                    <a16:rowId xmlns:a16="http://schemas.microsoft.com/office/drawing/2014/main" val="2722904192"/>
                  </a:ext>
                </a:extLst>
              </a:tr>
              <a:tr h="2761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&amp;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Bitwise AND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extLst>
                  <a:ext uri="{0D108BD9-81ED-4DB2-BD59-A6C34878D82A}">
                    <a16:rowId xmlns:a16="http://schemas.microsoft.com/office/drawing/2014/main" val="3830170662"/>
                  </a:ext>
                </a:extLst>
              </a:tr>
              <a:tr h="4135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|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Bitwise OR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extLst>
                  <a:ext uri="{0D108BD9-81ED-4DB2-BD59-A6C34878D82A}">
                    <a16:rowId xmlns:a16="http://schemas.microsoft.com/office/drawing/2014/main" val="3991189960"/>
                  </a:ext>
                </a:extLst>
              </a:tr>
              <a:tr h="2761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^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Bitwise XOR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extLst>
                  <a:ext uri="{0D108BD9-81ED-4DB2-BD59-A6C34878D82A}">
                    <a16:rowId xmlns:a16="http://schemas.microsoft.com/office/drawing/2014/main" val="3746150428"/>
                  </a:ext>
                </a:extLst>
              </a:tr>
              <a:tr h="1380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&lt;&lt;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Left Shift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extLst>
                  <a:ext uri="{0D108BD9-81ED-4DB2-BD59-A6C34878D82A}">
                    <a16:rowId xmlns:a16="http://schemas.microsoft.com/office/drawing/2014/main" val="3964157887"/>
                  </a:ext>
                </a:extLst>
              </a:tr>
              <a:tr h="2761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&gt;&gt;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Right Shift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extLst>
                  <a:ext uri="{0D108BD9-81ED-4DB2-BD59-A6C34878D82A}">
                    <a16:rowId xmlns:a16="http://schemas.microsoft.com/office/drawing/2014/main" val="3052166530"/>
                  </a:ext>
                </a:extLst>
              </a:tr>
              <a:tr h="2761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~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Bitwise NOT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18" marR="7918" marT="7918" marB="0" anchor="ctr"/>
                </a:tc>
                <a:extLst>
                  <a:ext uri="{0D108BD9-81ED-4DB2-BD59-A6C34878D82A}">
                    <a16:rowId xmlns:a16="http://schemas.microsoft.com/office/drawing/2014/main" val="450675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4865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AND (&amp;)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 lvl="1"/>
            <a:r>
              <a:rPr dirty="0"/>
              <a:t>Truth: only 1 &amp; 1 = 1 </a:t>
            </a:r>
            <a:r>
              <a:rPr lang="en-IN" dirty="0"/>
              <a:t>any other case </a:t>
            </a:r>
            <a:r>
              <a:rPr dirty="0"/>
              <a:t>0</a:t>
            </a:r>
          </a:p>
          <a:p>
            <a:pPr lvl="1"/>
            <a:endParaRPr lang="en-IN" dirty="0"/>
          </a:p>
          <a:p>
            <a:pPr lvl="1"/>
            <a:r>
              <a:rPr dirty="0"/>
              <a:t>Example: 12 &amp; 10</a:t>
            </a:r>
          </a:p>
          <a:p>
            <a:pPr lvl="1"/>
            <a:r>
              <a:rPr dirty="0"/>
              <a:t>12 = 1100, </a:t>
            </a:r>
            <a:endParaRPr lang="en-IN" dirty="0"/>
          </a:p>
          <a:p>
            <a:pPr lvl="1"/>
            <a:r>
              <a:rPr dirty="0"/>
              <a:t>10 = 1010 </a:t>
            </a:r>
            <a:endParaRPr lang="en-IN" dirty="0"/>
          </a:p>
          <a:p>
            <a:pPr lvl="1"/>
            <a:r>
              <a:rPr lang="en-IN" dirty="0"/>
              <a:t>    </a:t>
            </a:r>
            <a:r>
              <a:rPr dirty="0"/>
              <a:t>→ 1000 (8)</a:t>
            </a:r>
          </a:p>
          <a:p>
            <a:pPr lvl="1"/>
            <a:endParaRPr lang="en-IN" dirty="0"/>
          </a:p>
          <a:p>
            <a:pPr lvl="1"/>
            <a:r>
              <a:rPr dirty="0"/>
              <a:t>Used for masking, filtering bits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OR (|)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Truth: any 1 → output 1</a:t>
            </a:r>
          </a:p>
          <a:p>
            <a:pPr lvl="1"/>
            <a:r>
              <a:rPr dirty="0"/>
              <a:t>Example: 12 | 10</a:t>
            </a:r>
          </a:p>
          <a:p>
            <a:pPr lvl="1"/>
            <a:r>
              <a:rPr lang="en-IN" dirty="0"/>
              <a:t>    </a:t>
            </a:r>
            <a:r>
              <a:rPr dirty="0"/>
              <a:t>1100 | </a:t>
            </a:r>
            <a:endParaRPr lang="en-IN" dirty="0"/>
          </a:p>
          <a:p>
            <a:pPr lvl="1"/>
            <a:r>
              <a:rPr lang="en-IN" dirty="0"/>
              <a:t>    </a:t>
            </a:r>
            <a:r>
              <a:rPr dirty="0"/>
              <a:t>1010 </a:t>
            </a:r>
            <a:endParaRPr lang="en-IN" dirty="0"/>
          </a:p>
          <a:p>
            <a:pPr lvl="1"/>
            <a:r>
              <a:rPr dirty="0"/>
              <a:t>→ 1110 (14)</a:t>
            </a:r>
          </a:p>
          <a:p>
            <a:pPr lvl="1"/>
            <a:endParaRPr lang="en-IN" dirty="0"/>
          </a:p>
          <a:p>
            <a:pPr lvl="1"/>
            <a:r>
              <a:rPr dirty="0"/>
              <a:t>Used for setting bits, enabling flags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XOR (^)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Truth: 1 if bits differ</a:t>
            </a:r>
          </a:p>
          <a:p>
            <a:pPr lvl="1"/>
            <a:r>
              <a:rPr dirty="0"/>
              <a:t>Example: 12 ^ 10</a:t>
            </a:r>
          </a:p>
          <a:p>
            <a:pPr lvl="1"/>
            <a:r>
              <a:rPr lang="en-IN" dirty="0"/>
              <a:t>     </a:t>
            </a:r>
            <a:r>
              <a:rPr dirty="0"/>
              <a:t>1100 ^ </a:t>
            </a:r>
            <a:endParaRPr lang="en-IN" dirty="0"/>
          </a:p>
          <a:p>
            <a:pPr lvl="1"/>
            <a:r>
              <a:rPr lang="en-IN" dirty="0"/>
              <a:t>     </a:t>
            </a:r>
            <a:r>
              <a:rPr dirty="0"/>
              <a:t>1010 </a:t>
            </a:r>
            <a:endParaRPr lang="en-IN" dirty="0"/>
          </a:p>
          <a:p>
            <a:pPr lvl="1"/>
            <a:r>
              <a:rPr dirty="0"/>
              <a:t>→ 0110 (6)</a:t>
            </a:r>
          </a:p>
          <a:p>
            <a:pPr lvl="1"/>
            <a:r>
              <a:rPr dirty="0"/>
              <a:t>Used in encryption, parity checking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NOT (~)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Flips all bits (1→0, 0→1)</a:t>
            </a:r>
          </a:p>
          <a:p>
            <a:pPr lvl="1"/>
            <a:r>
              <a:t>Example: ~5 (00000101 → 11111010)</a:t>
            </a:r>
          </a:p>
          <a:p>
            <a:pPr lvl="1"/>
            <a:r>
              <a:t>Result = -6 due to 2's complement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 Shift (&lt;&lt;)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Shifts bits left, inserts 0s</a:t>
            </a:r>
          </a:p>
          <a:p>
            <a:pPr lvl="1"/>
            <a:r>
              <a:t>5 &lt;&lt; 1: 0101 → 1010 (10)</a:t>
            </a:r>
          </a:p>
          <a:p>
            <a:pPr lvl="1"/>
            <a:r>
              <a:t>Equivalent to multiply by 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 Shift (&gt;&gt;)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Shifts bits right</a:t>
            </a:r>
          </a:p>
          <a:p>
            <a:pPr lvl="1"/>
            <a:r>
              <a:t>20 &gt;&gt; 1: 10100 → 01010 (10)</a:t>
            </a:r>
          </a:p>
          <a:p>
            <a:pPr lvl="1"/>
            <a:r>
              <a:t>Equivalent to divide by 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Masking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n-IN" dirty="0"/>
              <a:t>       </a:t>
            </a:r>
            <a:r>
              <a:rPr dirty="0"/>
              <a:t>x = </a:t>
            </a:r>
            <a:r>
              <a:rPr lang="en-IN" dirty="0"/>
              <a:t>  </a:t>
            </a:r>
            <a:r>
              <a:rPr dirty="0"/>
              <a:t>10101110 &amp; </a:t>
            </a:r>
            <a:endParaRPr lang="en-IN" dirty="0"/>
          </a:p>
          <a:p>
            <a:pPr lvl="1"/>
            <a:r>
              <a:rPr lang="en-IN" dirty="0"/>
              <a:t>               </a:t>
            </a:r>
            <a:r>
              <a:rPr dirty="0"/>
              <a:t>00001111</a:t>
            </a:r>
          </a:p>
          <a:p>
            <a:pPr lvl="1"/>
            <a:r>
              <a:rPr dirty="0"/>
              <a:t>Result = 00001110</a:t>
            </a:r>
          </a:p>
          <a:p>
            <a:pPr lvl="1"/>
            <a:r>
              <a:rPr dirty="0"/>
              <a:t>Used to extract lower bits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&amp; : AND → masking</a:t>
            </a:r>
          </a:p>
          <a:p>
            <a:pPr lvl="1"/>
            <a:r>
              <a:t>| : OR → setting bits</a:t>
            </a:r>
          </a:p>
          <a:p>
            <a:pPr lvl="1"/>
            <a:r>
              <a:t>^ : XOR → toggling</a:t>
            </a:r>
          </a:p>
          <a:p>
            <a:pPr lvl="1"/>
            <a:r>
              <a:t>~ : NOT → inversion</a:t>
            </a:r>
          </a:p>
          <a:p>
            <a:pPr lvl="1"/>
            <a:r>
              <a:t>&lt;&lt; : left shift → x2</a:t>
            </a:r>
          </a:p>
          <a:p>
            <a:pPr lvl="1"/>
            <a:r>
              <a:t>&gt;&gt; : right shift → /2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0101-0461-6021-9C86-ED3B68FAA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135908"/>
            <a:ext cx="4073455" cy="222867"/>
          </a:xfrm>
        </p:spPr>
        <p:txBody>
          <a:bodyPr>
            <a:normAutofit fontScale="90000"/>
          </a:bodyPr>
          <a:lstStyle/>
          <a:p>
            <a:r>
              <a:rPr lang="en-IN" dirty="0"/>
              <a:t>Special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6DFF2-1214-501C-17C9-49E7A974E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17" y="739775"/>
            <a:ext cx="4066252" cy="258506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 </a:t>
            </a:r>
            <a:r>
              <a:rPr lang="en-US" dirty="0" err="1"/>
              <a:t>sizeof</a:t>
            </a:r>
            <a:r>
              <a:rPr lang="en-US" dirty="0"/>
              <a:t>(): Returns size of datatype.</a:t>
            </a:r>
          </a:p>
          <a:p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('%d', </a:t>
            </a:r>
            <a:r>
              <a:rPr lang="en-US" dirty="0" err="1"/>
              <a:t>sizeof</a:t>
            </a:r>
            <a:r>
              <a:rPr lang="en-US" dirty="0"/>
              <a:t>(int)); // 4 bytes</a:t>
            </a:r>
          </a:p>
          <a:p>
            <a:endParaRPr lang="en-US" dirty="0"/>
          </a:p>
          <a:p>
            <a:r>
              <a:rPr lang="en-US" dirty="0"/>
              <a:t>2. Address Of (&amp;): Returns memory address.</a:t>
            </a:r>
          </a:p>
          <a:p>
            <a:r>
              <a:rPr lang="en-US" dirty="0"/>
              <a:t>&amp;x  → address of x</a:t>
            </a:r>
          </a:p>
          <a:p>
            <a:endParaRPr lang="en-US" dirty="0"/>
          </a:p>
          <a:p>
            <a:r>
              <a:rPr lang="en-US" dirty="0"/>
              <a:t>3. Dereference (*): Value at address.</a:t>
            </a:r>
          </a:p>
          <a:p>
            <a:r>
              <a:rPr lang="en-US" dirty="0"/>
              <a:t>*p  → value at address p</a:t>
            </a:r>
          </a:p>
          <a:p>
            <a:endParaRPr lang="en-US" dirty="0"/>
          </a:p>
          <a:p>
            <a:r>
              <a:rPr lang="en-US" dirty="0"/>
              <a:t>4. Comma (,): Executes left to right, returns last value.</a:t>
            </a:r>
          </a:p>
          <a:p>
            <a:r>
              <a:rPr lang="en-IN" dirty="0"/>
              <a:t>int a = (1, 2, 3); // a = 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3248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7B58-97FB-C7CD-3F1A-2F7A6E8E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670" y="-32164"/>
            <a:ext cx="4073455" cy="390939"/>
          </a:xfrm>
        </p:spPr>
        <p:txBody>
          <a:bodyPr>
            <a:normAutofit/>
          </a:bodyPr>
          <a:lstStyle/>
          <a:p>
            <a:r>
              <a:rPr lang="en-US" sz="1800" dirty="0"/>
              <a:t>Operator Precedence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AB69-1C6A-74F7-6ABE-DD10BB34E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17" y="358775"/>
            <a:ext cx="4066252" cy="2971800"/>
          </a:xfrm>
        </p:spPr>
        <p:txBody>
          <a:bodyPr>
            <a:noAutofit/>
          </a:bodyPr>
          <a:lstStyle/>
          <a:p>
            <a:r>
              <a:rPr lang="en-US" sz="1200" dirty="0"/>
              <a:t>Think of an expression like:</a:t>
            </a:r>
          </a:p>
          <a:p>
            <a:r>
              <a:rPr lang="en-US" dirty="0"/>
              <a:t>int x = 10 + 20 * 3;</a:t>
            </a:r>
          </a:p>
          <a:p>
            <a:r>
              <a:rPr lang="en-US" sz="1200" dirty="0"/>
              <a:t>There are multiple operators: </a:t>
            </a:r>
            <a:r>
              <a:rPr lang="en-US" dirty="0"/>
              <a:t>=</a:t>
            </a:r>
            <a:r>
              <a:rPr lang="en-US" sz="1200" dirty="0"/>
              <a:t>, </a:t>
            </a:r>
            <a:r>
              <a:rPr lang="en-US" dirty="0"/>
              <a:t>+</a:t>
            </a:r>
            <a:r>
              <a:rPr lang="en-US" sz="1200" dirty="0"/>
              <a:t>, </a:t>
            </a:r>
            <a:r>
              <a:rPr lang="en-US" dirty="0"/>
              <a:t>*</a:t>
            </a:r>
            <a:r>
              <a:rPr lang="en-US" sz="1200" dirty="0"/>
              <a:t>.</a:t>
            </a:r>
          </a:p>
          <a:p>
            <a:r>
              <a:rPr lang="en-US" sz="1200" dirty="0"/>
              <a:t>We need rules to decide:</a:t>
            </a:r>
          </a:p>
          <a:p>
            <a:r>
              <a:rPr lang="en-US" sz="1200" b="1" dirty="0"/>
              <a:t>Which operator is done first?</a:t>
            </a:r>
            <a:r>
              <a:rPr lang="en-US" sz="1200" dirty="0"/>
              <a:t> → This is </a:t>
            </a:r>
            <a:r>
              <a:rPr lang="en-US" sz="1200" b="1" dirty="0"/>
              <a:t>precedence</a:t>
            </a:r>
            <a:endParaRPr lang="en-US" sz="1200" dirty="0"/>
          </a:p>
          <a:p>
            <a:r>
              <a:rPr lang="en-US" sz="1200" b="1" dirty="0"/>
              <a:t>If two operators have the same level, which side first?</a:t>
            </a:r>
            <a:r>
              <a:rPr lang="en-US" sz="1200" dirty="0"/>
              <a:t> → This is </a:t>
            </a:r>
            <a:r>
              <a:rPr lang="en-US" sz="1200" b="1" dirty="0"/>
              <a:t>associativity</a:t>
            </a:r>
            <a:endParaRPr lang="en-US" sz="1200" dirty="0"/>
          </a:p>
          <a:p>
            <a:br>
              <a:rPr lang="en-US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62556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06BD-41B4-8B4F-85D5-7A87847D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A4EC-09DF-F734-4070-58F6B3157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670" y="-32164"/>
            <a:ext cx="4073455" cy="390939"/>
          </a:xfrm>
        </p:spPr>
        <p:txBody>
          <a:bodyPr>
            <a:normAutofit/>
          </a:bodyPr>
          <a:lstStyle/>
          <a:p>
            <a:r>
              <a:rPr lang="en-US" sz="1800" dirty="0"/>
              <a:t>Operator Precedence (The Pyramid)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C2378-C2DF-D4F5-140A-3E7921E88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1" y="358775"/>
            <a:ext cx="1524000" cy="2971800"/>
          </a:xfrm>
        </p:spPr>
        <p:txBody>
          <a:bodyPr>
            <a:noAutofit/>
          </a:bodyPr>
          <a:lstStyle/>
          <a:p>
            <a:r>
              <a:rPr lang="en-US" sz="1200" dirty="0"/>
              <a:t>Highest Priority:</a:t>
            </a:r>
          </a:p>
          <a:p>
            <a:r>
              <a:rPr lang="en-US" sz="1200" dirty="0"/>
              <a:t>1. () [] -&gt; . ++ --</a:t>
            </a:r>
          </a:p>
          <a:p>
            <a:r>
              <a:rPr lang="en-US" sz="1200" dirty="0"/>
              <a:t>2. ! ~ (unary) * &amp;</a:t>
            </a:r>
          </a:p>
          <a:p>
            <a:r>
              <a:rPr lang="en-US" sz="1200" dirty="0"/>
              <a:t>3. * / %</a:t>
            </a:r>
          </a:p>
          <a:p>
            <a:r>
              <a:rPr lang="en-US" sz="1200" dirty="0"/>
              <a:t>4. + -</a:t>
            </a:r>
          </a:p>
          <a:p>
            <a:r>
              <a:rPr lang="en-US" sz="1200" dirty="0"/>
              <a:t>5. &lt;&lt; &gt;&gt;</a:t>
            </a:r>
          </a:p>
          <a:p>
            <a:r>
              <a:rPr lang="en-US" sz="1200" dirty="0"/>
              <a:t>6. &lt; &lt;= &gt; &gt;=</a:t>
            </a:r>
          </a:p>
          <a:p>
            <a:r>
              <a:rPr lang="en-US" sz="1200" dirty="0"/>
              <a:t>7. == !=</a:t>
            </a:r>
          </a:p>
          <a:p>
            <a:r>
              <a:rPr lang="en-US" sz="1200" dirty="0"/>
              <a:t>8. &amp;&amp; then ||</a:t>
            </a:r>
          </a:p>
          <a:p>
            <a:r>
              <a:rPr lang="en-US" sz="1200" dirty="0"/>
              <a:t>9. = += -=</a:t>
            </a:r>
          </a:p>
          <a:p>
            <a:r>
              <a:rPr lang="en-US" sz="1200" dirty="0"/>
              <a:t>Lowest Priority: ,</a:t>
            </a:r>
            <a:endParaRPr lang="en-IN" sz="1200" dirty="0"/>
          </a:p>
        </p:txBody>
      </p:sp>
      <p:pic>
        <p:nvPicPr>
          <p:cNvPr id="3074" name="Picture 2" descr="Operator Precedence And Associativity In C">
            <a:extLst>
              <a:ext uri="{FF2B5EF4-FFF2-40B4-BE49-F238E27FC236}">
                <a16:creationId xmlns:a16="http://schemas.microsoft.com/office/drawing/2014/main" id="{1C01024E-0009-3681-6950-20B1B4001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282574"/>
            <a:ext cx="3200399" cy="317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9032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D83D-C7CD-89C7-0D7D-FDE44D20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C092-3445-1E1C-CB82-EFA54572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670" y="-32164"/>
            <a:ext cx="4073455" cy="390939"/>
          </a:xfrm>
        </p:spPr>
        <p:txBody>
          <a:bodyPr>
            <a:normAutofit/>
          </a:bodyPr>
          <a:lstStyle/>
          <a:p>
            <a:r>
              <a:rPr lang="en-US" sz="1800" dirty="0"/>
              <a:t>Operator Precedence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3D2A8-CC7C-FAF8-A17B-D0AA9D03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17" y="358775"/>
            <a:ext cx="4066252" cy="2971800"/>
          </a:xfrm>
        </p:spPr>
        <p:txBody>
          <a:bodyPr>
            <a:noAutofit/>
          </a:bodyPr>
          <a:lstStyle/>
          <a:p>
            <a:r>
              <a:rPr lang="en-US" sz="1200" b="1" dirty="0"/>
              <a:t>Rule 1 – Operator Precedence</a:t>
            </a:r>
          </a:p>
          <a:p>
            <a:r>
              <a:rPr lang="en-US" sz="1200" b="1" dirty="0"/>
              <a:t>Precedence = which operator is stronger.</a:t>
            </a:r>
            <a:endParaRPr lang="en-US" sz="1200" dirty="0"/>
          </a:p>
          <a:p>
            <a:r>
              <a:rPr lang="en-US" sz="1200" dirty="0"/>
              <a:t>Higher precedence → evaluated </a:t>
            </a:r>
            <a:r>
              <a:rPr lang="en-US" sz="1200" b="1" dirty="0"/>
              <a:t>first</a:t>
            </a:r>
            <a:r>
              <a:rPr lang="en-US" sz="1200" dirty="0"/>
              <a:t>.</a:t>
            </a:r>
          </a:p>
          <a:p>
            <a:r>
              <a:rPr lang="en-US" sz="1200" dirty="0"/>
              <a:t>Example:</a:t>
            </a:r>
          </a:p>
          <a:p>
            <a:r>
              <a:rPr lang="en-US" dirty="0"/>
              <a:t>10 + 20 * 3</a:t>
            </a:r>
          </a:p>
          <a:p>
            <a:r>
              <a:rPr lang="en-US" dirty="0"/>
              <a:t>*</a:t>
            </a:r>
            <a:r>
              <a:rPr lang="en-US" sz="1200" dirty="0"/>
              <a:t> has </a:t>
            </a:r>
            <a:r>
              <a:rPr lang="en-US" sz="1200" b="1" dirty="0"/>
              <a:t>higher precedence</a:t>
            </a:r>
            <a:r>
              <a:rPr lang="en-US" sz="1200" dirty="0"/>
              <a:t> than </a:t>
            </a:r>
            <a:r>
              <a:rPr lang="en-US" dirty="0"/>
              <a:t>+</a:t>
            </a:r>
            <a:endParaRPr lang="en-US" sz="1200" dirty="0"/>
          </a:p>
          <a:p>
            <a:r>
              <a:rPr lang="en-US" sz="1200" dirty="0"/>
              <a:t>So </a:t>
            </a:r>
            <a:r>
              <a:rPr lang="en-US" dirty="0"/>
              <a:t>20 * 3</a:t>
            </a:r>
            <a:r>
              <a:rPr lang="en-US" sz="1200" dirty="0"/>
              <a:t> is done first → </a:t>
            </a:r>
            <a:r>
              <a:rPr lang="en-US" dirty="0"/>
              <a:t>60</a:t>
            </a:r>
            <a:endParaRPr lang="en-US" sz="1200" dirty="0"/>
          </a:p>
          <a:p>
            <a:r>
              <a:rPr lang="en-US" sz="1200" dirty="0"/>
              <a:t>Then </a:t>
            </a:r>
            <a:r>
              <a:rPr lang="en-US" dirty="0"/>
              <a:t>10 + 60</a:t>
            </a:r>
            <a:r>
              <a:rPr lang="en-US" sz="1200" dirty="0"/>
              <a:t> → </a:t>
            </a:r>
            <a:r>
              <a:rPr lang="en-US" dirty="0"/>
              <a:t>70</a:t>
            </a:r>
            <a:endParaRPr lang="en-US" sz="1200" dirty="0"/>
          </a:p>
          <a:p>
            <a:r>
              <a:rPr lang="en-US" sz="1200" dirty="0"/>
              <a:t>So:</a:t>
            </a:r>
          </a:p>
          <a:p>
            <a:r>
              <a:rPr lang="en-US" dirty="0"/>
              <a:t>10 + 20 * 3   ≡   10 + (20 * 3)</a:t>
            </a:r>
          </a:p>
        </p:txBody>
      </p:sp>
    </p:spTree>
    <p:extLst>
      <p:ext uri="{BB962C8B-B14F-4D97-AF65-F5344CB8AC3E}">
        <p14:creationId xmlns:p14="http://schemas.microsoft.com/office/powerpoint/2010/main" val="9024417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1CC0-F495-4C9D-3093-9A87CB0A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125C-A037-BD07-CC22-0D1E3135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670" y="-32164"/>
            <a:ext cx="4073455" cy="390939"/>
          </a:xfrm>
        </p:spPr>
        <p:txBody>
          <a:bodyPr>
            <a:normAutofit/>
          </a:bodyPr>
          <a:lstStyle/>
          <a:p>
            <a:r>
              <a:rPr lang="en-US" sz="1800" dirty="0"/>
              <a:t>Operator Precedence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1A02-F8D4-88E6-3BCE-C9DE1386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17" y="358775"/>
            <a:ext cx="4066252" cy="2971800"/>
          </a:xfrm>
        </p:spPr>
        <p:txBody>
          <a:bodyPr>
            <a:noAutofit/>
          </a:bodyPr>
          <a:lstStyle/>
          <a:p>
            <a:r>
              <a:rPr lang="en-US" sz="1200" b="1" dirty="0"/>
              <a:t>Rule 2 – Associativity</a:t>
            </a:r>
          </a:p>
          <a:p>
            <a:r>
              <a:rPr lang="en-US" sz="1200" b="1" dirty="0"/>
              <a:t>Associativity = direction (left/right) for operators at the same precedence level.</a:t>
            </a:r>
            <a:endParaRPr lang="en-US" sz="1200" dirty="0"/>
          </a:p>
          <a:p>
            <a:r>
              <a:rPr lang="en-US" sz="1200" dirty="0"/>
              <a:t>Example:</a:t>
            </a:r>
          </a:p>
          <a:p>
            <a:r>
              <a:rPr lang="en-US" dirty="0"/>
              <a:t>10 - 5 - 2</a:t>
            </a:r>
          </a:p>
          <a:p>
            <a:r>
              <a:rPr lang="en-US" dirty="0"/>
              <a:t>-</a:t>
            </a:r>
            <a:r>
              <a:rPr lang="en-US" sz="1200" dirty="0"/>
              <a:t> and </a:t>
            </a:r>
            <a:r>
              <a:rPr lang="en-US" dirty="0"/>
              <a:t>-</a:t>
            </a:r>
            <a:r>
              <a:rPr lang="en-US" sz="1200" dirty="0"/>
              <a:t> have </a:t>
            </a:r>
            <a:r>
              <a:rPr lang="en-US" sz="1200" b="1" dirty="0"/>
              <a:t>same precedence</a:t>
            </a:r>
            <a:r>
              <a:rPr lang="en-US" sz="1200" dirty="0"/>
              <a:t>, so we use </a:t>
            </a:r>
            <a:r>
              <a:rPr lang="en-US" sz="1200" b="1" dirty="0"/>
              <a:t>associativity</a:t>
            </a:r>
            <a:r>
              <a:rPr lang="en-US" sz="1200" dirty="0"/>
              <a:t>.</a:t>
            </a:r>
          </a:p>
          <a:p>
            <a:r>
              <a:rPr lang="en-US" dirty="0"/>
              <a:t>-</a:t>
            </a:r>
            <a:r>
              <a:rPr lang="en-US" sz="1200" dirty="0"/>
              <a:t> is </a:t>
            </a:r>
            <a:r>
              <a:rPr lang="en-US" sz="1200" b="1" dirty="0"/>
              <a:t>left to right</a:t>
            </a:r>
            <a:endParaRPr lang="en-US" sz="1200" dirty="0"/>
          </a:p>
          <a:p>
            <a:r>
              <a:rPr lang="en-US" sz="1200" dirty="0"/>
              <a:t>So expression becomes: </a:t>
            </a:r>
            <a:r>
              <a:rPr lang="en-US" dirty="0"/>
              <a:t>(10 - 5) - 2</a:t>
            </a:r>
            <a:r>
              <a:rPr lang="en-US" sz="1200" dirty="0"/>
              <a:t> → </a:t>
            </a:r>
            <a:r>
              <a:rPr lang="en-US" dirty="0"/>
              <a:t>5 - 2</a:t>
            </a:r>
            <a:r>
              <a:rPr lang="en-US" sz="1200" dirty="0"/>
              <a:t> → </a:t>
            </a:r>
            <a:r>
              <a:rPr lang="en-US" dirty="0"/>
              <a:t>3</a:t>
            </a:r>
            <a:br>
              <a:rPr lang="en-US" sz="1200" dirty="0"/>
            </a:br>
            <a:r>
              <a:rPr lang="en-US" sz="1200" dirty="0"/>
              <a:t>Not </a:t>
            </a:r>
            <a:r>
              <a:rPr lang="en-US" dirty="0"/>
              <a:t>10 - (5 - 2)</a:t>
            </a:r>
            <a:r>
              <a:rPr lang="en-US" sz="1200" dirty="0"/>
              <a:t> (which would be 7 – wrong).</a:t>
            </a:r>
          </a:p>
          <a:p>
            <a:br>
              <a:rPr lang="en-US" sz="12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159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D436-EE94-FB45-A907-C77B7CAD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30B-8328-8FE4-D893-72D21AE7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425"/>
            <a:ext cx="4073455" cy="836776"/>
          </a:xfrm>
        </p:spPr>
        <p:txBody>
          <a:bodyPr/>
          <a:lstStyle/>
          <a:p>
            <a:pPr algn="ctr"/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61CAC-48D5-1416-B674-268A6C89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17" y="663575"/>
            <a:ext cx="4066252" cy="2743200"/>
          </a:xfrm>
        </p:spPr>
        <p:txBody>
          <a:bodyPr>
            <a:normAutofit/>
          </a:bodyPr>
          <a:lstStyle/>
          <a:p>
            <a:r>
              <a:rPr lang="en-US" dirty="0"/>
              <a:t>Rule: When precedence is equal, check Associativity.</a:t>
            </a:r>
          </a:p>
          <a:p>
            <a:endParaRPr lang="en-US" dirty="0"/>
          </a:p>
          <a:p>
            <a:r>
              <a:rPr lang="en-US" dirty="0"/>
              <a:t>Left to Right: Arithmetic, Relational, Logical</a:t>
            </a:r>
          </a:p>
          <a:p>
            <a:r>
              <a:rPr lang="en-US" dirty="0"/>
              <a:t>Right to Left: Assignment (=), Unary, Ternary</a:t>
            </a:r>
          </a:p>
          <a:p>
            <a:endParaRPr lang="en-US" dirty="0"/>
          </a:p>
          <a:p>
            <a:r>
              <a:rPr lang="en-US" dirty="0"/>
              <a:t>Example Evaluation Tree:</a:t>
            </a:r>
          </a:p>
          <a:p>
            <a:pPr lvl="1"/>
            <a:r>
              <a:rPr lang="en-US" dirty="0"/>
              <a:t>Expression: 10 + 20 * 3</a:t>
            </a:r>
          </a:p>
          <a:p>
            <a:pPr lvl="1"/>
            <a:r>
              <a:rPr lang="en-US" dirty="0"/>
              <a:t>Step 1: 20 * 3 = 60</a:t>
            </a:r>
          </a:p>
          <a:p>
            <a:pPr lvl="1"/>
            <a:r>
              <a:rPr lang="en-US" dirty="0"/>
              <a:t>Step 2: 10 + 60 = 70</a:t>
            </a:r>
          </a:p>
          <a:p>
            <a:pPr lvl="1"/>
            <a:r>
              <a:rPr lang="en-US" dirty="0"/>
              <a:t>Final Answer: 70</a:t>
            </a:r>
          </a:p>
        </p:txBody>
      </p:sp>
    </p:spTree>
    <p:extLst>
      <p:ext uri="{BB962C8B-B14F-4D97-AF65-F5344CB8AC3E}">
        <p14:creationId xmlns:p14="http://schemas.microsoft.com/office/powerpoint/2010/main" val="27203694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Left-to-right: + - * / &lt; &gt; == &amp;&amp; ||</a:t>
            </a:r>
          </a:p>
          <a:p>
            <a:pPr lvl="1"/>
            <a:r>
              <a:t>Right-to-left: = += -= ! ++ -- ?:</a:t>
            </a:r>
          </a:p>
          <a:p>
            <a:pPr lvl="1"/>
            <a:r>
              <a:t>Used when precedence is same.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Left-to-Right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Expression: 20 - 5 - 3</a:t>
            </a:r>
          </a:p>
          <a:p>
            <a:pPr lvl="1"/>
            <a:r>
              <a:t>Left associative → (20 - 5) - 3 = 12</a:t>
            </a:r>
          </a:p>
          <a:p>
            <a:pPr lvl="1"/>
            <a:r>
              <a:t>Not evaluated as → 20 - (5 - 3)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Right-to-Left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Expression: a = b = c = 5;</a:t>
            </a:r>
          </a:p>
          <a:p>
            <a:pPr lvl="1"/>
            <a:r>
              <a:t>Evaluates as → a = (b = (c = 5));</a:t>
            </a:r>
          </a:p>
          <a:p>
            <a:pPr lvl="1"/>
            <a:r>
              <a:t>All variables become 5.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 Expression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Expression: 10 + 20 * 3 &gt; 40 &amp;&amp; 5 &lt; 2 + 3</a:t>
            </a:r>
          </a:p>
          <a:p>
            <a:pPr lvl="1"/>
            <a:r>
              <a:t>Step 1: 20 * 3 = 60</a:t>
            </a:r>
          </a:p>
          <a:p>
            <a:pPr lvl="1"/>
            <a:r>
              <a:t>Step 2: 10 + 60 = 70</a:t>
            </a:r>
          </a:p>
          <a:p>
            <a:pPr lvl="1"/>
            <a:r>
              <a:t>Step 3: 70 &gt; 40 → 1</a:t>
            </a:r>
          </a:p>
          <a:p>
            <a:pPr lvl="1"/>
            <a:r>
              <a:t>Step 4: 2 + 3 = 5 → 5 &lt; 5 → 0</a:t>
            </a:r>
          </a:p>
          <a:p>
            <a:pPr lvl="1"/>
            <a:r>
              <a:t>Final: 1 &amp;&amp; 0 = 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Expression Tree (Complex)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 lvl="1"/>
            <a:r>
              <a:t>              &amp;&amp;</a:t>
            </a:r>
          </a:p>
          <a:p>
            <a:pPr lvl="1"/>
            <a:r>
              <a:t>            /     \</a:t>
            </a:r>
          </a:p>
          <a:p>
            <a:pPr lvl="1"/>
            <a:r>
              <a:t>          &gt;         &lt;</a:t>
            </a:r>
          </a:p>
          <a:p>
            <a:pPr lvl="1"/>
            <a:r>
              <a:t>       /    \     /    \</a:t>
            </a:r>
          </a:p>
          <a:p>
            <a:pPr lvl="1"/>
            <a:r>
              <a:t>      +     40   5      +</a:t>
            </a:r>
          </a:p>
          <a:p>
            <a:pPr lvl="1"/>
            <a:r>
              <a:t>    /   \             /   \</a:t>
            </a:r>
          </a:p>
          <a:p>
            <a:pPr lvl="1"/>
            <a:r>
              <a:t>  10     *           2     3</a:t>
            </a:r>
          </a:p>
          <a:p>
            <a:pPr lvl="1"/>
            <a:r>
              <a:t>       /   \</a:t>
            </a:r>
          </a:p>
          <a:p>
            <a:pPr lvl="1"/>
            <a:r>
              <a:t>     20     3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74625"/>
            <a:ext cx="4073455" cy="836776"/>
          </a:xfrm>
        </p:spPr>
        <p:txBody>
          <a:bodyPr/>
          <a:lstStyle/>
          <a:p>
            <a:r>
              <a:rPr dirty="0"/>
              <a:t>Type Conversion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sz="1500" dirty="0"/>
              <a:t>Changing a value from one data type to another</a:t>
            </a:r>
            <a:endParaRPr lang="en-IN" sz="1500" dirty="0"/>
          </a:p>
          <a:p>
            <a:pPr marL="276624" lvl="3" indent="0">
              <a:buNone/>
            </a:pPr>
            <a:r>
              <a:rPr lang="en-IN" sz="1500" dirty="0"/>
              <a:t>Happens during assignments &amp; expressions</a:t>
            </a:r>
          </a:p>
          <a:p>
            <a:pPr marL="276624" lvl="3" indent="0">
              <a:buNone/>
            </a:pPr>
            <a:r>
              <a:rPr lang="en-IN" sz="1500" dirty="0"/>
              <a:t>Follows type promotion hierarchy</a:t>
            </a:r>
          </a:p>
          <a:p>
            <a:endParaRPr sz="1500" dirty="0"/>
          </a:p>
          <a:p>
            <a:pPr lvl="1"/>
            <a:r>
              <a:rPr sz="1500" dirty="0"/>
              <a:t>Types: Implicit (automatic) &amp; Explicit (manual type casting)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53975"/>
            <a:ext cx="4073455" cy="836776"/>
          </a:xfrm>
        </p:spPr>
        <p:txBody>
          <a:bodyPr/>
          <a:lstStyle/>
          <a:p>
            <a:r>
              <a:rPr dirty="0"/>
              <a:t>Why Type Conversion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1800" dirty="0"/>
              <a:t>To perform operations between different data types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To avoid wrong results (e.g., integer</a:t>
            </a:r>
            <a:r>
              <a:rPr lang="en-IN" sz="1800" dirty="0"/>
              <a:t> </a:t>
            </a:r>
            <a:r>
              <a:rPr sz="1800" dirty="0"/>
              <a:t>division)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To store one type into another safely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To control how data is processed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Mixed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int salary = 50000;</a:t>
            </a:r>
          </a:p>
          <a:p>
            <a:pPr lvl="1"/>
            <a:r>
              <a:rPr sz="1800" dirty="0"/>
              <a:t>float bonus = 3500.75;</a:t>
            </a:r>
          </a:p>
          <a:p>
            <a:pPr lvl="1"/>
            <a:r>
              <a:rPr sz="1800" dirty="0"/>
              <a:t>float total = salary + bonus;</a:t>
            </a:r>
          </a:p>
          <a:p>
            <a:pPr lvl="1"/>
            <a:r>
              <a:rPr sz="1800" dirty="0"/>
              <a:t>salary (int) → float automatically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Wrong Result Without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float x = 5 / 2;   // integer division → 2.0</a:t>
            </a:r>
          </a:p>
          <a:p>
            <a:pPr lvl="1"/>
            <a:r>
              <a:rPr sz="1800" dirty="0"/>
              <a:t>Correct: float x = (float)5 / 2;   // 2.5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Performed automatically by the compiler</a:t>
            </a:r>
          </a:p>
          <a:p>
            <a:pPr lvl="1"/>
            <a:r>
              <a:rPr sz="1800" dirty="0"/>
              <a:t>Small → Big type: </a:t>
            </a:r>
            <a:endParaRPr lang="en-IN" sz="1800" dirty="0"/>
          </a:p>
          <a:p>
            <a:pPr lvl="1"/>
            <a:endParaRPr lang="en-IN" sz="1800" dirty="0"/>
          </a:p>
          <a:p>
            <a:pPr lvl="1"/>
            <a:r>
              <a:rPr sz="1800" dirty="0"/>
              <a:t>char &lt; int &lt; float &lt; double</a:t>
            </a:r>
          </a:p>
          <a:p>
            <a:pPr lvl="1"/>
            <a:endParaRPr lang="en-IN" sz="1800" dirty="0"/>
          </a:p>
          <a:p>
            <a:pPr lvl="1"/>
            <a:r>
              <a:rPr sz="1800" dirty="0"/>
              <a:t>Prevents data loss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int a=10; float b=2.5; float c=</a:t>
            </a:r>
            <a:r>
              <a:rPr sz="1800" dirty="0" err="1"/>
              <a:t>a+b</a:t>
            </a:r>
            <a:r>
              <a:rPr sz="1800" dirty="0"/>
              <a:t>;</a:t>
            </a:r>
          </a:p>
          <a:p>
            <a:pPr lvl="1"/>
            <a:r>
              <a:rPr sz="1800" dirty="0"/>
              <a:t>a promoted to float → 10.0 + 2.5 = 12.5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Example 2: ASCII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char </a:t>
            </a:r>
            <a:r>
              <a:rPr sz="1800" dirty="0" err="1"/>
              <a:t>ch</a:t>
            </a:r>
            <a:r>
              <a:rPr sz="1800" dirty="0"/>
              <a:t>='A'; int x=ch+5;</a:t>
            </a:r>
          </a:p>
          <a:p>
            <a:pPr lvl="1"/>
            <a:r>
              <a:rPr sz="1800" dirty="0"/>
              <a:t>'A' → 65, 65+5=70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Conversion (Type Casting)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Manual conversion using (type)</a:t>
            </a:r>
          </a:p>
          <a:p>
            <a:pPr lvl="1"/>
            <a:r>
              <a:rPr sz="1800" dirty="0"/>
              <a:t>Example: float c = (float)a / b;</a:t>
            </a:r>
          </a:p>
          <a:p>
            <a:pPr lvl="1"/>
            <a:r>
              <a:rPr sz="1800" dirty="0"/>
              <a:t>a becomes 5.0 → result becomes 2.5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Example: Data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int x=300; char c=(char)x;</a:t>
            </a:r>
          </a:p>
          <a:p>
            <a:pPr lvl="1"/>
            <a:r>
              <a:rPr sz="1800" dirty="0"/>
              <a:t>char stores -128 to 127 → </a:t>
            </a:r>
            <a:endParaRPr lang="en-IN" sz="1800" dirty="0"/>
          </a:p>
          <a:p>
            <a:pPr lvl="1"/>
            <a:r>
              <a:rPr lang="en-IN" sz="1800" dirty="0"/>
              <a:t>   </a:t>
            </a:r>
            <a:r>
              <a:rPr sz="1800" dirty="0"/>
              <a:t>stored value becomes 44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Modifier vs 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Modifier: short, long, unsigned (changes size)</a:t>
            </a:r>
            <a:endParaRPr lang="en-IN" sz="2000" dirty="0"/>
          </a:p>
          <a:p>
            <a:pPr marL="0" lvl="1" indent="0">
              <a:buNone/>
            </a:pPr>
            <a:r>
              <a:rPr sz="2000" dirty="0"/>
              <a:t>Conversion: </a:t>
            </a:r>
            <a:r>
              <a:rPr sz="2000" dirty="0" err="1"/>
              <a:t>int→float</a:t>
            </a:r>
            <a:r>
              <a:rPr sz="2000" dirty="0"/>
              <a:t>, </a:t>
            </a:r>
            <a:r>
              <a:rPr sz="2000" dirty="0" err="1"/>
              <a:t>float→int</a:t>
            </a:r>
            <a:r>
              <a:rPr sz="2000" dirty="0"/>
              <a:t> (changes type)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Promotion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In expressions, small types are promoted to larger types</a:t>
            </a:r>
          </a:p>
          <a:p>
            <a:pPr marL="0" lvl="1" indent="0">
              <a:buNone/>
            </a:pPr>
            <a:r>
              <a:rPr sz="1800" dirty="0"/>
              <a:t>Final result takes the largest data type present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Conversion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char → short → int → float → double → long double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Conversion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VALUE → (type) → NEW VALUE</a:t>
            </a:r>
          </a:p>
          <a:p>
            <a:pPr lvl="1"/>
            <a:r>
              <a:rPr sz="1600" dirty="0"/>
              <a:t>Examples: (float)5 → 5.0, (int)2.</a:t>
            </a:r>
            <a:r>
              <a:rPr lang="en-IN" sz="1600" dirty="0"/>
              <a:t>3</a:t>
            </a:r>
            <a:r>
              <a:rPr sz="1600" dirty="0"/>
              <a:t>9 → 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Implicit: automatic, safe, compiler-controlled</a:t>
            </a:r>
          </a:p>
          <a:p>
            <a:pPr marL="0" lvl="1" indent="0">
              <a:buNone/>
            </a:pPr>
            <a:r>
              <a:rPr sz="1600" dirty="0"/>
              <a:t>Explicit: manual, programmer-controlled</a:t>
            </a:r>
          </a:p>
          <a:p>
            <a:pPr lvl="1"/>
            <a:r>
              <a:rPr sz="1600" dirty="0"/>
              <a:t>Needed for accuracy, safety, mixed expressions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I/O in 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Input → Getting data from the user</a:t>
            </a:r>
            <a:endParaRPr lang="en-IN" sz="1600" dirty="0"/>
          </a:p>
          <a:p>
            <a:pPr marL="0" indent="0">
              <a:buNone/>
            </a:pPr>
            <a:r>
              <a:rPr sz="1600" dirty="0"/>
              <a:t>Output → Displaying data to the user</a:t>
            </a:r>
            <a:endParaRPr lang="en-IN" sz="1600" dirty="0"/>
          </a:p>
          <a:p>
            <a:pPr marL="0" indent="0">
              <a:buNone/>
            </a:pPr>
            <a:r>
              <a:rPr sz="1600" dirty="0"/>
              <a:t>C uses </a:t>
            </a:r>
            <a:r>
              <a:rPr sz="1600" dirty="0" err="1"/>
              <a:t>printf</a:t>
            </a:r>
            <a:r>
              <a:rPr sz="1600" dirty="0"/>
              <a:t>() and </a:t>
            </a:r>
            <a:r>
              <a:rPr sz="1600" dirty="0" err="1"/>
              <a:t>scanf</a:t>
            </a:r>
            <a:r>
              <a:rPr sz="1600" dirty="0"/>
              <a:t>() for I/O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/ Output Statements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 err="1"/>
              <a:t>printf</a:t>
            </a:r>
            <a:r>
              <a:rPr sz="1600" dirty="0"/>
              <a:t>() → Output function</a:t>
            </a:r>
            <a:endParaRPr lang="en-IN" sz="1600" dirty="0"/>
          </a:p>
          <a:p>
            <a:r>
              <a:rPr sz="1600" dirty="0" err="1"/>
              <a:t>scanf</a:t>
            </a:r>
            <a:r>
              <a:rPr sz="1600" dirty="0"/>
              <a:t>() → Input function</a:t>
            </a:r>
            <a:endParaRPr lang="en-IN" sz="1600" dirty="0"/>
          </a:p>
          <a:p>
            <a:r>
              <a:rPr sz="1600" dirty="0"/>
              <a:t>Requires 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printf() – Output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Syntax: </a:t>
            </a:r>
            <a:r>
              <a:rPr sz="1600" dirty="0" err="1"/>
              <a:t>printf</a:t>
            </a:r>
            <a:r>
              <a:rPr sz="1600" dirty="0"/>
              <a:t>("format string", values);</a:t>
            </a:r>
            <a:endParaRPr lang="en-IN" sz="1600" dirty="0"/>
          </a:p>
          <a:p>
            <a:r>
              <a:rPr sz="1600" dirty="0"/>
              <a:t>Example: </a:t>
            </a:r>
            <a:r>
              <a:rPr sz="1600" dirty="0" err="1"/>
              <a:t>printf</a:t>
            </a:r>
            <a:r>
              <a:rPr sz="1600" dirty="0"/>
              <a:t>("Sum = %d", 50); → Sum = 50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641" y="175879"/>
            <a:ext cx="4073455" cy="106696"/>
          </a:xfrm>
        </p:spPr>
        <p:txBody>
          <a:bodyPr>
            <a:normAutofit fontScale="90000"/>
          </a:bodyPr>
          <a:lstStyle/>
          <a:p>
            <a:r>
              <a:rPr dirty="0"/>
              <a:t>Format Specifiers (</a:t>
            </a:r>
            <a:r>
              <a:rPr dirty="0" err="1"/>
              <a:t>printf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358775"/>
            <a:ext cx="4066252" cy="3200400"/>
          </a:xfrm>
        </p:spPr>
        <p:txBody>
          <a:bodyPr>
            <a:normAutofit/>
          </a:bodyPr>
          <a:lstStyle/>
          <a:p>
            <a:r>
              <a:rPr sz="1800" dirty="0"/>
              <a:t>int → %d</a:t>
            </a:r>
            <a:endParaRPr lang="en-IN" sz="1800" dirty="0"/>
          </a:p>
          <a:p>
            <a:r>
              <a:rPr sz="1800" dirty="0"/>
              <a:t>float → %f</a:t>
            </a:r>
            <a:endParaRPr lang="en-IN" sz="1800" dirty="0"/>
          </a:p>
          <a:p>
            <a:r>
              <a:rPr sz="1800" dirty="0"/>
              <a:t>double → %</a:t>
            </a:r>
            <a:r>
              <a:rPr sz="1800" dirty="0" err="1"/>
              <a:t>lf</a:t>
            </a:r>
            <a:endParaRPr lang="en-IN" sz="1800" dirty="0"/>
          </a:p>
          <a:p>
            <a:r>
              <a:rPr sz="1800" dirty="0"/>
              <a:t>char → %c</a:t>
            </a:r>
            <a:endParaRPr lang="en-IN" sz="1800" dirty="0"/>
          </a:p>
          <a:p>
            <a:r>
              <a:rPr sz="1800" dirty="0"/>
              <a:t>string → %s</a:t>
            </a:r>
            <a:endParaRPr lang="en-IN" sz="1800" dirty="0"/>
          </a:p>
          <a:p>
            <a:r>
              <a:rPr sz="1800" dirty="0"/>
              <a:t>long int → %</a:t>
            </a:r>
            <a:r>
              <a:rPr sz="1800" dirty="0" err="1"/>
              <a:t>ld</a:t>
            </a:r>
            <a:endParaRPr lang="en-IN" sz="1800" dirty="0"/>
          </a:p>
          <a:p>
            <a:r>
              <a:rPr sz="1800" dirty="0"/>
              <a:t>unsigned int → %u</a:t>
            </a:r>
            <a:endParaRPr lang="en-IN" sz="1800" dirty="0"/>
          </a:p>
          <a:p>
            <a:r>
              <a:rPr sz="1800" dirty="0"/>
              <a:t>hexadecimal → %x / %X</a:t>
            </a:r>
            <a:endParaRPr lang="en-IN" sz="1800" dirty="0"/>
          </a:p>
          <a:p>
            <a:r>
              <a:rPr sz="1800" dirty="0"/>
              <a:t>octal → %o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scanf() – Input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Syntax: </a:t>
            </a:r>
            <a:r>
              <a:rPr sz="1600" dirty="0" err="1"/>
              <a:t>scanf</a:t>
            </a:r>
            <a:r>
              <a:rPr sz="1600" dirty="0"/>
              <a:t>("format string", &amp;variable);</a:t>
            </a:r>
            <a:endParaRPr lang="en-US" sz="1600" dirty="0"/>
          </a:p>
          <a:p>
            <a:r>
              <a:rPr lang="en-US" sz="1600" dirty="0"/>
              <a:t>Always use &amp; except with strings </a:t>
            </a:r>
          </a:p>
          <a:p>
            <a:r>
              <a:rPr sz="1600" dirty="0"/>
              <a:t>Example: </a:t>
            </a:r>
            <a:r>
              <a:rPr sz="1600" dirty="0" err="1"/>
              <a:t>scanf</a:t>
            </a:r>
            <a:r>
              <a:rPr sz="1600" dirty="0"/>
              <a:t>("%d", &amp;age);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Specifiers (scanf)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int → %d</a:t>
            </a:r>
            <a:endParaRPr lang="en-IN" sz="1600" dirty="0"/>
          </a:p>
          <a:p>
            <a:r>
              <a:rPr sz="1600" dirty="0"/>
              <a:t>float → %f</a:t>
            </a:r>
            <a:endParaRPr lang="en-IN" sz="1600" dirty="0"/>
          </a:p>
          <a:p>
            <a:r>
              <a:rPr sz="1600" dirty="0"/>
              <a:t>double → %</a:t>
            </a:r>
            <a:r>
              <a:rPr sz="1600" dirty="0" err="1"/>
              <a:t>lf</a:t>
            </a:r>
            <a:endParaRPr lang="en-IN" sz="1600" dirty="0"/>
          </a:p>
          <a:p>
            <a:r>
              <a:rPr sz="1600" dirty="0"/>
              <a:t>char → %c</a:t>
            </a:r>
            <a:endParaRPr lang="en-IN" sz="1600" dirty="0"/>
          </a:p>
          <a:p>
            <a:r>
              <a:rPr sz="1600" dirty="0"/>
              <a:t>string → %s (NO &amp; needed)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00" y="53975"/>
            <a:ext cx="4073455" cy="836776"/>
          </a:xfrm>
        </p:spPr>
        <p:txBody>
          <a:bodyPr/>
          <a:lstStyle/>
          <a:p>
            <a:r>
              <a:rPr dirty="0" err="1"/>
              <a:t>printf</a:t>
            </a:r>
            <a:r>
              <a:rPr dirty="0"/>
              <a:t> vs </a:t>
            </a:r>
            <a:r>
              <a:rPr dirty="0" err="1"/>
              <a:t>scanf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9C8884-5863-E3DE-3630-8389F9C15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54134"/>
              </p:ext>
            </p:extLst>
          </p:nvPr>
        </p:nvGraphicFramePr>
        <p:xfrm>
          <a:off x="171450" y="716313"/>
          <a:ext cx="4208145" cy="22106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028">
                  <a:extLst>
                    <a:ext uri="{9D8B030D-6E8A-4147-A177-3AD203B41FA5}">
                      <a16:colId xmlns:a16="http://schemas.microsoft.com/office/drawing/2014/main" val="3515888096"/>
                    </a:ext>
                  </a:extLst>
                </a:gridCol>
                <a:gridCol w="1544053">
                  <a:extLst>
                    <a:ext uri="{9D8B030D-6E8A-4147-A177-3AD203B41FA5}">
                      <a16:colId xmlns:a16="http://schemas.microsoft.com/office/drawing/2014/main" val="3920506252"/>
                    </a:ext>
                  </a:extLst>
                </a:gridCol>
                <a:gridCol w="1864064">
                  <a:extLst>
                    <a:ext uri="{9D8B030D-6E8A-4147-A177-3AD203B41FA5}">
                      <a16:colId xmlns:a16="http://schemas.microsoft.com/office/drawing/2014/main" val="3178602526"/>
                    </a:ext>
                  </a:extLst>
                </a:gridCol>
              </a:tblGrid>
              <a:tr h="27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Feature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printf()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scanf()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extLst>
                  <a:ext uri="{0D108BD9-81ED-4DB2-BD59-A6C34878D82A}">
                    <a16:rowId xmlns:a16="http://schemas.microsoft.com/office/drawing/2014/main" val="972323189"/>
                  </a:ext>
                </a:extLst>
              </a:tr>
              <a:tr h="5568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effectLst/>
                        </a:rPr>
                        <a:t>Purpose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Display output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Take input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extLst>
                  <a:ext uri="{0D108BD9-81ED-4DB2-BD59-A6C34878D82A}">
                    <a16:rowId xmlns:a16="http://schemas.microsoft.com/office/drawing/2014/main" val="3433831021"/>
                  </a:ext>
                </a:extLst>
              </a:tr>
              <a:tr h="3778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effectLst/>
                        </a:rPr>
                        <a:t>Works 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Format string + values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Format string + addresses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extLst>
                  <a:ext uri="{0D108BD9-81ED-4DB2-BD59-A6C34878D82A}">
                    <a16:rowId xmlns:a16="http://schemas.microsoft.com/office/drawing/2014/main" val="3546498712"/>
                  </a:ext>
                </a:extLst>
              </a:tr>
              <a:tr h="3869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Uses &amp; ?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effectLst/>
                        </a:rPr>
                        <a:t>NO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YES (except string)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extLst>
                  <a:ext uri="{0D108BD9-81ED-4DB2-BD59-A6C34878D82A}">
                    <a16:rowId xmlns:a16="http://schemas.microsoft.com/office/drawing/2014/main" val="913148564"/>
                  </a:ext>
                </a:extLst>
              </a:tr>
              <a:tr h="5568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Reads?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>
                          <a:effectLst/>
                        </a:rPr>
                        <a:t>Nothing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effectLst/>
                        </a:rPr>
                        <a:t>Keyboard input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2" marR="4802" marT="4802" marB="0" anchor="ctr"/>
                </a:tc>
                <a:extLst>
                  <a:ext uri="{0D108BD9-81ED-4DB2-BD59-A6C34878D82A}">
                    <a16:rowId xmlns:a16="http://schemas.microsoft.com/office/drawing/2014/main" val="36300392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" y="-29845"/>
            <a:ext cx="4073455" cy="836776"/>
          </a:xfrm>
        </p:spPr>
        <p:txBody>
          <a:bodyPr/>
          <a:lstStyle/>
          <a:p>
            <a:r>
              <a:rPr dirty="0"/>
              <a:t>Escape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505" y="648489"/>
            <a:ext cx="4149090" cy="2758624"/>
          </a:xfrm>
        </p:spPr>
        <p:txBody>
          <a:bodyPr>
            <a:normAutofit/>
          </a:bodyPr>
          <a:lstStyle/>
          <a:p>
            <a:pPr lvl="1"/>
            <a:r>
              <a:rPr dirty="0"/>
              <a:t>\n → New line</a:t>
            </a:r>
          </a:p>
          <a:p>
            <a:pPr lvl="1"/>
            <a:r>
              <a:rPr dirty="0"/>
              <a:t>\t → Tab space</a:t>
            </a:r>
          </a:p>
          <a:p>
            <a:pPr lvl="1"/>
            <a:r>
              <a:rPr dirty="0"/>
              <a:t>\\ → Backslash</a:t>
            </a:r>
          </a:p>
          <a:p>
            <a:pPr lvl="1"/>
            <a:r>
              <a:rPr dirty="0"/>
              <a:t>\" → Double quote</a:t>
            </a:r>
          </a:p>
          <a:p>
            <a:pPr lvl="1"/>
            <a:r>
              <a:rPr dirty="0"/>
              <a:t>\b → Backspace</a:t>
            </a:r>
          </a:p>
          <a:p>
            <a:pPr lvl="1"/>
            <a:r>
              <a:rPr dirty="0"/>
              <a:t>\r → Carriage return</a:t>
            </a:r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dirty="0" err="1"/>
              <a:t>printf</a:t>
            </a:r>
            <a:r>
              <a:rPr lang="en-IN" dirty="0"/>
              <a:t>("Hello\</a:t>
            </a:r>
            <a:r>
              <a:rPr lang="en-IN" dirty="0" err="1"/>
              <a:t>nWorld</a:t>
            </a:r>
            <a:r>
              <a:rPr lang="en-IN" dirty="0"/>
              <a:t>");</a:t>
            </a:r>
          </a:p>
          <a:p>
            <a:pPr lvl="1"/>
            <a:r>
              <a:rPr lang="en-IN" dirty="0"/>
              <a:t>Hello</a:t>
            </a:r>
          </a:p>
          <a:p>
            <a:pPr lvl="1"/>
            <a:r>
              <a:rPr lang="en-IN" dirty="0"/>
              <a:t>World</a:t>
            </a:r>
            <a:endParaRPr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Carriage Return (\r) in C –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Carriage return moves cursor to the start of the same line.</a:t>
            </a:r>
            <a:endParaRPr lang="en-IN" sz="1500" dirty="0"/>
          </a:p>
          <a:p>
            <a:endParaRPr lang="en-IN" sz="1500" dirty="0"/>
          </a:p>
          <a:p>
            <a:pPr marL="0" indent="0">
              <a:buNone/>
            </a:pPr>
            <a:r>
              <a:rPr lang="en-US" sz="1500" dirty="0" err="1"/>
              <a:t>printf</a:t>
            </a:r>
            <a:r>
              <a:rPr lang="en-US" sz="1500" dirty="0"/>
              <a:t>("Hello World");</a:t>
            </a:r>
          </a:p>
          <a:p>
            <a:pPr marL="0" lvl="1" indent="0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rHi</a:t>
            </a:r>
            <a:r>
              <a:rPr lang="en-US" dirty="0"/>
              <a:t>");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dirty="0"/>
              <a:t>Output: Hi </a:t>
            </a:r>
            <a:r>
              <a:rPr lang="en-US" dirty="0" err="1"/>
              <a:t>llo</a:t>
            </a:r>
            <a:r>
              <a:rPr lang="en-US" dirty="0"/>
              <a:t> World  (Hi overwrites He)</a:t>
            </a:r>
          </a:p>
          <a:p>
            <a:endParaRPr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-29845"/>
            <a:ext cx="4073455" cy="836776"/>
          </a:xfrm>
        </p:spPr>
        <p:txBody>
          <a:bodyPr/>
          <a:lstStyle/>
          <a:p>
            <a:r>
              <a:rPr dirty="0"/>
              <a:t>Example</a:t>
            </a:r>
            <a:r>
              <a:rPr lang="en-IN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924" y="587375"/>
            <a:ext cx="4066252" cy="19005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500" dirty="0" err="1"/>
              <a:t>printf</a:t>
            </a:r>
            <a:r>
              <a:rPr sz="1500" dirty="0"/>
              <a:t>("ABCDE");</a:t>
            </a:r>
          </a:p>
          <a:p>
            <a:pPr marL="0" lvl="1" indent="0">
              <a:buNone/>
            </a:pPr>
            <a:r>
              <a:rPr dirty="0" err="1"/>
              <a:t>printf</a:t>
            </a:r>
            <a:r>
              <a:rPr dirty="0"/>
              <a:t>("\r12");</a:t>
            </a:r>
          </a:p>
          <a:p>
            <a:pPr marL="0" lvl="1" indent="0">
              <a:buNone/>
            </a:pPr>
            <a:r>
              <a:rPr dirty="0"/>
              <a:t>Output: 12CDE  (12 overwrites AB)</a:t>
            </a:r>
            <a:endParaRPr lang="en-IN" dirty="0"/>
          </a:p>
          <a:p>
            <a:pPr marL="0" lvl="1" indent="0">
              <a:buNone/>
            </a:pPr>
            <a:endParaRPr lang="en-IN" dirty="0"/>
          </a:p>
          <a:p>
            <a:pPr marL="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500" dirty="0" err="1"/>
              <a:t>printf</a:t>
            </a:r>
            <a:r>
              <a:rPr lang="en-US" sz="1500" dirty="0"/>
              <a:t>("Loading...");</a:t>
            </a:r>
          </a:p>
          <a:p>
            <a:pPr marL="0" lvl="1" indent="0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rDone</a:t>
            </a:r>
            <a:r>
              <a:rPr lang="en-US" dirty="0"/>
              <a:t>");</a:t>
            </a:r>
          </a:p>
          <a:p>
            <a:pPr marL="0" lvl="1" indent="0">
              <a:buNone/>
            </a:pPr>
            <a:r>
              <a:rPr lang="en-US" dirty="0"/>
              <a:t>Output: </a:t>
            </a:r>
            <a:r>
              <a:rPr lang="en-US" dirty="0" err="1"/>
              <a:t>Doneing</a:t>
            </a:r>
            <a:r>
              <a:rPr lang="en-US" dirty="0"/>
              <a:t>...  (Done overwrites Load)</a:t>
            </a:r>
          </a:p>
          <a:p>
            <a:pPr marL="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11" y="53975"/>
            <a:ext cx="4073455" cy="182896"/>
          </a:xfrm>
        </p:spPr>
        <p:txBody>
          <a:bodyPr>
            <a:normAutofit fontScale="90000"/>
          </a:bodyPr>
          <a:lstStyle/>
          <a:p>
            <a:r>
              <a:rPr dirty="0"/>
              <a:t>Example</a:t>
            </a:r>
            <a:r>
              <a:rPr lang="en-IN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434975"/>
            <a:ext cx="4066252" cy="24714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500" dirty="0" err="1"/>
              <a:t>printf</a:t>
            </a:r>
            <a:r>
              <a:rPr sz="1500" dirty="0"/>
              <a:t>("123456\</a:t>
            </a:r>
            <a:r>
              <a:rPr sz="1500" dirty="0" err="1"/>
              <a:t>rABC</a:t>
            </a:r>
            <a:r>
              <a:rPr sz="1500" dirty="0"/>
              <a:t>");</a:t>
            </a:r>
          </a:p>
          <a:p>
            <a:pPr marL="0" lvl="1" indent="0">
              <a:buNone/>
            </a:pPr>
            <a:r>
              <a:rPr dirty="0"/>
              <a:t>Output: ABC456  (ABC overwrites 123)</a:t>
            </a:r>
            <a:endParaRPr lang="en-IN" dirty="0"/>
          </a:p>
          <a:p>
            <a:pPr marL="0" lvl="1" indent="0">
              <a:buNone/>
            </a:pPr>
            <a:endParaRPr lang="en-IN" dirty="0"/>
          </a:p>
          <a:p>
            <a:pPr marL="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500" dirty="0" err="1"/>
              <a:t>printf</a:t>
            </a:r>
            <a:r>
              <a:rPr lang="en-US" sz="1500" dirty="0"/>
              <a:t>("Hello World\n");</a:t>
            </a:r>
          </a:p>
          <a:p>
            <a:pPr marL="0" lvl="1" indent="0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rWel</a:t>
            </a:r>
            <a:r>
              <a:rPr lang="en-US" dirty="0"/>
              <a:t>");</a:t>
            </a:r>
          </a:p>
          <a:p>
            <a:pPr marL="0" lvl="1" indent="0">
              <a:buNone/>
            </a:pPr>
            <a:r>
              <a:rPr lang="en-US" dirty="0"/>
              <a:t>Output:</a:t>
            </a:r>
          </a:p>
          <a:p>
            <a:pPr marL="0" lvl="1" indent="0">
              <a:buNone/>
            </a:pPr>
            <a:r>
              <a:rPr lang="en-US" dirty="0"/>
              <a:t>Hello World</a:t>
            </a:r>
          </a:p>
          <a:p>
            <a:pPr marL="0" lvl="1" indent="0">
              <a:buNone/>
            </a:pPr>
            <a:r>
              <a:rPr lang="en-US" dirty="0"/>
              <a:t>Wel   (\n moved to new line so no overwrite)</a:t>
            </a:r>
          </a:p>
          <a:p>
            <a:pPr marL="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Inputs Using scanf()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Example:</a:t>
            </a:r>
          </a:p>
          <a:p>
            <a:pPr lvl="1"/>
            <a:r>
              <a:rPr sz="1800" dirty="0"/>
              <a:t>int a, b;</a:t>
            </a:r>
          </a:p>
          <a:p>
            <a:pPr lvl="1"/>
            <a:r>
              <a:rPr sz="1800" dirty="0" err="1"/>
              <a:t>scanf</a:t>
            </a:r>
            <a:r>
              <a:rPr sz="1800" dirty="0"/>
              <a:t>("%d %d", &amp;a, &amp;b);</a:t>
            </a:r>
          </a:p>
          <a:p>
            <a:pPr lvl="1"/>
            <a:r>
              <a:rPr sz="1800" dirty="0"/>
              <a:t>User enters: 10 20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Missing &amp;: </a:t>
            </a:r>
            <a:r>
              <a:rPr sz="1600" dirty="0" err="1"/>
              <a:t>scanf</a:t>
            </a:r>
            <a:r>
              <a:rPr sz="1600" dirty="0"/>
              <a:t>("%d", age); → WRONG</a:t>
            </a:r>
            <a:endParaRPr lang="en-IN" sz="1600" dirty="0"/>
          </a:p>
          <a:p>
            <a:r>
              <a:rPr sz="1600" dirty="0"/>
              <a:t>Correct: </a:t>
            </a:r>
            <a:r>
              <a:rPr sz="1600" dirty="0" err="1"/>
              <a:t>scanf</a:t>
            </a:r>
            <a:r>
              <a:rPr sz="1600" dirty="0"/>
              <a:t>("%d", &amp;age);</a:t>
            </a:r>
            <a:endParaRPr lang="en-IN" sz="1600" dirty="0"/>
          </a:p>
          <a:p>
            <a:r>
              <a:rPr sz="1600" dirty="0"/>
              <a:t>Using %d for float → WRONG</a:t>
            </a:r>
            <a:endParaRPr lang="en-IN" sz="1600" dirty="0"/>
          </a:p>
          <a:p>
            <a:r>
              <a:rPr sz="1600" dirty="0"/>
              <a:t>Using %f instead of %</a:t>
            </a:r>
            <a:r>
              <a:rPr sz="1600" dirty="0" err="1"/>
              <a:t>lf</a:t>
            </a:r>
            <a:r>
              <a:rPr sz="1600" dirty="0"/>
              <a:t> for double → WRONG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printf() Works –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VALUE → </a:t>
            </a:r>
            <a:r>
              <a:rPr sz="1600" dirty="0" err="1"/>
              <a:t>printf</a:t>
            </a:r>
            <a:r>
              <a:rPr sz="1600" dirty="0"/>
              <a:t>() → SCREEN</a:t>
            </a:r>
          </a:p>
          <a:p>
            <a:pPr lvl="1"/>
            <a:r>
              <a:rPr sz="1800" dirty="0"/>
              <a:t>Example: </a:t>
            </a:r>
            <a:r>
              <a:rPr sz="1800" dirty="0" err="1"/>
              <a:t>printf</a:t>
            </a:r>
            <a:r>
              <a:rPr sz="1800" dirty="0"/>
              <a:t>("%d", 10) → 10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scanf() Works –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User Input → </a:t>
            </a:r>
            <a:r>
              <a:rPr sz="1600" dirty="0" err="1"/>
              <a:t>scanf</a:t>
            </a:r>
            <a:r>
              <a:rPr sz="1600" dirty="0"/>
              <a:t>() → Stored in variable</a:t>
            </a:r>
          </a:p>
          <a:p>
            <a:pPr lvl="1"/>
            <a:r>
              <a:rPr sz="1800" dirty="0"/>
              <a:t>Example: User types 45 → age = 45</a:t>
            </a:r>
            <a:r>
              <a:rPr lang="en-IN" sz="1800" dirty="0"/>
              <a:t> (stored)</a:t>
            </a:r>
            <a:endParaRPr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74625"/>
            <a:ext cx="4073455" cy="836776"/>
          </a:xfrm>
        </p:spPr>
        <p:txBody>
          <a:bodyPr/>
          <a:lstStyle/>
          <a:p>
            <a:r>
              <a:rPr dirty="0"/>
              <a:t>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511175"/>
            <a:ext cx="4066252" cy="2395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#include &lt;</a:t>
            </a:r>
            <a:r>
              <a:rPr sz="1600" dirty="0" err="1"/>
              <a:t>stdio.h</a:t>
            </a:r>
            <a:r>
              <a:rPr sz="1600" dirty="0"/>
              <a:t>&gt;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void</a:t>
            </a:r>
            <a:r>
              <a:rPr sz="1600" dirty="0"/>
              <a:t> main() {</a:t>
            </a:r>
            <a:endParaRPr lang="en-IN" sz="1600" dirty="0"/>
          </a:p>
          <a:p>
            <a:pPr marL="0" indent="0">
              <a:buNone/>
            </a:pPr>
            <a:r>
              <a:rPr sz="1600" dirty="0"/>
              <a:t>int age; float marks;</a:t>
            </a:r>
            <a:endParaRPr lang="en-IN" sz="1600" dirty="0"/>
          </a:p>
          <a:p>
            <a:pPr marL="0" indent="0">
              <a:buNone/>
            </a:pPr>
            <a:r>
              <a:rPr sz="1600" dirty="0" err="1"/>
              <a:t>printf</a:t>
            </a:r>
            <a:r>
              <a:rPr sz="1600" dirty="0"/>
              <a:t>("Enter age: "); </a:t>
            </a:r>
            <a:r>
              <a:rPr sz="1600" dirty="0" err="1"/>
              <a:t>scanf</a:t>
            </a:r>
            <a:r>
              <a:rPr sz="1600" dirty="0"/>
              <a:t>("%d", &amp;age);</a:t>
            </a:r>
            <a:endParaRPr lang="en-IN" sz="1600" dirty="0"/>
          </a:p>
          <a:p>
            <a:pPr marL="0" indent="0">
              <a:buNone/>
            </a:pPr>
            <a:r>
              <a:rPr sz="1600" dirty="0" err="1"/>
              <a:t>printf</a:t>
            </a:r>
            <a:r>
              <a:rPr sz="1600" dirty="0"/>
              <a:t>("Enter marks: "); </a:t>
            </a:r>
            <a:r>
              <a:rPr sz="1600" dirty="0" err="1"/>
              <a:t>scanf</a:t>
            </a:r>
            <a:r>
              <a:rPr sz="1600" dirty="0"/>
              <a:t>("%f", &amp;marks);</a:t>
            </a:r>
            <a:endParaRPr lang="en-IN" sz="1600" dirty="0"/>
          </a:p>
          <a:p>
            <a:pPr marL="0" indent="0">
              <a:buNone/>
            </a:pPr>
            <a:r>
              <a:rPr sz="1600" dirty="0" err="1"/>
              <a:t>printf</a:t>
            </a:r>
            <a:r>
              <a:rPr sz="1600" dirty="0"/>
              <a:t>("Age = %d, Marks = %.2f", age, marks);</a:t>
            </a:r>
            <a:endParaRPr lang="en-IN" sz="1600" dirty="0"/>
          </a:p>
          <a:p>
            <a:pPr marL="0" indent="0">
              <a:buNone/>
            </a:pPr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 Output (printf)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Decimal control: </a:t>
            </a:r>
            <a:r>
              <a:rPr sz="1600" dirty="0" err="1"/>
              <a:t>printf</a:t>
            </a:r>
            <a:r>
              <a:rPr sz="1600" dirty="0"/>
              <a:t>("%.2f", 5.6789); → 5.68</a:t>
            </a:r>
            <a:endParaRPr lang="en-IN" sz="1600" dirty="0"/>
          </a:p>
          <a:p>
            <a:r>
              <a:rPr sz="1600" dirty="0"/>
              <a:t>Width formatting: </a:t>
            </a:r>
            <a:r>
              <a:rPr sz="1600" dirty="0" err="1"/>
              <a:t>printf</a:t>
            </a:r>
            <a:r>
              <a:rPr sz="1600" dirty="0"/>
              <a:t>("%5d", 10); → '   10'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Structures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Control how, when, and how many times</a:t>
            </a:r>
            <a:r>
              <a:rPr lang="en-IN" sz="1500" dirty="0"/>
              <a:t> a </a:t>
            </a:r>
            <a:r>
              <a:rPr sz="1500" dirty="0"/>
              <a:t>statements execute.</a:t>
            </a:r>
          </a:p>
          <a:p>
            <a:pPr marL="0" lvl="1" indent="0">
              <a:buNone/>
            </a:pPr>
            <a:r>
              <a:rPr dirty="0"/>
              <a:t>Types: </a:t>
            </a:r>
            <a:endParaRPr lang="en-IN" dirty="0"/>
          </a:p>
          <a:p>
            <a:pPr marL="424062" lvl="2" indent="-285750">
              <a:buFont typeface="+mj-lt"/>
              <a:buAutoNum type="arabicPeriod"/>
            </a:pPr>
            <a:r>
              <a:rPr sz="1200" dirty="0"/>
              <a:t>Conditional (Selection), </a:t>
            </a:r>
            <a:endParaRPr lang="en-IN" sz="1200" dirty="0"/>
          </a:p>
          <a:p>
            <a:pPr marL="424062" lvl="2" indent="-285750">
              <a:buFont typeface="+mj-lt"/>
              <a:buAutoNum type="arabicPeriod"/>
            </a:pPr>
            <a:r>
              <a:rPr sz="1200" dirty="0"/>
              <a:t>Looping (Iteration).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Control Structures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1600" dirty="0"/>
              <a:t>To make decisions based on conditions.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</a:t>
            </a:r>
            <a:r>
              <a:rPr sz="1600" dirty="0"/>
              <a:t>o repeat actions without rewriting code many times.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</a:t>
            </a:r>
            <a:r>
              <a:rPr sz="1600" dirty="0"/>
              <a:t>o skip or exit sections of code logically.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sz="1600" dirty="0"/>
              <a:t>To improve readability, structure, and reduce redundancy.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1005925"/>
            <a:ext cx="4066252" cy="2454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Used for decision-making.</a:t>
            </a:r>
          </a:p>
          <a:p>
            <a:pPr marL="0" lvl="1" indent="0">
              <a:buNone/>
            </a:pPr>
            <a:r>
              <a:rPr sz="1600" dirty="0"/>
              <a:t>Types: 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if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if-else 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else-if ladder 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nested if 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switch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?: (ternary)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Statement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dirty="0"/>
              <a:t>Syntax:</a:t>
            </a:r>
          </a:p>
          <a:p>
            <a:pPr lvl="1"/>
            <a:r>
              <a:rPr sz="1600" dirty="0"/>
              <a:t>if (condition) {</a:t>
            </a:r>
          </a:p>
          <a:p>
            <a:pPr lvl="1"/>
            <a:r>
              <a:rPr sz="1600" dirty="0"/>
              <a:t>    // statements;</a:t>
            </a:r>
          </a:p>
          <a:p>
            <a:pPr lvl="1"/>
            <a:r>
              <a:rPr sz="1600" dirty="0"/>
              <a:t>}</a:t>
            </a:r>
          </a:p>
          <a:p>
            <a:pPr lvl="1"/>
            <a:r>
              <a:rPr sz="1600" dirty="0"/>
              <a:t>Example:</a:t>
            </a:r>
          </a:p>
          <a:p>
            <a:pPr lvl="1"/>
            <a:r>
              <a:rPr sz="1600" dirty="0"/>
              <a:t>int age = 20;</a:t>
            </a:r>
          </a:p>
          <a:p>
            <a:pPr lvl="1"/>
            <a:r>
              <a:rPr sz="1600" dirty="0"/>
              <a:t>if (age &gt;= 18) {</a:t>
            </a:r>
          </a:p>
          <a:p>
            <a:pPr lvl="1"/>
            <a:r>
              <a:rPr sz="1600" dirty="0"/>
              <a:t>    </a:t>
            </a:r>
            <a:r>
              <a:rPr sz="1600" dirty="0" err="1"/>
              <a:t>printf</a:t>
            </a:r>
            <a:r>
              <a:rPr sz="1600" dirty="0"/>
              <a:t>("Eligible to vote\n");</a:t>
            </a:r>
          </a:p>
          <a:p>
            <a:pPr lvl="1"/>
            <a:r>
              <a:rPr sz="1600" dirty="0"/>
              <a:t>}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15875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if–else Statement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924" y="434975"/>
            <a:ext cx="4066252" cy="1900529"/>
          </a:xfrm>
        </p:spPr>
        <p:txBody>
          <a:bodyPr>
            <a:noAutofit/>
          </a:bodyPr>
          <a:lstStyle/>
          <a:p>
            <a:r>
              <a:rPr sz="1500" dirty="0"/>
              <a:t>Syntax:</a:t>
            </a:r>
          </a:p>
          <a:p>
            <a:pPr lvl="1"/>
            <a:r>
              <a:rPr dirty="0"/>
              <a:t>if (condition) {</a:t>
            </a:r>
          </a:p>
          <a:p>
            <a:pPr lvl="1"/>
            <a:r>
              <a:rPr dirty="0"/>
              <a:t>    // true block</a:t>
            </a:r>
          </a:p>
          <a:p>
            <a:pPr lvl="1"/>
            <a:r>
              <a:rPr dirty="0"/>
              <a:t>} else {</a:t>
            </a:r>
          </a:p>
          <a:p>
            <a:pPr lvl="1"/>
            <a:r>
              <a:rPr dirty="0"/>
              <a:t>    // false block</a:t>
            </a:r>
          </a:p>
          <a:p>
            <a:pPr lvl="1"/>
            <a:r>
              <a:rPr dirty="0"/>
              <a:t>}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int marks = 45;</a:t>
            </a:r>
          </a:p>
          <a:p>
            <a:pPr lvl="1"/>
            <a:r>
              <a:rPr dirty="0"/>
              <a:t>if (marks &gt;= 50)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("Pass\n");</a:t>
            </a:r>
          </a:p>
          <a:p>
            <a:pPr lvl="1"/>
            <a:r>
              <a:rPr dirty="0"/>
              <a:t>else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("Fail\n");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" y="31115"/>
            <a:ext cx="4073455" cy="182896"/>
          </a:xfrm>
        </p:spPr>
        <p:txBody>
          <a:bodyPr>
            <a:normAutofit fontScale="90000"/>
          </a:bodyPr>
          <a:lstStyle/>
          <a:p>
            <a:r>
              <a:rPr dirty="0"/>
              <a:t>else-if Ladder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924" y="245126"/>
            <a:ext cx="4066252" cy="1900529"/>
          </a:xfrm>
        </p:spPr>
        <p:txBody>
          <a:bodyPr>
            <a:noAutofit/>
          </a:bodyPr>
          <a:lstStyle/>
          <a:p>
            <a:r>
              <a:rPr sz="1500" dirty="0"/>
              <a:t>Used for multiple conditions.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int marks = 78;</a:t>
            </a:r>
          </a:p>
          <a:p>
            <a:pPr lvl="1"/>
            <a:r>
              <a:rPr dirty="0"/>
              <a:t>if (marks &gt;= 90)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("Grade A\n");</a:t>
            </a:r>
          </a:p>
          <a:p>
            <a:pPr lvl="1"/>
            <a:r>
              <a:rPr dirty="0"/>
              <a:t>else if (marks &gt;= 80)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("Grade B\n");</a:t>
            </a:r>
          </a:p>
          <a:p>
            <a:pPr lvl="1"/>
            <a:r>
              <a:rPr dirty="0"/>
              <a:t>else if (marks &gt;= 70)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("Grade C\n");</a:t>
            </a:r>
          </a:p>
          <a:p>
            <a:pPr lvl="1"/>
            <a:r>
              <a:rPr dirty="0"/>
              <a:t>else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("Fail\n");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if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500" dirty="0"/>
              <a:t>if inside another if: dependent conditions.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int age = 20;</a:t>
            </a:r>
          </a:p>
          <a:p>
            <a:pPr lvl="1"/>
            <a:r>
              <a:rPr dirty="0"/>
              <a:t>int citizen = 1; // 1 = yes</a:t>
            </a:r>
          </a:p>
          <a:p>
            <a:pPr lvl="1"/>
            <a:r>
              <a:rPr dirty="0"/>
              <a:t>if (age &gt;= 18) {</a:t>
            </a:r>
          </a:p>
          <a:p>
            <a:pPr lvl="1"/>
            <a:r>
              <a:rPr dirty="0"/>
              <a:t>    if (citizen == 1) {</a:t>
            </a:r>
          </a:p>
          <a:p>
            <a:pPr lvl="1"/>
            <a:r>
              <a:rPr dirty="0"/>
              <a:t>        </a:t>
            </a:r>
            <a:r>
              <a:rPr dirty="0" err="1"/>
              <a:t>printf</a:t>
            </a:r>
            <a:r>
              <a:rPr dirty="0"/>
              <a:t>("Eligible to vote\n");</a:t>
            </a:r>
          </a:p>
          <a:p>
            <a:pPr lvl="1"/>
            <a:r>
              <a:rPr dirty="0"/>
              <a:t>    }</a:t>
            </a:r>
          </a:p>
          <a:p>
            <a:pPr lvl="1"/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0"/>
            <a:ext cx="4073455" cy="836776"/>
          </a:xfrm>
        </p:spPr>
        <p:txBody>
          <a:bodyPr/>
          <a:lstStyle/>
          <a:p>
            <a:r>
              <a:rPr dirty="0"/>
              <a:t>switch-case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924" y="829791"/>
            <a:ext cx="4066252" cy="1900529"/>
          </a:xfrm>
        </p:spPr>
        <p:txBody>
          <a:bodyPr>
            <a:noAutofit/>
          </a:bodyPr>
          <a:lstStyle/>
          <a:p>
            <a:r>
              <a:rPr sz="1500" dirty="0"/>
              <a:t>Used for constant values.</a:t>
            </a:r>
          </a:p>
          <a:p>
            <a:pPr lvl="1"/>
            <a:r>
              <a:rPr dirty="0"/>
              <a:t>Syntax &amp; Example:</a:t>
            </a:r>
          </a:p>
          <a:p>
            <a:pPr lvl="1"/>
            <a:r>
              <a:rPr dirty="0"/>
              <a:t>int day = 2;</a:t>
            </a:r>
          </a:p>
          <a:p>
            <a:pPr lvl="1"/>
            <a:r>
              <a:rPr dirty="0"/>
              <a:t>switch(day) {</a:t>
            </a:r>
          </a:p>
          <a:p>
            <a:pPr lvl="1"/>
            <a:r>
              <a:rPr dirty="0"/>
              <a:t>    case 1: </a:t>
            </a:r>
            <a:r>
              <a:rPr dirty="0" err="1"/>
              <a:t>printf</a:t>
            </a:r>
            <a:r>
              <a:rPr dirty="0"/>
              <a:t>("Monday\n"); break;</a:t>
            </a:r>
          </a:p>
          <a:p>
            <a:pPr lvl="1"/>
            <a:r>
              <a:rPr dirty="0"/>
              <a:t>    case 2: </a:t>
            </a:r>
            <a:r>
              <a:rPr dirty="0" err="1"/>
              <a:t>printf</a:t>
            </a:r>
            <a:r>
              <a:rPr dirty="0"/>
              <a:t>("Tuesday\n"); break;</a:t>
            </a:r>
          </a:p>
          <a:p>
            <a:pPr lvl="1"/>
            <a:r>
              <a:rPr dirty="0"/>
              <a:t>    case 3: </a:t>
            </a:r>
            <a:r>
              <a:rPr dirty="0" err="1"/>
              <a:t>printf</a:t>
            </a:r>
            <a:r>
              <a:rPr dirty="0"/>
              <a:t>("Wednesday\n"); break;</a:t>
            </a:r>
          </a:p>
          <a:p>
            <a:pPr lvl="1"/>
            <a:r>
              <a:rPr dirty="0"/>
              <a:t>    default: </a:t>
            </a:r>
            <a:r>
              <a:rPr dirty="0" err="1"/>
              <a:t>printf</a:t>
            </a:r>
            <a:r>
              <a:rPr dirty="0"/>
              <a:t>("Invalid day\n");</a:t>
            </a:r>
          </a:p>
          <a:p>
            <a:pPr lvl="1"/>
            <a:r>
              <a:rPr dirty="0"/>
              <a:t>}</a:t>
            </a:r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dirty="0"/>
              <a:t>Note: break is mandatory</a:t>
            </a:r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Ternary Operator ?: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500" dirty="0"/>
              <a:t>Shorthand for simple if–else.</a:t>
            </a:r>
          </a:p>
          <a:p>
            <a:pPr lvl="1"/>
            <a:r>
              <a:rPr dirty="0"/>
              <a:t>Syntax:</a:t>
            </a:r>
          </a:p>
          <a:p>
            <a:pPr lvl="1"/>
            <a:r>
              <a:rPr dirty="0"/>
              <a:t>condition ? expression1 : expression2;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int marks = 60;</a:t>
            </a:r>
          </a:p>
          <a:p>
            <a:pPr lvl="1"/>
            <a:r>
              <a:rPr dirty="0"/>
              <a:t>char *result;</a:t>
            </a:r>
          </a:p>
          <a:p>
            <a:pPr lvl="1"/>
            <a:r>
              <a:rPr dirty="0"/>
              <a:t>result = (marks &gt;= 50) ? "Pass" : "Fail";</a:t>
            </a:r>
          </a:p>
          <a:p>
            <a:pPr lvl="1"/>
            <a:r>
              <a:rPr dirty="0" err="1"/>
              <a:t>printf</a:t>
            </a:r>
            <a:r>
              <a:rPr dirty="0"/>
              <a:t>("%s\n", result);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Structures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Used to repeat statements.</a:t>
            </a:r>
          </a:p>
          <a:p>
            <a:pPr lvl="1"/>
            <a:r>
              <a:rPr dirty="0"/>
              <a:t>Types: for, while, do-while.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500" dirty="0"/>
              <a:t>Best when number of iterations is known.</a:t>
            </a:r>
          </a:p>
          <a:p>
            <a:pPr lvl="1"/>
            <a:r>
              <a:rPr dirty="0"/>
              <a:t>Syntax:</a:t>
            </a:r>
          </a:p>
          <a:p>
            <a:pPr lvl="1"/>
            <a:r>
              <a:rPr dirty="0"/>
              <a:t>for (initialization; condition; increment) {</a:t>
            </a:r>
          </a:p>
          <a:p>
            <a:pPr lvl="1"/>
            <a:r>
              <a:rPr dirty="0"/>
              <a:t>    // body</a:t>
            </a:r>
          </a:p>
          <a:p>
            <a:pPr lvl="1"/>
            <a:r>
              <a:rPr dirty="0"/>
              <a:t>}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1; </a:t>
            </a:r>
            <a:r>
              <a:rPr dirty="0" err="1"/>
              <a:t>i</a:t>
            </a:r>
            <a:r>
              <a:rPr dirty="0"/>
              <a:t> &lt;= 5;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("%d ", </a:t>
            </a:r>
            <a:r>
              <a:rPr dirty="0" err="1"/>
              <a:t>i</a:t>
            </a:r>
            <a:r>
              <a:rPr dirty="0"/>
              <a:t>);</a:t>
            </a:r>
          </a:p>
          <a:p>
            <a:pPr lvl="1"/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Condition is checked before each iteration.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int n = 1;</a:t>
            </a:r>
          </a:p>
          <a:p>
            <a:pPr lvl="1"/>
            <a:r>
              <a:rPr dirty="0"/>
              <a:t>while (n &lt;= 5) {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("%d ", n);</a:t>
            </a:r>
          </a:p>
          <a:p>
            <a:pPr lvl="1"/>
            <a:r>
              <a:rPr dirty="0"/>
              <a:t>    n++;</a:t>
            </a:r>
          </a:p>
          <a:p>
            <a:pPr lvl="1"/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do-while Loop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Executes at least once (condition checked at end).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int </a:t>
            </a:r>
            <a:r>
              <a:rPr dirty="0" err="1"/>
              <a:t>i</a:t>
            </a:r>
            <a:r>
              <a:rPr dirty="0"/>
              <a:t> = 1;</a:t>
            </a:r>
          </a:p>
          <a:p>
            <a:pPr lvl="1"/>
            <a:r>
              <a:rPr dirty="0"/>
              <a:t>do {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("%d ", </a:t>
            </a:r>
            <a:r>
              <a:rPr dirty="0" err="1"/>
              <a:t>i</a:t>
            </a:r>
            <a:r>
              <a:rPr dirty="0"/>
              <a:t>);</a:t>
            </a:r>
          </a:p>
          <a:p>
            <a:pPr lvl="1"/>
            <a:r>
              <a:rPr dirty="0"/>
              <a:t>    </a:t>
            </a:r>
            <a:r>
              <a:rPr dirty="0" err="1"/>
              <a:t>i</a:t>
            </a:r>
            <a:r>
              <a:rPr dirty="0"/>
              <a:t>++;</a:t>
            </a:r>
          </a:p>
          <a:p>
            <a:pPr lvl="1"/>
            <a:r>
              <a:rPr dirty="0"/>
              <a:t>} while (</a:t>
            </a:r>
            <a:r>
              <a:rPr dirty="0" err="1"/>
              <a:t>i</a:t>
            </a:r>
            <a:r>
              <a:rPr dirty="0"/>
              <a:t> &lt;= 5);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073455" cy="358775"/>
          </a:xfrm>
        </p:spPr>
        <p:txBody>
          <a:bodyPr>
            <a:normAutofit fontScale="90000"/>
          </a:bodyPr>
          <a:lstStyle/>
          <a:p>
            <a:r>
              <a:rPr sz="2000" dirty="0"/>
              <a:t>Loop Control – break and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358775"/>
            <a:ext cx="4066252" cy="25476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500" dirty="0"/>
              <a:t>break: exits loop immediately.</a:t>
            </a:r>
          </a:p>
          <a:p>
            <a:pPr marL="0" lvl="1" indent="0">
              <a:buNone/>
            </a:pPr>
            <a:r>
              <a:rPr dirty="0"/>
              <a:t>continue: skips current iteration and moves to next.</a:t>
            </a:r>
          </a:p>
          <a:p>
            <a:pPr lvl="1"/>
            <a:r>
              <a:rPr dirty="0"/>
              <a:t>Example (break):</a:t>
            </a:r>
          </a:p>
          <a:p>
            <a:pPr lvl="1"/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1; </a:t>
            </a:r>
            <a:r>
              <a:rPr dirty="0" err="1"/>
              <a:t>i</a:t>
            </a:r>
            <a:r>
              <a:rPr dirty="0"/>
              <a:t> &lt;= 10;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lvl="1"/>
            <a:r>
              <a:rPr dirty="0"/>
              <a:t>    if (</a:t>
            </a:r>
            <a:r>
              <a:rPr dirty="0" err="1"/>
              <a:t>i</a:t>
            </a:r>
            <a:r>
              <a:rPr dirty="0"/>
              <a:t> == 5) break;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("%d ", </a:t>
            </a:r>
            <a:r>
              <a:rPr dirty="0" err="1"/>
              <a:t>i</a:t>
            </a:r>
            <a:r>
              <a:rPr dirty="0"/>
              <a:t>);</a:t>
            </a:r>
          </a:p>
          <a:p>
            <a:pPr lvl="1"/>
            <a:r>
              <a:rPr dirty="0"/>
              <a:t>}</a:t>
            </a:r>
          </a:p>
          <a:p>
            <a:pPr lvl="1"/>
            <a:r>
              <a:rPr dirty="0"/>
              <a:t>Example (continue):</a:t>
            </a:r>
          </a:p>
          <a:p>
            <a:pPr lvl="1"/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1; </a:t>
            </a:r>
            <a:r>
              <a:rPr dirty="0" err="1"/>
              <a:t>i</a:t>
            </a:r>
            <a:r>
              <a:rPr dirty="0"/>
              <a:t> &lt;= 5;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lvl="1"/>
            <a:r>
              <a:rPr dirty="0"/>
              <a:t>    if (</a:t>
            </a:r>
            <a:r>
              <a:rPr dirty="0" err="1"/>
              <a:t>i</a:t>
            </a:r>
            <a:r>
              <a:rPr dirty="0"/>
              <a:t> == 3) continue;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("%d ", </a:t>
            </a:r>
            <a:r>
              <a:rPr dirty="0" err="1"/>
              <a:t>i</a:t>
            </a:r>
            <a:r>
              <a:rPr dirty="0"/>
              <a:t>);</a:t>
            </a:r>
          </a:p>
          <a:p>
            <a:pPr lvl="1"/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Infinite Loop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500" dirty="0"/>
              <a:t>Runs forever until forcefully stopped.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while (1) {</a:t>
            </a:r>
          </a:p>
          <a:p>
            <a:pPr lvl="1"/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("Running...\n");</a:t>
            </a:r>
          </a:p>
          <a:p>
            <a:pPr lvl="1"/>
            <a:r>
              <a:rPr dirty="0"/>
              <a:t>}</a:t>
            </a:r>
          </a:p>
          <a:p>
            <a:pPr lvl="1"/>
            <a:r>
              <a:rPr dirty="0"/>
              <a:t>Or:</a:t>
            </a:r>
          </a:p>
          <a:p>
            <a:pPr lvl="1"/>
            <a:r>
              <a:rPr dirty="0"/>
              <a:t>for(;;) {</a:t>
            </a:r>
          </a:p>
          <a:p>
            <a:pPr lvl="1"/>
            <a:r>
              <a:rPr dirty="0"/>
              <a:t>    // infinite loop</a:t>
            </a:r>
          </a:p>
          <a:p>
            <a:pPr lvl="1"/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Loops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Loop inside another loop, useful for patterns &amp; matrices.</a:t>
            </a:r>
          </a:p>
          <a:p>
            <a:pPr lvl="1"/>
            <a:r>
              <a:rPr dirty="0"/>
              <a:t>Example:</a:t>
            </a:r>
          </a:p>
          <a:p>
            <a:pPr lvl="1"/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1; </a:t>
            </a:r>
            <a:r>
              <a:rPr dirty="0" err="1"/>
              <a:t>i</a:t>
            </a:r>
            <a:r>
              <a:rPr dirty="0"/>
              <a:t> &lt;= 3;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lvl="1"/>
            <a:r>
              <a:rPr dirty="0"/>
              <a:t>    for (int j = 1; j &lt;= 3; </a:t>
            </a:r>
            <a:r>
              <a:rPr dirty="0" err="1"/>
              <a:t>j++</a:t>
            </a:r>
            <a:r>
              <a:rPr dirty="0"/>
              <a:t>) {</a:t>
            </a:r>
          </a:p>
          <a:p>
            <a:pPr lvl="1"/>
            <a:r>
              <a:rPr dirty="0"/>
              <a:t>        </a:t>
            </a:r>
            <a:r>
              <a:rPr dirty="0" err="1"/>
              <a:t>printf</a:t>
            </a:r>
            <a:r>
              <a:rPr dirty="0"/>
              <a:t>("%d %d\n", </a:t>
            </a:r>
            <a:r>
              <a:rPr dirty="0" err="1"/>
              <a:t>i</a:t>
            </a:r>
            <a:r>
              <a:rPr dirty="0"/>
              <a:t>, j);</a:t>
            </a:r>
          </a:p>
          <a:p>
            <a:pPr lvl="1"/>
            <a:r>
              <a:rPr dirty="0"/>
              <a:t>    }</a:t>
            </a:r>
          </a:p>
          <a:p>
            <a:pPr lvl="1"/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     </a:t>
            </a:r>
            <a:r>
              <a:rPr sz="1500" dirty="0"/>
              <a:t>Sequential: straight execution.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dirty="0"/>
              <a:t>Conditional: if, if-else, else-if, nested if, switch,</a:t>
            </a:r>
            <a:r>
              <a:rPr lang="en-IN" dirty="0"/>
              <a:t> </a:t>
            </a:r>
            <a:r>
              <a:rPr dirty="0"/>
              <a:t>?: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dirty="0"/>
              <a:t>Looping: for, while, do-while, with break/continue.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dirty="0"/>
              <a:t>Control structures form the backbone of program logic.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dirty="0"/>
              <a:t>Array = collection of similar data types stored in contiguous memory.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dirty="0"/>
              <a:t>Helps store multiple values using a single variable name.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Arrays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To store a list of values (marks, prices, scores).</a:t>
            </a:r>
          </a:p>
          <a:p>
            <a:pPr marL="0" lvl="1" indent="0">
              <a:buNone/>
            </a:pPr>
            <a:r>
              <a:rPr dirty="0"/>
              <a:t>Enables easy processing using loops.</a:t>
            </a:r>
          </a:p>
          <a:p>
            <a:pPr marL="0" lvl="1" indent="0">
              <a:buNone/>
            </a:pPr>
            <a:r>
              <a:rPr dirty="0"/>
              <a:t>Used in algorithms, searching, sorting, matrices.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1D Array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Syntax: int a[5];</a:t>
            </a:r>
          </a:p>
          <a:p>
            <a:pPr lvl="1"/>
            <a:r>
              <a:rPr dirty="0"/>
              <a:t>Creates 5 integer storage locations.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Full </a:t>
            </a:r>
            <a:r>
              <a:rPr sz="1500" dirty="0" err="1"/>
              <a:t>init</a:t>
            </a:r>
            <a:r>
              <a:rPr sz="1500" dirty="0"/>
              <a:t>: int a[5] = {10,20,30,40,50};</a:t>
            </a:r>
          </a:p>
          <a:p>
            <a:pPr marL="0" lvl="1" indent="0">
              <a:buNone/>
            </a:pPr>
            <a:r>
              <a:rPr dirty="0"/>
              <a:t>Partial </a:t>
            </a:r>
            <a:r>
              <a:rPr dirty="0" err="1"/>
              <a:t>init</a:t>
            </a:r>
            <a:r>
              <a:rPr dirty="0"/>
              <a:t>: int a[5] = {10,20}; // remaining = 0</a:t>
            </a:r>
          </a:p>
          <a:p>
            <a:pPr marL="0" lvl="1" indent="0">
              <a:buNone/>
            </a:pPr>
            <a:r>
              <a:rPr dirty="0"/>
              <a:t>Compiler counts: int a[] = {1,2,3,4};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1D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Example: </a:t>
            </a:r>
            <a:endParaRPr lang="en-IN" sz="1600" dirty="0"/>
          </a:p>
          <a:p>
            <a:r>
              <a:rPr sz="1600" dirty="0" err="1"/>
              <a:t>printf</a:t>
            </a:r>
            <a:r>
              <a:rPr sz="1600" dirty="0"/>
              <a:t>("%d", a[2]); // prints 3rd element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Input/Output of 1D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Input: for(</a:t>
            </a:r>
            <a:r>
              <a:rPr sz="1500" dirty="0" err="1"/>
              <a:t>i</a:t>
            </a:r>
            <a:r>
              <a:rPr sz="1500" dirty="0"/>
              <a:t>=0;i&lt;5;i++) </a:t>
            </a:r>
            <a:r>
              <a:rPr sz="1500" dirty="0" err="1"/>
              <a:t>scanf</a:t>
            </a:r>
            <a:r>
              <a:rPr sz="1500" dirty="0"/>
              <a:t>("%d", &amp;a[</a:t>
            </a:r>
            <a:r>
              <a:rPr sz="1500" dirty="0" err="1"/>
              <a:t>i</a:t>
            </a:r>
            <a:r>
              <a:rPr sz="1500" dirty="0"/>
              <a:t>]);</a:t>
            </a:r>
          </a:p>
          <a:p>
            <a:pPr marL="0" lvl="1" indent="0">
              <a:buNone/>
            </a:pPr>
            <a:endParaRPr lang="en-IN" dirty="0"/>
          </a:p>
          <a:p>
            <a:pPr marL="0" lvl="1" indent="0">
              <a:buNone/>
            </a:pPr>
            <a:r>
              <a:rPr dirty="0"/>
              <a:t>Output: for(</a:t>
            </a:r>
            <a:r>
              <a:rPr dirty="0" err="1"/>
              <a:t>i</a:t>
            </a:r>
            <a:r>
              <a:rPr dirty="0"/>
              <a:t>=0;i&lt;5;i++) </a:t>
            </a:r>
            <a:r>
              <a:rPr dirty="0" err="1"/>
              <a:t>printf</a:t>
            </a:r>
            <a:r>
              <a:rPr dirty="0"/>
              <a:t>("%d ", a[</a:t>
            </a:r>
            <a:r>
              <a:rPr dirty="0" err="1"/>
              <a:t>i</a:t>
            </a:r>
            <a:r>
              <a:rPr dirty="0"/>
              <a:t>]);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1D Array Memory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Example: int a[5]={10,20,30,40,50};</a:t>
            </a:r>
          </a:p>
          <a:p>
            <a:pPr marL="0" lvl="1" indent="0">
              <a:buNone/>
            </a:pPr>
            <a:r>
              <a:rPr dirty="0"/>
              <a:t>Index: 0 1 2 3 4</a:t>
            </a:r>
          </a:p>
          <a:p>
            <a:pPr marL="0" lvl="1" indent="0">
              <a:buNone/>
            </a:pPr>
            <a:r>
              <a:rPr dirty="0"/>
              <a:t>Value:10 20 30 40 50</a:t>
            </a:r>
          </a:p>
          <a:p>
            <a:pPr marL="0" lvl="1" indent="0">
              <a:buNone/>
            </a:pPr>
            <a:r>
              <a:rPr dirty="0"/>
              <a:t>Address (if int=4 bytes): </a:t>
            </a:r>
            <a:endParaRPr lang="en-IN" dirty="0"/>
          </a:p>
          <a:p>
            <a:pPr marL="0" lvl="1" indent="0">
              <a:buNone/>
            </a:pPr>
            <a:r>
              <a:rPr dirty="0"/>
              <a:t>1000 1004 1008 1012 1016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in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Out of range access: a[5] = 10; // invalid</a:t>
            </a:r>
          </a:p>
          <a:p>
            <a:pPr marL="0" lvl="1" indent="0">
              <a:buNone/>
            </a:pPr>
            <a:r>
              <a:rPr dirty="0"/>
              <a:t>Using uninitialized array gives garbage values.</a:t>
            </a:r>
          </a:p>
          <a:p>
            <a:pPr marL="0" lvl="1" indent="0">
              <a:buNone/>
            </a:pPr>
            <a:r>
              <a:rPr dirty="0"/>
              <a:t>Negative or extremely large index invalid.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Array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Syntax: int a[3][4];</a:t>
            </a:r>
          </a:p>
          <a:p>
            <a:pPr marL="0" lvl="1" indent="0">
              <a:buNone/>
            </a:pPr>
            <a:r>
              <a:rPr dirty="0"/>
              <a:t>Creates a 3x4 matrix (12 elements).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Array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Matrix form: int a[2][3]={{1,2,3},{4,5,6}};</a:t>
            </a:r>
          </a:p>
          <a:p>
            <a:pPr marL="0" lvl="1" indent="0">
              <a:buNone/>
            </a:pPr>
            <a:r>
              <a:rPr dirty="0"/>
              <a:t>Single line: int a[2][3]={1,2,3,4,5,6};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2D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Example: </a:t>
            </a:r>
            <a:r>
              <a:rPr sz="1500" dirty="0" err="1"/>
              <a:t>printf</a:t>
            </a:r>
            <a:r>
              <a:rPr sz="1500" dirty="0"/>
              <a:t>("%d", a[1][2]); // row 1, col 2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Array Input/Output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Input: nested loop with </a:t>
            </a:r>
            <a:r>
              <a:rPr sz="1500" dirty="0" err="1"/>
              <a:t>scanf</a:t>
            </a:r>
            <a:r>
              <a:rPr sz="1500" dirty="0"/>
              <a:t>(&amp;a[</a:t>
            </a:r>
            <a:r>
              <a:rPr sz="1500" dirty="0" err="1"/>
              <a:t>i</a:t>
            </a:r>
            <a:r>
              <a:rPr sz="1500" dirty="0"/>
              <a:t>][j])</a:t>
            </a:r>
          </a:p>
          <a:p>
            <a:pPr marL="0" lvl="1" indent="0">
              <a:buNone/>
            </a:pPr>
            <a:r>
              <a:rPr dirty="0"/>
              <a:t>Output: nested loop with </a:t>
            </a:r>
            <a:r>
              <a:rPr dirty="0" err="1"/>
              <a:t>printf</a:t>
            </a:r>
            <a:r>
              <a:rPr dirty="0"/>
              <a:t>(a[</a:t>
            </a:r>
            <a:r>
              <a:rPr dirty="0" err="1"/>
              <a:t>i</a:t>
            </a:r>
            <a:r>
              <a:rPr dirty="0"/>
              <a:t>][j])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Array Memory Layout (Row-Major)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For a[2][3]={{1,2,3},{4,5,6}}:</a:t>
            </a:r>
          </a:p>
          <a:p>
            <a:pPr lvl="1"/>
            <a:endParaRPr lang="en-IN" dirty="0"/>
          </a:p>
          <a:p>
            <a:pPr lvl="1"/>
            <a:r>
              <a:rPr dirty="0"/>
              <a:t>Stored row-by-row: 1 2 3 4 5 6</a:t>
            </a:r>
          </a:p>
          <a:p>
            <a:pPr lvl="1"/>
            <a:r>
              <a:rPr dirty="0"/>
              <a:t>Addresses: 1000 1004 1008 1012 1016 1020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Difference: 1D vs 2D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dirty="0"/>
              <a:t>1</a:t>
            </a:r>
            <a:r>
              <a:rPr sz="1500" dirty="0"/>
              <a:t>D: linear list, accessed via a[</a:t>
            </a:r>
            <a:r>
              <a:rPr sz="1500" dirty="0" err="1"/>
              <a:t>i</a:t>
            </a:r>
            <a:r>
              <a:rPr sz="1500" dirty="0"/>
              <a:t>]</a:t>
            </a:r>
          </a:p>
          <a:p>
            <a:pPr marL="0" lvl="1" indent="0">
              <a:buNone/>
            </a:pPr>
            <a:endParaRPr lang="en-IN" dirty="0"/>
          </a:p>
          <a:p>
            <a:pPr marL="0" lvl="1" indent="0">
              <a:buNone/>
            </a:pPr>
            <a:r>
              <a:rPr dirty="0"/>
              <a:t>2D: table form, accessed via a[</a:t>
            </a:r>
            <a:r>
              <a:rPr dirty="0" err="1"/>
              <a:t>i</a:t>
            </a:r>
            <a:r>
              <a:rPr dirty="0"/>
              <a:t>][j]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" y="15875"/>
            <a:ext cx="4073455" cy="342900"/>
          </a:xfrm>
        </p:spPr>
        <p:txBody>
          <a:bodyPr>
            <a:normAutofit fontScale="90000"/>
          </a:bodyPr>
          <a:lstStyle/>
          <a:p>
            <a:r>
              <a:rPr dirty="0"/>
              <a:t>Strings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358775"/>
            <a:ext cx="4066252" cy="2547679"/>
          </a:xfrm>
        </p:spPr>
        <p:txBody>
          <a:bodyPr>
            <a:noAutofit/>
          </a:bodyPr>
          <a:lstStyle/>
          <a:p>
            <a:r>
              <a:rPr sz="1500" dirty="0"/>
              <a:t>A string is a 1D array of characters ending with null character '\0'.</a:t>
            </a:r>
          </a:p>
          <a:p>
            <a:pPr lvl="1"/>
            <a:endParaRPr lang="en-IN" dirty="0"/>
          </a:p>
          <a:p>
            <a:pPr marL="230520" lvl="1" indent="0">
              <a:buNone/>
            </a:pPr>
            <a:r>
              <a:rPr lang="en-US" dirty="0"/>
              <a:t>char name[10] = "John";</a:t>
            </a:r>
          </a:p>
          <a:p>
            <a:pPr marL="230520" lvl="1" indent="0">
              <a:buNone/>
            </a:pPr>
            <a:endParaRPr lang="en-US" dirty="0"/>
          </a:p>
          <a:p>
            <a:pPr marL="230520" lvl="1" indent="0">
              <a:buNone/>
            </a:pPr>
            <a:r>
              <a:rPr lang="en-US" u="sng" dirty="0"/>
              <a:t>Memory Layout</a:t>
            </a:r>
          </a:p>
          <a:p>
            <a:pPr marL="230520" lvl="1" indent="0">
              <a:buNone/>
            </a:pPr>
            <a:r>
              <a:rPr lang="en-US" dirty="0"/>
              <a:t>J   o   h   n   \0   _   _   _   _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dirty="0"/>
              <a:t>C does NOT have a built-in string type.</a:t>
            </a:r>
          </a:p>
          <a:p>
            <a:pPr marL="0" lvl="1" indent="0">
              <a:buNone/>
            </a:pPr>
            <a:r>
              <a:rPr lang="en-US" dirty="0"/>
              <a:t>Strings are managed using character arrays + string library functions.</a:t>
            </a:r>
            <a:endParaRPr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514" y="252079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Why Strings?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739775"/>
            <a:ext cx="4066252" cy="2166679"/>
          </a:xfrm>
        </p:spPr>
        <p:txBody>
          <a:bodyPr>
            <a:normAutofit/>
          </a:bodyPr>
          <a:lstStyle/>
          <a:p>
            <a:endParaRPr lang="en-US" sz="1500" dirty="0"/>
          </a:p>
          <a:p>
            <a:r>
              <a:rPr lang="en-US" sz="1500" dirty="0"/>
              <a:t>✔ To store names, words, sentences</a:t>
            </a:r>
            <a:br>
              <a:rPr lang="en-US" sz="1500" dirty="0"/>
            </a:br>
            <a:r>
              <a:rPr lang="en-US" sz="1500" dirty="0"/>
              <a:t>✔ To process text (count letters, compare text)</a:t>
            </a:r>
            <a:br>
              <a:rPr lang="en-US" sz="1500" dirty="0"/>
            </a:br>
            <a:r>
              <a:rPr lang="en-US" sz="1500" dirty="0"/>
              <a:t>✔ For input/output involving characters</a:t>
            </a:r>
            <a:br>
              <a:rPr lang="en-US" sz="1500" dirty="0"/>
            </a:br>
            <a:r>
              <a:rPr lang="en-US" sz="1500" dirty="0"/>
              <a:t>✔ For file processing</a:t>
            </a:r>
            <a:br>
              <a:rPr lang="en-US" sz="1500" dirty="0"/>
            </a:br>
            <a:r>
              <a:rPr lang="en-US" sz="1500" dirty="0"/>
              <a:t>✔ For real applications (login forms, messages, commands</a:t>
            </a:r>
            <a:endParaRPr sz="15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130175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String Declaration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924" y="511175"/>
            <a:ext cx="4066252" cy="2133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dirty="0"/>
              <a:t>Method 1: Character array with size</a:t>
            </a:r>
          </a:p>
          <a:p>
            <a:pPr marL="0" indent="0">
              <a:buNone/>
            </a:pPr>
            <a:r>
              <a:rPr lang="en-IN" sz="1500" dirty="0"/>
              <a:t> 	char s[10] = "Hello";</a:t>
            </a:r>
          </a:p>
          <a:p>
            <a:pPr marL="0" indent="0">
              <a:buNone/>
            </a:pPr>
            <a:r>
              <a:rPr lang="en-IN" sz="1500" dirty="0"/>
              <a:t>Method 2: Compiler decides size</a:t>
            </a:r>
          </a:p>
          <a:p>
            <a:pPr marL="0" indent="0">
              <a:buNone/>
            </a:pPr>
            <a:r>
              <a:rPr lang="en-IN" sz="1500" dirty="0"/>
              <a:t> 	char s[] = "Hello";</a:t>
            </a:r>
          </a:p>
          <a:p>
            <a:pPr marL="0" indent="0">
              <a:buNone/>
            </a:pPr>
            <a:r>
              <a:rPr lang="en-IN" sz="1500" dirty="0"/>
              <a:t>Method 3: Character-by-character initialization</a:t>
            </a:r>
          </a:p>
          <a:p>
            <a:pPr marL="0" indent="0">
              <a:buNone/>
            </a:pPr>
            <a:r>
              <a:rPr lang="en-IN" sz="1500" dirty="0"/>
              <a:t> 	char s[6] = {</a:t>
            </a:r>
            <a:r>
              <a:rPr lang="en-IN" sz="1500" dirty="0" err="1"/>
              <a:t>H,e,l,l,o</a:t>
            </a:r>
            <a:r>
              <a:rPr lang="en-IN" sz="1500" dirty="0"/>
              <a:t>,\0};</a:t>
            </a:r>
          </a:p>
          <a:p>
            <a:pPr marL="0" indent="0">
              <a:buNone/>
            </a:pPr>
            <a:r>
              <a:rPr lang="en-IN" sz="1500" dirty="0"/>
              <a:t>Method 4: Without initialization</a:t>
            </a:r>
          </a:p>
          <a:p>
            <a:pPr marL="0" indent="0">
              <a:buNone/>
            </a:pPr>
            <a:r>
              <a:rPr lang="en-IN" sz="1500" dirty="0"/>
              <a:t>	char s[20]; </a:t>
            </a:r>
          </a:p>
          <a:p>
            <a:pPr marL="0" indent="0">
              <a:buNone/>
            </a:pPr>
            <a:r>
              <a:rPr lang="en-IN" sz="1500" dirty="0"/>
              <a:t>	(This contains garbage until you assign.)</a:t>
            </a:r>
            <a:endParaRPr sz="15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01"/>
            <a:ext cx="4073455" cy="381000"/>
          </a:xfrm>
        </p:spPr>
        <p:txBody>
          <a:bodyPr>
            <a:normAutofit fontScale="90000"/>
          </a:bodyPr>
          <a:lstStyle/>
          <a:p>
            <a:r>
              <a:rPr dirty="0"/>
              <a:t>String Input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419282"/>
            <a:ext cx="4066252" cy="19005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dirty="0"/>
              <a:t>Using </a:t>
            </a:r>
            <a:r>
              <a:rPr lang="en-IN" sz="1500" dirty="0" err="1"/>
              <a:t>scanf</a:t>
            </a:r>
            <a:r>
              <a:rPr lang="en-IN" sz="1500" dirty="0"/>
              <a:t>()</a:t>
            </a:r>
          </a:p>
          <a:p>
            <a:pPr lvl="1"/>
            <a:r>
              <a:rPr lang="en-IN" sz="1790" dirty="0" err="1"/>
              <a:t>scanf</a:t>
            </a:r>
            <a:r>
              <a:rPr lang="en-IN" sz="1790" dirty="0"/>
              <a:t>("%s", s);</a:t>
            </a:r>
          </a:p>
          <a:p>
            <a:pPr lvl="1"/>
            <a:r>
              <a:rPr lang="en-IN" sz="1790" dirty="0"/>
              <a:t>Limit: Stops reading at space</a:t>
            </a:r>
          </a:p>
          <a:p>
            <a:pPr lvl="1"/>
            <a:r>
              <a:rPr lang="en-IN" sz="1600" dirty="0"/>
              <a:t>Input: `Hello World` → stores only `Hello`</a:t>
            </a:r>
          </a:p>
          <a:p>
            <a:pPr marL="0" indent="0">
              <a:buNone/>
            </a:pPr>
            <a:r>
              <a:rPr lang="en-IN" sz="1500" dirty="0"/>
              <a:t>Using gets() — NOT recommended</a:t>
            </a:r>
          </a:p>
          <a:p>
            <a:pPr lvl="1"/>
            <a:r>
              <a:rPr lang="en-IN" sz="1790" dirty="0"/>
              <a:t>gets(s);</a:t>
            </a:r>
          </a:p>
          <a:p>
            <a:pPr lvl="1"/>
            <a:r>
              <a:rPr lang="en-IN" sz="1790" dirty="0"/>
              <a:t>Unsafe, removed from latest compilers.</a:t>
            </a:r>
          </a:p>
          <a:p>
            <a:pPr marL="0" indent="0">
              <a:buNone/>
            </a:pPr>
            <a:r>
              <a:rPr lang="en-IN" sz="1500" dirty="0"/>
              <a:t>Using </a:t>
            </a:r>
            <a:r>
              <a:rPr lang="en-IN" sz="1500" dirty="0" err="1"/>
              <a:t>fgets</a:t>
            </a:r>
            <a:r>
              <a:rPr lang="en-IN" sz="1500" dirty="0"/>
              <a:t>() — BEST</a:t>
            </a:r>
          </a:p>
          <a:p>
            <a:pPr lvl="1"/>
            <a:r>
              <a:rPr lang="en-IN" sz="1790" dirty="0" err="1"/>
              <a:t>fgets</a:t>
            </a:r>
            <a:r>
              <a:rPr lang="en-IN" sz="1790" dirty="0"/>
              <a:t>(s, 20, stdin);</a:t>
            </a:r>
          </a:p>
          <a:p>
            <a:pPr lvl="1"/>
            <a:r>
              <a:rPr lang="en-IN" sz="1790" dirty="0"/>
              <a:t>Reads full line including spaces.</a:t>
            </a:r>
            <a:endParaRPr sz="179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514" y="252079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String Output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729380"/>
            <a:ext cx="4066252" cy="1900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500" dirty="0" err="1"/>
              <a:t>printf</a:t>
            </a:r>
            <a:r>
              <a:rPr sz="1500" dirty="0"/>
              <a:t>("%s", s);</a:t>
            </a:r>
          </a:p>
          <a:p>
            <a:pPr marL="0" lvl="1" indent="0">
              <a:buNone/>
            </a:pPr>
            <a:r>
              <a:rPr dirty="0"/>
              <a:t>puts(s); // prints with newline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String Operations</a:t>
            </a:r>
            <a:br>
              <a:rPr lang="en-US" u="sng" dirty="0"/>
            </a:br>
            <a:br>
              <a:rPr lang="en-US" u="sng" dirty="0"/>
            </a:br>
            <a:r>
              <a:rPr dirty="0" err="1"/>
              <a:t>strlen</a:t>
            </a:r>
            <a:r>
              <a:rPr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717" y="1501775"/>
            <a:ext cx="4066252" cy="1404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Counts characters excluding '\0'.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dirty="0"/>
              <a:t>int </a:t>
            </a:r>
            <a:r>
              <a:rPr dirty="0" err="1"/>
              <a:t>len</a:t>
            </a:r>
            <a:r>
              <a:rPr dirty="0"/>
              <a:t> = </a:t>
            </a:r>
            <a:r>
              <a:rPr dirty="0" err="1"/>
              <a:t>strlen</a:t>
            </a:r>
            <a:r>
              <a:rPr dirty="0"/>
              <a:t>("Hello"); // 5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strcpy()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Copies source string to destination.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dirty="0" err="1"/>
              <a:t>strcpy</a:t>
            </a:r>
            <a:r>
              <a:rPr dirty="0"/>
              <a:t>(a, "Hello");</a:t>
            </a:r>
          </a:p>
          <a:p>
            <a:pPr marL="0" lvl="1" indent="0">
              <a:buNone/>
            </a:pPr>
            <a:r>
              <a:rPr dirty="0" err="1"/>
              <a:t>strcpy</a:t>
            </a:r>
            <a:r>
              <a:rPr dirty="0"/>
              <a:t>(b, a);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strcat()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Concatenates two strings.</a:t>
            </a:r>
          </a:p>
          <a:p>
            <a:pPr lvl="1"/>
            <a:endParaRPr lang="en-US" dirty="0"/>
          </a:p>
          <a:p>
            <a:pPr lvl="1"/>
            <a:r>
              <a:rPr dirty="0"/>
              <a:t>char s1[20] = "Hello ";</a:t>
            </a:r>
          </a:p>
          <a:p>
            <a:pPr lvl="1"/>
            <a:r>
              <a:rPr dirty="0"/>
              <a:t>char s2[] = "World";</a:t>
            </a:r>
          </a:p>
          <a:p>
            <a:pPr lvl="1"/>
            <a:r>
              <a:rPr dirty="0" err="1"/>
              <a:t>strcat</a:t>
            </a:r>
            <a:r>
              <a:rPr dirty="0"/>
              <a:t>(s1, s2); // Hello World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strcmp()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1500" dirty="0"/>
              <a:t>Compares two strings lexicographically.</a:t>
            </a:r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dirty="0"/>
              <a:t>Returns 0 if equal, </a:t>
            </a:r>
            <a:endParaRPr lang="en-US" dirty="0"/>
          </a:p>
          <a:p>
            <a:pPr marL="0" lvl="1" indent="0">
              <a:buNone/>
            </a:pPr>
            <a:r>
              <a:rPr dirty="0"/>
              <a:t>&lt;0 if s1&lt;s2, </a:t>
            </a:r>
            <a:endParaRPr lang="en-US" dirty="0"/>
          </a:p>
          <a:p>
            <a:pPr marL="0" lvl="1" indent="0">
              <a:buNone/>
            </a:pPr>
            <a:r>
              <a:rPr dirty="0"/>
              <a:t>&gt;0 if s1&gt;s2.</a:t>
            </a:r>
          </a:p>
          <a:p>
            <a:pPr lvl="1"/>
            <a:endParaRPr lang="en-US" dirty="0"/>
          </a:p>
          <a:p>
            <a:r>
              <a:rPr lang="en-IN" sz="1500" dirty="0" err="1"/>
              <a:t>strcmp</a:t>
            </a:r>
            <a:r>
              <a:rPr lang="en-IN" sz="1500" dirty="0"/>
              <a:t>("Apple", "Banana");   // &lt;0</a:t>
            </a:r>
          </a:p>
          <a:p>
            <a:r>
              <a:rPr lang="en-IN" sz="1500" dirty="0" err="1"/>
              <a:t>strcmp</a:t>
            </a:r>
            <a:r>
              <a:rPr lang="en-IN" sz="1500" dirty="0"/>
              <a:t>("Cat", "Cat");        // 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Conversion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 err="1"/>
              <a:t>strupr</a:t>
            </a:r>
            <a:r>
              <a:rPr sz="1500" dirty="0"/>
              <a:t>(s); // HELLO</a:t>
            </a:r>
          </a:p>
          <a:p>
            <a:pPr marL="0" lvl="1" indent="0">
              <a:buNone/>
            </a:pPr>
            <a:r>
              <a:rPr dirty="0" err="1"/>
              <a:t>strlwr</a:t>
            </a:r>
            <a:r>
              <a:rPr dirty="0"/>
              <a:t>(s); // hello</a:t>
            </a:r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dirty="0"/>
              <a:t>Note: Not available in all compilers.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076" y="45955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Character Search – </a:t>
            </a:r>
            <a:r>
              <a:rPr dirty="0" err="1"/>
              <a:t>strchr</a:t>
            </a:r>
            <a:r>
              <a:rPr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" y="382553"/>
            <a:ext cx="4066252" cy="1900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500" dirty="0"/>
              <a:t>Finds first occurrence of a character.</a:t>
            </a:r>
          </a:p>
          <a:p>
            <a:pPr marL="0" lvl="1" indent="0">
              <a:buNone/>
            </a:pPr>
            <a:r>
              <a:rPr dirty="0"/>
              <a:t>char *p = </a:t>
            </a:r>
            <a:r>
              <a:rPr dirty="0" err="1"/>
              <a:t>strchr</a:t>
            </a:r>
            <a:r>
              <a:rPr dirty="0"/>
              <a:t>("Hello", 'l’);</a:t>
            </a:r>
            <a:r>
              <a:rPr lang="en-US" dirty="0"/>
              <a:t> //</a:t>
            </a:r>
            <a:r>
              <a:rPr lang="en-US" dirty="0" err="1"/>
              <a:t>llo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33F31D-E057-8B28-A4B1-E678DE188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760296"/>
              </p:ext>
            </p:extLst>
          </p:nvPr>
        </p:nvGraphicFramePr>
        <p:xfrm>
          <a:off x="95250" y="892175"/>
          <a:ext cx="4066252" cy="193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1980">
                  <a:extLst>
                    <a:ext uri="{9D8B030D-6E8A-4147-A177-3AD203B41FA5}">
                      <a16:colId xmlns:a16="http://schemas.microsoft.com/office/drawing/2014/main" val="3503996232"/>
                    </a:ext>
                  </a:extLst>
                </a:gridCol>
                <a:gridCol w="1016563">
                  <a:extLst>
                    <a:ext uri="{9D8B030D-6E8A-4147-A177-3AD203B41FA5}">
                      <a16:colId xmlns:a16="http://schemas.microsoft.com/office/drawing/2014/main" val="3046597174"/>
                    </a:ext>
                  </a:extLst>
                </a:gridCol>
                <a:gridCol w="677709">
                  <a:extLst>
                    <a:ext uri="{9D8B030D-6E8A-4147-A177-3AD203B41FA5}">
                      <a16:colId xmlns:a16="http://schemas.microsoft.com/office/drawing/2014/main" val="2766810521"/>
                    </a:ext>
                  </a:extLst>
                </a:gridCol>
              </a:tblGrid>
              <a:tr h="4842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Function Call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First Occurrence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Output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2864192"/>
                  </a:ext>
                </a:extLst>
              </a:tr>
              <a:tr h="2421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strchr("Hello", 'l')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index 2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llo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1223765"/>
                  </a:ext>
                </a:extLst>
              </a:tr>
              <a:tr h="2421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strchr("Banana", 'n')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index 2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nana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8746896"/>
                  </a:ext>
                </a:extLst>
              </a:tr>
              <a:tr h="2421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strchr("Apple", 'z')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not found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(null)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1218664"/>
                  </a:ext>
                </a:extLst>
              </a:tr>
              <a:tr h="484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strchr("Hello World", ' ')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index 5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World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339335"/>
                  </a:ext>
                </a:extLst>
              </a:tr>
              <a:tr h="2421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strchr("Character", 'a')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index 2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 err="1">
                          <a:effectLst/>
                        </a:rPr>
                        <a:t>aracter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9584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strrev()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Reverses string.</a:t>
            </a:r>
          </a:p>
          <a:p>
            <a:pPr lvl="1"/>
            <a:r>
              <a:rPr dirty="0" err="1"/>
              <a:t>strrev</a:t>
            </a:r>
            <a:r>
              <a:rPr dirty="0"/>
              <a:t>(s);  // compiler dependent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String Length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int </a:t>
            </a:r>
            <a:r>
              <a:rPr sz="1500" dirty="0" err="1"/>
              <a:t>len</a:t>
            </a:r>
            <a:r>
              <a:rPr sz="1500" dirty="0"/>
              <a:t>=0;</a:t>
            </a:r>
          </a:p>
          <a:p>
            <a:pPr lvl="1"/>
            <a:r>
              <a:rPr dirty="0"/>
              <a:t>while(s[</a:t>
            </a:r>
            <a:r>
              <a:rPr dirty="0" err="1"/>
              <a:t>len</a:t>
            </a:r>
            <a:r>
              <a:rPr dirty="0"/>
              <a:t>] != '\0') </a:t>
            </a:r>
            <a:r>
              <a:rPr dirty="0" err="1"/>
              <a:t>len</a:t>
            </a:r>
            <a:r>
              <a:rPr dirty="0"/>
              <a:t>++;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String Copy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int </a:t>
            </a:r>
            <a:r>
              <a:rPr sz="1500" dirty="0" err="1"/>
              <a:t>i</a:t>
            </a:r>
            <a:r>
              <a:rPr sz="1500" dirty="0"/>
              <a:t>=0;</a:t>
            </a:r>
          </a:p>
          <a:p>
            <a:pPr lvl="1"/>
            <a:r>
              <a:rPr dirty="0"/>
              <a:t>while((d[</a:t>
            </a:r>
            <a:r>
              <a:rPr dirty="0" err="1"/>
              <a:t>i</a:t>
            </a:r>
            <a:r>
              <a:rPr dirty="0"/>
              <a:t>] = s[</a:t>
            </a:r>
            <a:r>
              <a:rPr dirty="0" err="1"/>
              <a:t>i</a:t>
            </a:r>
            <a:r>
              <a:rPr dirty="0"/>
              <a:t>]) != '\0') </a:t>
            </a:r>
            <a:r>
              <a:rPr dirty="0" err="1"/>
              <a:t>i</a:t>
            </a:r>
            <a:r>
              <a:rPr dirty="0"/>
              <a:t>++;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String Compare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int </a:t>
            </a:r>
            <a:r>
              <a:rPr sz="1500" dirty="0" err="1"/>
              <a:t>i</a:t>
            </a:r>
            <a:r>
              <a:rPr sz="1500" dirty="0"/>
              <a:t>=0;</a:t>
            </a:r>
          </a:p>
          <a:p>
            <a:pPr lvl="1"/>
            <a:r>
              <a:rPr dirty="0"/>
              <a:t>while(s1[</a:t>
            </a:r>
            <a:r>
              <a:rPr dirty="0" err="1"/>
              <a:t>i</a:t>
            </a:r>
            <a:r>
              <a:rPr dirty="0"/>
              <a:t>] == s2[</a:t>
            </a:r>
            <a:r>
              <a:rPr dirty="0" err="1"/>
              <a:t>i</a:t>
            </a:r>
            <a:r>
              <a:rPr dirty="0"/>
              <a:t>]) {</a:t>
            </a:r>
          </a:p>
          <a:p>
            <a:pPr lvl="1"/>
            <a:r>
              <a:rPr dirty="0"/>
              <a:t>  if(s1[</a:t>
            </a:r>
            <a:r>
              <a:rPr dirty="0" err="1"/>
              <a:t>i</a:t>
            </a:r>
            <a:r>
              <a:rPr dirty="0"/>
              <a:t>]=='\0') return 0;</a:t>
            </a:r>
          </a:p>
          <a:p>
            <a:pPr lvl="1"/>
            <a:r>
              <a:rPr dirty="0"/>
              <a:t>  </a:t>
            </a:r>
            <a:r>
              <a:rPr dirty="0" err="1"/>
              <a:t>i</a:t>
            </a:r>
            <a:r>
              <a:rPr dirty="0"/>
              <a:t>++;</a:t>
            </a:r>
          </a:p>
          <a:p>
            <a:pPr lvl="1"/>
            <a:r>
              <a:rPr dirty="0"/>
              <a:t>}</a:t>
            </a:r>
          </a:p>
          <a:p>
            <a:pPr lvl="1"/>
            <a:r>
              <a:rPr dirty="0"/>
              <a:t>return s1[</a:t>
            </a:r>
            <a:r>
              <a:rPr dirty="0" err="1"/>
              <a:t>i</a:t>
            </a:r>
            <a:r>
              <a:rPr dirty="0"/>
              <a:t>] - s2[</a:t>
            </a:r>
            <a:r>
              <a:rPr dirty="0" err="1"/>
              <a:t>i</a:t>
            </a:r>
            <a:r>
              <a:rPr dirty="0"/>
              <a:t>];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Layout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char s[] = "Cat";</a:t>
            </a:r>
          </a:p>
          <a:p>
            <a:pPr lvl="1"/>
            <a:r>
              <a:rPr dirty="0"/>
              <a:t>C  a  t  \0</a:t>
            </a:r>
          </a:p>
          <a:p>
            <a:pPr lvl="1"/>
            <a:r>
              <a:rPr dirty="0"/>
              <a:t>Addresses: 1000 1001 1002 1003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514" y="252079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Functions in C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07" y="703708"/>
            <a:ext cx="4066252" cy="2093467"/>
          </a:xfrm>
        </p:spPr>
        <p:txBody>
          <a:bodyPr>
            <a:noAutofit/>
          </a:bodyPr>
          <a:lstStyle/>
          <a:p>
            <a:r>
              <a:rPr sz="1500" dirty="0"/>
              <a:t>• Functions break large programs into smaller modules.</a:t>
            </a:r>
          </a:p>
          <a:p>
            <a:r>
              <a:rPr sz="1500" dirty="0"/>
              <a:t>• Improve </a:t>
            </a:r>
            <a:r>
              <a:rPr lang="en-US" sz="1500" dirty="0"/>
              <a:t>R</a:t>
            </a:r>
            <a:r>
              <a:rPr sz="1500" dirty="0"/>
              <a:t>eadability, </a:t>
            </a:r>
            <a:r>
              <a:rPr lang="en-US" sz="1500" dirty="0"/>
              <a:t>R</a:t>
            </a:r>
            <a:r>
              <a:rPr sz="1500" dirty="0"/>
              <a:t>eusability, </a:t>
            </a:r>
            <a:r>
              <a:rPr lang="en-US" sz="1500" dirty="0"/>
              <a:t>De</a:t>
            </a:r>
            <a:r>
              <a:rPr sz="1500" dirty="0"/>
              <a:t>bugging</a:t>
            </a:r>
            <a:r>
              <a:rPr lang="en-US" sz="1500" dirty="0"/>
              <a:t>, Avoid  repetition and  Modular programming</a:t>
            </a:r>
          </a:p>
          <a:p>
            <a:r>
              <a:rPr sz="1500" dirty="0"/>
              <a:t>• Two main types: </a:t>
            </a:r>
            <a:endParaRPr lang="en-US" sz="1500" dirty="0"/>
          </a:p>
          <a:p>
            <a:pPr lvl="1"/>
            <a:r>
              <a:rPr dirty="0"/>
              <a:t>Library Functions &amp; </a:t>
            </a:r>
            <a:endParaRPr lang="en-US" dirty="0"/>
          </a:p>
          <a:p>
            <a:pPr lvl="1"/>
            <a:r>
              <a:rPr dirty="0"/>
              <a:t>User-defined Functions.</a:t>
            </a:r>
          </a:p>
          <a:p>
            <a:pPr marL="0" indent="0">
              <a:buNone/>
            </a:pPr>
            <a:endParaRPr sz="15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E2641-D935-8526-193F-E4ECE1A7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C574-55C0-1855-6EFD-261516EAC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14" y="252079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Functions in C –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162A-8F82-DC52-4789-3703F645B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007" y="703708"/>
            <a:ext cx="4066252" cy="1900529"/>
          </a:xfrm>
        </p:spPr>
        <p:txBody>
          <a:bodyPr>
            <a:noAutofit/>
          </a:bodyPr>
          <a:lstStyle/>
          <a:p>
            <a:r>
              <a:rPr sz="1500" dirty="0"/>
              <a:t>General syntax:</a:t>
            </a:r>
          </a:p>
          <a:p>
            <a:r>
              <a:rPr sz="1500" dirty="0" err="1"/>
              <a:t>return_type</a:t>
            </a:r>
            <a:r>
              <a:rPr sz="1500" dirty="0"/>
              <a:t> </a:t>
            </a:r>
            <a:r>
              <a:rPr sz="1500" dirty="0" err="1"/>
              <a:t>function_name</a:t>
            </a:r>
            <a:r>
              <a:rPr sz="1500" dirty="0"/>
              <a:t>(</a:t>
            </a:r>
            <a:r>
              <a:rPr sz="1500" dirty="0" err="1"/>
              <a:t>parameter_list</a:t>
            </a:r>
            <a:r>
              <a:rPr sz="1500" dirty="0"/>
              <a:t>) {</a:t>
            </a:r>
          </a:p>
          <a:p>
            <a:r>
              <a:rPr sz="1500" dirty="0"/>
              <a:t>    // body</a:t>
            </a:r>
          </a:p>
          <a:p>
            <a:r>
              <a:rPr sz="1500" dirty="0"/>
              <a:t>}</a:t>
            </a:r>
            <a:endParaRPr lang="en-US" sz="1500" dirty="0"/>
          </a:p>
          <a:p>
            <a:endParaRPr lang="en-IN" sz="1500" dirty="0"/>
          </a:p>
          <a:p>
            <a:endParaRPr sz="1500" dirty="0"/>
          </a:p>
          <a:p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268795178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User-Defined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• Created by the programmer.</a:t>
            </a:r>
          </a:p>
          <a:p>
            <a:r>
              <a:rPr sz="1500" dirty="0"/>
              <a:t>• Example:</a:t>
            </a:r>
          </a:p>
          <a:p>
            <a:r>
              <a:rPr sz="1500" dirty="0"/>
              <a:t>int add(int a, int b) {</a:t>
            </a:r>
          </a:p>
          <a:p>
            <a:r>
              <a:rPr sz="1500" dirty="0"/>
              <a:t>    return a + b;</a:t>
            </a:r>
          </a:p>
          <a:p>
            <a:r>
              <a:rPr sz="1500" dirty="0"/>
              <a:t>}</a:t>
            </a:r>
          </a:p>
          <a:p>
            <a:endParaRPr sz="15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F6EB-AF91-AF72-6044-48F3FC64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C44-AC74-00AD-5E43-AFAFE2E8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User-Defined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816A0-6B4C-3EA5-DDC0-2EFD731A0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• Created by the programmer.</a:t>
            </a:r>
          </a:p>
          <a:p>
            <a:r>
              <a:rPr sz="1500" dirty="0"/>
              <a:t>• Example:</a:t>
            </a:r>
          </a:p>
          <a:p>
            <a:r>
              <a:rPr sz="1500" dirty="0"/>
              <a:t>int add(int a, int b) {</a:t>
            </a:r>
          </a:p>
          <a:p>
            <a:r>
              <a:rPr sz="1500" dirty="0"/>
              <a:t>    return a + b;</a:t>
            </a:r>
          </a:p>
          <a:p>
            <a:r>
              <a:rPr sz="1500" dirty="0"/>
              <a:t>}</a:t>
            </a:r>
          </a:p>
          <a:p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62353440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0470-D6A7-FD8F-8B1E-57338B36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8C21-09DB-BD2B-0538-659B13EA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847" y="-98425"/>
            <a:ext cx="4073455" cy="836776"/>
          </a:xfrm>
        </p:spPr>
        <p:txBody>
          <a:bodyPr/>
          <a:lstStyle/>
          <a:p>
            <a:r>
              <a:rPr lang="en-US" dirty="0"/>
              <a:t>Structure of a User-Defined Function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3503F-5450-CD13-C650-692402929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924" y="663575"/>
            <a:ext cx="4066252" cy="1900529"/>
          </a:xfrm>
        </p:spPr>
        <p:txBody>
          <a:bodyPr>
            <a:noAutofit/>
          </a:bodyPr>
          <a:lstStyle/>
          <a:p>
            <a:endParaRPr lang="en-US" sz="1500" dirty="0"/>
          </a:p>
          <a:p>
            <a:r>
              <a:rPr lang="en-US" sz="1500" dirty="0"/>
              <a:t>A function has  3  major parts</a:t>
            </a:r>
          </a:p>
          <a:p>
            <a:r>
              <a:rPr lang="en-US" sz="1500" b="1" dirty="0"/>
              <a:t>A. Function Declaration (Prototype)</a:t>
            </a:r>
          </a:p>
          <a:p>
            <a:r>
              <a:rPr lang="en-US" sz="1500" dirty="0"/>
              <a:t>Tells the compiler about return type, name, and parameters.</a:t>
            </a:r>
          </a:p>
          <a:p>
            <a:r>
              <a:rPr lang="en-US" sz="1500" b="1" dirty="0"/>
              <a:t>B. Function Definition</a:t>
            </a:r>
          </a:p>
          <a:p>
            <a:r>
              <a:rPr lang="en-US" sz="1500" dirty="0"/>
              <a:t>Actual code.</a:t>
            </a:r>
          </a:p>
          <a:p>
            <a:r>
              <a:rPr lang="en-US" sz="1500" b="1" dirty="0"/>
              <a:t>C. Function Call</a:t>
            </a:r>
          </a:p>
          <a:p>
            <a:r>
              <a:rPr lang="en-US" sz="1500" dirty="0"/>
              <a:t>Calling the function from main.</a:t>
            </a:r>
          </a:p>
          <a:p>
            <a:endParaRPr lang="en-US" sz="1500" dirty="0"/>
          </a:p>
          <a:p>
            <a:endParaRPr lang="en-US" sz="1500" dirty="0"/>
          </a:p>
          <a:p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202177403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Declaration &amp;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Declaration: tells compiler about name, return type, and parameters.</a:t>
            </a:r>
          </a:p>
          <a:p>
            <a:r>
              <a:rPr sz="1500" dirty="0"/>
              <a:t>Definition: actual body of the function.</a:t>
            </a:r>
          </a:p>
          <a:p>
            <a:endParaRPr sz="1500" dirty="0"/>
          </a:p>
          <a:p>
            <a:r>
              <a:rPr sz="1500" dirty="0"/>
              <a:t>Example:</a:t>
            </a:r>
          </a:p>
          <a:p>
            <a:r>
              <a:rPr sz="1500" dirty="0"/>
              <a:t>int sum(int, int); // declaration</a:t>
            </a:r>
          </a:p>
          <a:p>
            <a:r>
              <a:rPr sz="1500" dirty="0"/>
              <a:t>int sum(int a, int b) { return a + b; } // definition</a:t>
            </a:r>
          </a:p>
          <a:p>
            <a:endParaRPr sz="15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• Call by writing </a:t>
            </a:r>
            <a:r>
              <a:rPr sz="1500" dirty="0" err="1"/>
              <a:t>function_name</a:t>
            </a:r>
            <a:r>
              <a:rPr sz="1500" dirty="0"/>
              <a:t>(arguments);</a:t>
            </a:r>
          </a:p>
          <a:p>
            <a:r>
              <a:rPr sz="1500" dirty="0"/>
              <a:t>Example:</a:t>
            </a:r>
          </a:p>
          <a:p>
            <a:r>
              <a:rPr sz="1500" dirty="0"/>
              <a:t>int result = sum(10, 20);</a:t>
            </a:r>
          </a:p>
          <a:p>
            <a:r>
              <a:rPr sz="1500" dirty="0" err="1"/>
              <a:t>printf</a:t>
            </a:r>
            <a:r>
              <a:rPr sz="1500" dirty="0"/>
              <a:t>("%d", result);</a:t>
            </a:r>
          </a:p>
          <a:p>
            <a:endParaRPr sz="15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0A73E-0651-AA61-FDC4-6E0CBE18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Categories Based on Arguments &amp; Return Type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41DA57-5C7A-E268-6A42-1E6F1DE19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442036"/>
              </p:ext>
            </p:extLst>
          </p:nvPr>
        </p:nvGraphicFramePr>
        <p:xfrm>
          <a:off x="210957" y="1349375"/>
          <a:ext cx="4111011" cy="1777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8893">
                  <a:extLst>
                    <a:ext uri="{9D8B030D-6E8A-4147-A177-3AD203B41FA5}">
                      <a16:colId xmlns:a16="http://schemas.microsoft.com/office/drawing/2014/main" val="2733016451"/>
                    </a:ext>
                  </a:extLst>
                </a:gridCol>
                <a:gridCol w="1712118">
                  <a:extLst>
                    <a:ext uri="{9D8B030D-6E8A-4147-A177-3AD203B41FA5}">
                      <a16:colId xmlns:a16="http://schemas.microsoft.com/office/drawing/2014/main" val="29364862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Type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Example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94770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No argument, no return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void display()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8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46496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With argument, no return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void print(int x)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8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799052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No argument, with return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int input()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8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206977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With argument, with return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int add(int a, int b)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34" charset="-128"/>
                        <a:ea typeface="Arial Unicode MS" panose="020B0604020202020204" pitchFamily="34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5357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65657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COPY of actual value is passed.</a:t>
            </a:r>
          </a:p>
          <a:p>
            <a:r>
              <a:t>• Changes inside function DO NOT affect original variable.</a:t>
            </a:r>
          </a:p>
          <a:p>
            <a:endParaRPr/>
          </a:p>
          <a:p>
            <a:r>
              <a:t>Example:</a:t>
            </a:r>
          </a:p>
          <a:p>
            <a:r>
              <a:t>void modify(int x) { x = 100; }</a:t>
            </a:r>
          </a:p>
          <a:p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0"/>
            <a:ext cx="4073455" cy="302217"/>
          </a:xfrm>
        </p:spPr>
        <p:txBody>
          <a:bodyPr>
            <a:normAutofit fontScale="90000"/>
          </a:bodyPr>
          <a:lstStyle/>
          <a:p>
            <a:r>
              <a:rPr dirty="0"/>
              <a:t>Call by Value – 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924" y="358775"/>
            <a:ext cx="4066252" cy="1900529"/>
          </a:xfrm>
        </p:spPr>
        <p:txBody>
          <a:bodyPr>
            <a:noAutofit/>
          </a:bodyPr>
          <a:lstStyle/>
          <a:p>
            <a:r>
              <a:rPr lang="en-US" sz="1500" dirty="0"/>
              <a:t>void modify(int x) {  x = 100; }</a:t>
            </a:r>
          </a:p>
          <a:p>
            <a:endParaRPr lang="en-US" sz="1500" dirty="0"/>
          </a:p>
          <a:p>
            <a:r>
              <a:rPr lang="en-US" sz="1500" dirty="0"/>
              <a:t>int main() {</a:t>
            </a:r>
          </a:p>
          <a:p>
            <a:r>
              <a:rPr lang="en-US" sz="1500" dirty="0"/>
              <a:t>    int a = 10;</a:t>
            </a:r>
          </a:p>
          <a:p>
            <a:r>
              <a:rPr lang="en-US" sz="1500" dirty="0"/>
              <a:t>    modify(a);</a:t>
            </a:r>
          </a:p>
          <a:p>
            <a:r>
              <a:rPr lang="en-US" sz="1500" dirty="0"/>
              <a:t>    </a:t>
            </a:r>
            <a:r>
              <a:rPr lang="en-US" sz="1500" dirty="0" err="1"/>
              <a:t>printf</a:t>
            </a:r>
            <a:r>
              <a:rPr lang="en-US" sz="1500" dirty="0"/>
              <a:t>("%d", a);  // Output: 10</a:t>
            </a:r>
          </a:p>
          <a:p>
            <a:r>
              <a:rPr lang="en-US" sz="1500" dirty="0"/>
              <a:t>}</a:t>
            </a:r>
          </a:p>
          <a:p>
            <a:endParaRPr lang="en-US" sz="1500" dirty="0"/>
          </a:p>
          <a:p>
            <a:endParaRPr sz="15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by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• Function receives address of variables.</a:t>
            </a:r>
          </a:p>
          <a:p>
            <a:r>
              <a:rPr sz="1500" dirty="0"/>
              <a:t>• Changes affect original variable.</a:t>
            </a:r>
            <a:endParaRPr lang="en-US" sz="1500" dirty="0"/>
          </a:p>
          <a:p>
            <a:endParaRPr sz="1500" dirty="0"/>
          </a:p>
          <a:p>
            <a:endParaRPr sz="1500" dirty="0"/>
          </a:p>
          <a:p>
            <a:r>
              <a:rPr sz="1500" dirty="0"/>
              <a:t>Example:</a:t>
            </a:r>
          </a:p>
          <a:p>
            <a:r>
              <a:rPr sz="1500" dirty="0"/>
              <a:t>void change(int *p) { *p = 50; }</a:t>
            </a:r>
          </a:p>
          <a:p>
            <a:endParaRPr sz="15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30026"/>
            <a:ext cx="4073455" cy="836776"/>
          </a:xfrm>
        </p:spPr>
        <p:txBody>
          <a:bodyPr/>
          <a:lstStyle/>
          <a:p>
            <a:r>
              <a:rPr dirty="0"/>
              <a:t>Call by Reference – 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500" dirty="0"/>
              <a:t>void modify(int *p) {</a:t>
            </a:r>
          </a:p>
          <a:p>
            <a:r>
              <a:rPr lang="en-US" sz="1500" dirty="0"/>
              <a:t>    *p = 100;</a:t>
            </a:r>
          </a:p>
          <a:p>
            <a:r>
              <a:rPr lang="en-US" sz="1500" dirty="0"/>
              <a:t>}</a:t>
            </a:r>
          </a:p>
          <a:p>
            <a:r>
              <a:rPr lang="en-US" sz="1500" dirty="0"/>
              <a:t>int main() {</a:t>
            </a:r>
          </a:p>
          <a:p>
            <a:r>
              <a:rPr lang="en-US" sz="1500" dirty="0"/>
              <a:t>    int a = 10;</a:t>
            </a:r>
          </a:p>
          <a:p>
            <a:r>
              <a:rPr lang="en-US" sz="1500" dirty="0"/>
              <a:t>    modify(&amp;a);</a:t>
            </a:r>
          </a:p>
          <a:p>
            <a:r>
              <a:rPr lang="en-US" sz="1500" dirty="0"/>
              <a:t>    </a:t>
            </a:r>
            <a:r>
              <a:rPr lang="en-US" sz="1500" dirty="0" err="1"/>
              <a:t>printf</a:t>
            </a:r>
            <a:r>
              <a:rPr lang="en-US" sz="1500" dirty="0"/>
              <a:t>("%d", a); // Output: 100</a:t>
            </a:r>
          </a:p>
          <a:p>
            <a:r>
              <a:rPr lang="en-US" sz="1500" dirty="0"/>
              <a:t>}</a:t>
            </a:r>
          </a:p>
          <a:p>
            <a:endParaRPr sz="1500" dirty="0"/>
          </a:p>
          <a:p>
            <a:endParaRPr sz="15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FA615-11D0-4AA2-2428-B4FAC0D5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14" y="252079"/>
            <a:ext cx="4073455" cy="302217"/>
          </a:xfrm>
        </p:spPr>
        <p:txBody>
          <a:bodyPr>
            <a:normAutofit fontScale="90000"/>
          </a:bodyPr>
          <a:lstStyle/>
          <a:p>
            <a:r>
              <a:rPr lang="en-US" dirty="0"/>
              <a:t>CV vs CR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AD6C91-A9B5-BE99-6E1C-78BAE9097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08577"/>
              </p:ext>
            </p:extLst>
          </p:nvPr>
        </p:nvGraphicFramePr>
        <p:xfrm>
          <a:off x="95250" y="873125"/>
          <a:ext cx="4343400" cy="2114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8384">
                  <a:extLst>
                    <a:ext uri="{9D8B030D-6E8A-4147-A177-3AD203B41FA5}">
                      <a16:colId xmlns:a16="http://schemas.microsoft.com/office/drawing/2014/main" val="3507046500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1142591078"/>
                    </a:ext>
                  </a:extLst>
                </a:gridCol>
                <a:gridCol w="1644287">
                  <a:extLst>
                    <a:ext uri="{9D8B030D-6E8A-4147-A177-3AD203B41FA5}">
                      <a16:colId xmlns:a16="http://schemas.microsoft.com/office/drawing/2014/main" val="214935135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Feature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Call by Value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Call by Reference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432966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What is passed?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Copy of value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Address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41514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Can modify original variable?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❌ No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✔ Yes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00866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Memory use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More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Less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71017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Required concept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Simple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Needs pointers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77431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Risk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Very safe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Unsafe if misused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9747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96185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073455" cy="259096"/>
          </a:xfrm>
        </p:spPr>
        <p:txBody>
          <a:bodyPr>
            <a:normAutofit fontScale="90000"/>
          </a:bodyPr>
          <a:lstStyle/>
          <a:p>
            <a:r>
              <a:rPr dirty="0"/>
              <a:t>Recursion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78" y="358775"/>
            <a:ext cx="4066252" cy="1900529"/>
          </a:xfrm>
        </p:spPr>
        <p:txBody>
          <a:bodyPr>
            <a:noAutofit/>
          </a:bodyPr>
          <a:lstStyle/>
          <a:p>
            <a:r>
              <a:rPr sz="1500" dirty="0"/>
              <a:t>•</a:t>
            </a:r>
            <a:r>
              <a:rPr lang="en-US" sz="1500" dirty="0"/>
              <a:t> </a:t>
            </a:r>
            <a:r>
              <a:rPr lang="en-US" sz="1600" dirty="0"/>
              <a:t>Recursion = A function calling </a:t>
            </a:r>
            <a:r>
              <a:rPr lang="en-US" sz="1600" b="1" dirty="0"/>
              <a:t>itself</a:t>
            </a:r>
            <a:r>
              <a:rPr lang="en-US" sz="1600" dirty="0"/>
              <a:t> until a stopping condition.</a:t>
            </a:r>
          </a:p>
          <a:p>
            <a:r>
              <a:rPr lang="en-US" sz="1600" b="1" dirty="0"/>
              <a:t>✔ Requires 2 things:</a:t>
            </a:r>
          </a:p>
          <a:p>
            <a:r>
              <a:rPr lang="en-US" sz="1600" dirty="0"/>
              <a:t>1️⃣ </a:t>
            </a:r>
            <a:r>
              <a:rPr lang="en-US" sz="1600" b="1" dirty="0"/>
              <a:t>Base case</a:t>
            </a:r>
            <a:r>
              <a:rPr lang="en-US" sz="1600" dirty="0"/>
              <a:t> – stopping condition</a:t>
            </a:r>
            <a:br>
              <a:rPr lang="en-US" sz="1600" dirty="0"/>
            </a:br>
            <a:r>
              <a:rPr lang="en-US" sz="1600" dirty="0"/>
              <a:t>2️⃣ </a:t>
            </a:r>
            <a:r>
              <a:rPr lang="en-US" sz="1600" b="1" dirty="0"/>
              <a:t>Recursive call</a:t>
            </a:r>
            <a:r>
              <a:rPr lang="en-US" sz="1600" dirty="0"/>
              <a:t> – function calls itself</a:t>
            </a:r>
          </a:p>
          <a:p>
            <a:r>
              <a:rPr sz="1500" dirty="0"/>
              <a:t>• Used for factorial, Fibonacci, towers of Hanoi.</a:t>
            </a:r>
          </a:p>
          <a:p>
            <a:r>
              <a:rPr sz="1500" dirty="0"/>
              <a:t>Example:</a:t>
            </a:r>
          </a:p>
          <a:p>
            <a:r>
              <a:rPr sz="1500" dirty="0"/>
              <a:t>int fact(int n){</a:t>
            </a:r>
          </a:p>
          <a:p>
            <a:r>
              <a:rPr sz="1500" dirty="0"/>
              <a:t>    if(n==0) return 1;</a:t>
            </a:r>
          </a:p>
          <a:p>
            <a:r>
              <a:rPr sz="1500" dirty="0"/>
              <a:t>    return n * fact(n-1);</a:t>
            </a:r>
          </a:p>
          <a:p>
            <a:r>
              <a:rPr sz="1500" dirty="0"/>
              <a:t>}</a:t>
            </a:r>
          </a:p>
          <a:p>
            <a:endParaRPr sz="15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Recursion –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500" dirty="0"/>
              <a:t>Example: fact(4)</a:t>
            </a:r>
          </a:p>
          <a:p>
            <a:r>
              <a:rPr sz="1500" dirty="0"/>
              <a:t>• fact(4) → 4 * fact(3)</a:t>
            </a:r>
          </a:p>
          <a:p>
            <a:r>
              <a:rPr sz="1500" dirty="0"/>
              <a:t>• fact(3) → 3 * fact(2)</a:t>
            </a:r>
          </a:p>
          <a:p>
            <a:r>
              <a:rPr sz="1500" dirty="0"/>
              <a:t>• fact(2) → 2 * fact(1)</a:t>
            </a:r>
          </a:p>
          <a:p>
            <a:r>
              <a:rPr sz="1500" dirty="0"/>
              <a:t>• fact(1) → 1 * fact(0)</a:t>
            </a:r>
          </a:p>
          <a:p>
            <a:r>
              <a:rPr sz="1500" dirty="0"/>
              <a:t>• fact(0) → 1</a:t>
            </a:r>
          </a:p>
          <a:p>
            <a:endParaRPr sz="15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Recursion – Output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printf("%d", fact(4));</a:t>
            </a:r>
          </a:p>
          <a:p>
            <a:r>
              <a:t>Output: 24</a:t>
            </a:r>
          </a:p>
          <a:p>
            <a:endParaRPr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6567-9369-4351-7BDF-6F4A5D7F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5908"/>
            <a:ext cx="4073455" cy="836776"/>
          </a:xfrm>
        </p:spPr>
        <p:txBody>
          <a:bodyPr/>
          <a:lstStyle/>
          <a:p>
            <a:r>
              <a:rPr lang="en-IN" dirty="0"/>
              <a:t>Fibonacci Using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9ED4C-9F86-2EC7-9330-F5C79FB19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int fib(int n) {</a:t>
            </a:r>
          </a:p>
          <a:p>
            <a:r>
              <a:rPr lang="en-US" sz="1500" dirty="0"/>
              <a:t>    if (n == 0) return 0;</a:t>
            </a:r>
          </a:p>
          <a:p>
            <a:r>
              <a:rPr lang="en-US" sz="1500" dirty="0"/>
              <a:t>    if (n == 1) return 1;</a:t>
            </a:r>
          </a:p>
          <a:p>
            <a:r>
              <a:rPr lang="en-US" sz="1500" dirty="0"/>
              <a:t>    return fib(n-1) + fib(n-2);</a:t>
            </a:r>
          </a:p>
          <a:p>
            <a:r>
              <a:rPr lang="en-US" sz="1500" dirty="0"/>
              <a:t>}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73242527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F9FEA-94DC-9D0E-0EAF-384F5718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2978-4629-F9E3-700B-DB526E4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5908"/>
            <a:ext cx="4073455" cy="836776"/>
          </a:xfrm>
        </p:spPr>
        <p:txBody>
          <a:bodyPr/>
          <a:lstStyle/>
          <a:p>
            <a:r>
              <a:rPr lang="en-IN" dirty="0"/>
              <a:t>Advantages and 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1CE1-6E4B-AED2-AF64-7860E9321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✔ Reduces code size</a:t>
            </a:r>
            <a:br>
              <a:rPr lang="en-IN" sz="1600" dirty="0"/>
            </a:br>
            <a:r>
              <a:rPr lang="en-IN" sz="1600" dirty="0"/>
              <a:t>✔ Makes tree-based logic easy</a:t>
            </a:r>
            <a:br>
              <a:rPr lang="en-IN" sz="1600" dirty="0"/>
            </a:br>
            <a:r>
              <a:rPr lang="en-IN" sz="1600" dirty="0"/>
              <a:t>✔ Simple for mathematical algorithms</a:t>
            </a:r>
          </a:p>
          <a:p>
            <a:br>
              <a:rPr lang="en-IN" sz="1600" dirty="0"/>
            </a:br>
            <a:r>
              <a:rPr lang="en-IN" sz="1600" dirty="0"/>
              <a:t>❌ Slow for large inputs</a:t>
            </a:r>
            <a:br>
              <a:rPr lang="en-IN" sz="1600" dirty="0"/>
            </a:br>
            <a:r>
              <a:rPr lang="en-IN" sz="1600" dirty="0"/>
              <a:t>❌ More memory usage (stack frames)</a:t>
            </a:r>
            <a:br>
              <a:rPr lang="en-IN" sz="1600" dirty="0"/>
            </a:br>
            <a:r>
              <a:rPr lang="en-IN" sz="1600" dirty="0"/>
              <a:t>❌ Risk of stack overflow if base case missing</a:t>
            </a:r>
          </a:p>
        </p:txBody>
      </p:sp>
    </p:spTree>
    <p:extLst>
      <p:ext uri="{BB962C8B-B14F-4D97-AF65-F5344CB8AC3E}">
        <p14:creationId xmlns:p14="http://schemas.microsoft.com/office/powerpoint/2010/main" val="428021598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290E-3AAA-8B7F-C230-CC62C0627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0"/>
            <a:ext cx="4073455" cy="836776"/>
          </a:xfrm>
        </p:spPr>
        <p:txBody>
          <a:bodyPr/>
          <a:lstStyle/>
          <a:p>
            <a:r>
              <a:rPr lang="en-IN" dirty="0"/>
              <a:t>STORAGE CLASSES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0FE14-8D59-8EFF-E3E6-39E5D19A9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Storage classes define </a:t>
            </a:r>
            <a:r>
              <a:rPr lang="en-US" sz="1500" b="1" dirty="0"/>
              <a:t>4 things</a:t>
            </a:r>
            <a:r>
              <a:rPr lang="en-US" sz="1500" dirty="0"/>
              <a:t> about a variable:</a:t>
            </a:r>
          </a:p>
          <a:p>
            <a:r>
              <a:rPr lang="en-US" sz="1500" b="1" dirty="0"/>
              <a:t>Where</a:t>
            </a:r>
            <a:r>
              <a:rPr lang="en-US" sz="1500" dirty="0"/>
              <a:t> it is stored in memory</a:t>
            </a:r>
          </a:p>
          <a:p>
            <a:r>
              <a:rPr lang="en-US" sz="1500" b="1" dirty="0"/>
              <a:t>Lifetime</a:t>
            </a:r>
            <a:r>
              <a:rPr lang="en-US" sz="1500" dirty="0"/>
              <a:t> (how long it exists)</a:t>
            </a:r>
          </a:p>
          <a:p>
            <a:r>
              <a:rPr lang="en-US" sz="1500" b="1" dirty="0"/>
              <a:t>Scope</a:t>
            </a:r>
            <a:r>
              <a:rPr lang="en-US" sz="1500" dirty="0"/>
              <a:t> (where it can be accessed)</a:t>
            </a:r>
          </a:p>
          <a:p>
            <a:r>
              <a:rPr lang="en-US" sz="1500" b="1" dirty="0"/>
              <a:t>Default value</a:t>
            </a:r>
            <a:endParaRPr lang="en-US" sz="1500" dirty="0"/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98527216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E25E-4312-DDF3-AA1F-35F9EF8E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EC756-2E84-D2F3-0F4F-DFC5CBEA4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500" dirty="0"/>
              <a:t>C has </a:t>
            </a:r>
            <a:r>
              <a:rPr lang="en-US" sz="1500" b="1" dirty="0"/>
              <a:t>4 storage classes</a:t>
            </a:r>
            <a:r>
              <a:rPr lang="en-US" sz="1500" dirty="0"/>
              <a:t>:</a:t>
            </a:r>
          </a:p>
          <a:p>
            <a:r>
              <a:rPr lang="en-US" sz="1500" b="1" dirty="0"/>
              <a:t>auto</a:t>
            </a:r>
            <a:endParaRPr lang="en-US" sz="1500" dirty="0"/>
          </a:p>
          <a:p>
            <a:r>
              <a:rPr lang="en-US" sz="1500" b="1" dirty="0"/>
              <a:t>register</a:t>
            </a:r>
            <a:endParaRPr lang="en-US" sz="1500" dirty="0"/>
          </a:p>
          <a:p>
            <a:r>
              <a:rPr lang="en-US" sz="1500" b="1" dirty="0"/>
              <a:t>static</a:t>
            </a:r>
            <a:endParaRPr lang="en-US" sz="1500" dirty="0"/>
          </a:p>
          <a:p>
            <a:r>
              <a:rPr lang="en-US" sz="1500" b="1" dirty="0"/>
              <a:t>extern</a:t>
            </a:r>
            <a:endParaRPr lang="en-US" sz="1500" dirty="0"/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3991830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374A8-012D-625B-FE97-1652C2F0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BFB5-5587-F944-FA1B-0DB947D4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" y="34925"/>
            <a:ext cx="4073455" cy="182896"/>
          </a:xfrm>
        </p:spPr>
        <p:txBody>
          <a:bodyPr>
            <a:normAutofit fontScale="90000"/>
          </a:bodyPr>
          <a:lstStyle/>
          <a:p>
            <a:r>
              <a:rPr lang="en-US" dirty="0"/>
              <a:t>Auto Storage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A9B2D-0EE5-42B7-426E-37AF8408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358775"/>
            <a:ext cx="4066252" cy="1900529"/>
          </a:xfrm>
        </p:spPr>
        <p:txBody>
          <a:bodyPr>
            <a:noAutofit/>
          </a:bodyPr>
          <a:lstStyle/>
          <a:p>
            <a:r>
              <a:rPr lang="en-IN" sz="1500" dirty="0"/>
              <a:t>(Default for local variables)</a:t>
            </a:r>
          </a:p>
          <a:p>
            <a:r>
              <a:rPr lang="en-IN" sz="1500" b="1" dirty="0"/>
              <a:t>✔ Definition</a:t>
            </a:r>
            <a:endParaRPr lang="en-IN" sz="1500" dirty="0"/>
          </a:p>
          <a:p>
            <a:r>
              <a:rPr lang="en-IN" sz="1500" dirty="0"/>
              <a:t>Variables declared inside a block </a:t>
            </a:r>
            <a:r>
              <a:rPr lang="en-IN" sz="1500" b="1" dirty="0"/>
              <a:t>without any keyword</a:t>
            </a:r>
            <a:r>
              <a:rPr lang="en-IN" sz="1500" dirty="0"/>
              <a:t> are auto variables.</a:t>
            </a:r>
          </a:p>
          <a:p>
            <a:r>
              <a:rPr lang="en-IN" sz="1500" b="1" dirty="0"/>
              <a:t>✔ Example</a:t>
            </a:r>
            <a:endParaRPr lang="en-IN" sz="1500" dirty="0"/>
          </a:p>
          <a:p>
            <a:r>
              <a:rPr lang="en-IN" sz="1500" dirty="0"/>
              <a:t>#include &lt;</a:t>
            </a:r>
            <a:r>
              <a:rPr lang="en-IN" sz="1500" dirty="0" err="1"/>
              <a:t>stdio.h</a:t>
            </a:r>
            <a:r>
              <a:rPr lang="en-IN" sz="1500" dirty="0"/>
              <a:t>&gt;</a:t>
            </a:r>
          </a:p>
          <a:p>
            <a:r>
              <a:rPr lang="en-IN" sz="1500" dirty="0"/>
              <a:t>void test() {</a:t>
            </a:r>
          </a:p>
          <a:p>
            <a:r>
              <a:rPr lang="en-IN" sz="1500" dirty="0"/>
              <a:t>    int x; \\auto int x; </a:t>
            </a:r>
          </a:p>
          <a:p>
            <a:r>
              <a:rPr lang="en-IN" sz="1500" dirty="0"/>
              <a:t>    </a:t>
            </a:r>
            <a:r>
              <a:rPr lang="en-IN" sz="1500" dirty="0" err="1"/>
              <a:t>printf</a:t>
            </a:r>
            <a:r>
              <a:rPr lang="en-IN" sz="1500" dirty="0"/>
              <a:t>("%d\n", x);  // garbage value</a:t>
            </a:r>
          </a:p>
          <a:p>
            <a:r>
              <a:rPr lang="en-IN" sz="1500" dirty="0"/>
              <a:t>}</a:t>
            </a:r>
          </a:p>
          <a:p>
            <a:r>
              <a:rPr lang="en-IN" sz="1500" dirty="0"/>
              <a:t>int main() { test(); }</a:t>
            </a:r>
          </a:p>
        </p:txBody>
      </p:sp>
    </p:spTree>
    <p:extLst>
      <p:ext uri="{BB962C8B-B14F-4D97-AF65-F5344CB8AC3E}">
        <p14:creationId xmlns:p14="http://schemas.microsoft.com/office/powerpoint/2010/main" val="175752156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8ECA-4006-B9FD-D136-98352B7B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Storage Class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036107-E9B6-1888-09CA-EAB8B1B37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779183"/>
              </p:ext>
            </p:extLst>
          </p:nvPr>
        </p:nvGraphicFramePr>
        <p:xfrm>
          <a:off x="255588" y="1489869"/>
          <a:ext cx="4067174" cy="1238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7462">
                  <a:extLst>
                    <a:ext uri="{9D8B030D-6E8A-4147-A177-3AD203B41FA5}">
                      <a16:colId xmlns:a16="http://schemas.microsoft.com/office/drawing/2014/main" val="645007544"/>
                    </a:ext>
                  </a:extLst>
                </a:gridCol>
                <a:gridCol w="2779712">
                  <a:extLst>
                    <a:ext uri="{9D8B030D-6E8A-4147-A177-3AD203B41FA5}">
                      <a16:colId xmlns:a16="http://schemas.microsoft.com/office/drawing/2014/main" val="716736706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Property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Value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1759191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 dirty="0">
                          <a:effectLst/>
                        </a:rPr>
                        <a:t>Scope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Local to the block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4833732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Lifetime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Exists until the block ends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3110232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Storage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RAM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8297850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Default value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 dirty="0">
                          <a:effectLst/>
                        </a:rPr>
                        <a:t>Garbage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096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30463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6948-0A86-9876-C907-ADE630BB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3260-6309-58F1-E7A4-72C9E1AE2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975"/>
            <a:ext cx="4073455" cy="302217"/>
          </a:xfrm>
        </p:spPr>
        <p:txBody>
          <a:bodyPr>
            <a:normAutofit fontScale="90000"/>
          </a:bodyPr>
          <a:lstStyle/>
          <a:p>
            <a:r>
              <a:rPr lang="en-US" dirty="0"/>
              <a:t>Register Storage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487DF-F99E-BDFB-8A19-FD5CAE50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356192"/>
            <a:ext cx="4066252" cy="1900529"/>
          </a:xfrm>
        </p:spPr>
        <p:txBody>
          <a:bodyPr>
            <a:noAutofit/>
          </a:bodyPr>
          <a:lstStyle/>
          <a:p>
            <a:r>
              <a:rPr lang="en-IN" sz="1500" dirty="0"/>
              <a:t>Used for </a:t>
            </a:r>
            <a:r>
              <a:rPr lang="en-IN" sz="1500" b="1" dirty="0"/>
              <a:t>fast access</a:t>
            </a:r>
            <a:r>
              <a:rPr lang="en-IN" sz="1500" dirty="0"/>
              <a:t> variables (stored in CPU register).</a:t>
            </a:r>
          </a:p>
          <a:p>
            <a:r>
              <a:rPr lang="en-IN" sz="1500" dirty="0"/>
              <a:t>register int counter;</a:t>
            </a:r>
          </a:p>
          <a:p>
            <a:r>
              <a:rPr lang="en-IN" sz="1500" b="1" dirty="0"/>
              <a:t>⚠ Important Rule:</a:t>
            </a:r>
            <a:endParaRPr lang="en-IN" sz="1500" dirty="0"/>
          </a:p>
          <a:p>
            <a:r>
              <a:rPr lang="en-IN" sz="1500" dirty="0"/>
              <a:t>register int x;</a:t>
            </a:r>
          </a:p>
          <a:p>
            <a:r>
              <a:rPr lang="en-IN" sz="1500" dirty="0" err="1"/>
              <a:t>printf</a:t>
            </a:r>
            <a:r>
              <a:rPr lang="en-IN" sz="1500" dirty="0"/>
              <a:t>("%p", &amp;x); // Error!</a:t>
            </a:r>
          </a:p>
          <a:p>
            <a:r>
              <a:rPr lang="en-IN" sz="1500" dirty="0"/>
              <a:t>Because </a:t>
            </a:r>
            <a:r>
              <a:rPr lang="en-IN" sz="1500" b="1" dirty="0"/>
              <a:t>register variables do not have a memory address</a:t>
            </a:r>
            <a:r>
              <a:rPr lang="en-IN" sz="1500" dirty="0"/>
              <a:t> accessible to programmers.</a:t>
            </a:r>
          </a:p>
          <a:p>
            <a:r>
              <a:rPr lang="en-IN" sz="1500" b="1" dirty="0"/>
              <a:t>✔ When to use?</a:t>
            </a:r>
            <a:endParaRPr lang="en-IN" sz="1500" dirty="0"/>
          </a:p>
          <a:p>
            <a:pPr lvl="0"/>
            <a:r>
              <a:rPr lang="en-IN" sz="1500" dirty="0"/>
              <a:t>Loop counters (for (register int </a:t>
            </a:r>
            <a:r>
              <a:rPr lang="en-IN" sz="1500" dirty="0" err="1"/>
              <a:t>i</a:t>
            </a:r>
            <a:r>
              <a:rPr lang="en-IN" sz="1500" dirty="0"/>
              <a:t>=0; </a:t>
            </a:r>
            <a:r>
              <a:rPr lang="en-IN" sz="1500" dirty="0" err="1"/>
              <a:t>i</a:t>
            </a:r>
            <a:r>
              <a:rPr lang="en-IN" sz="1500" dirty="0"/>
              <a:t>&lt;n; </a:t>
            </a:r>
            <a:r>
              <a:rPr lang="en-IN" sz="1500" dirty="0" err="1"/>
              <a:t>i</a:t>
            </a:r>
            <a:r>
              <a:rPr lang="en-IN" sz="1500" dirty="0"/>
              <a:t>++))</a:t>
            </a:r>
          </a:p>
          <a:p>
            <a:pPr lvl="0"/>
            <a:r>
              <a:rPr lang="en-IN" sz="1500" dirty="0"/>
              <a:t>Frequently used variables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84147646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8088-393B-8F13-4E50-29B257FA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826B-40F0-D1F1-5425-C1B6CD27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Storage Class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F8F092-B791-1FB6-D82D-2855E1A33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358774"/>
              </p:ext>
            </p:extLst>
          </p:nvPr>
        </p:nvGraphicFramePr>
        <p:xfrm>
          <a:off x="248514" y="1088855"/>
          <a:ext cx="4067174" cy="1238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936">
                  <a:extLst>
                    <a:ext uri="{9D8B030D-6E8A-4147-A177-3AD203B41FA5}">
                      <a16:colId xmlns:a16="http://schemas.microsoft.com/office/drawing/2014/main" val="3578504461"/>
                    </a:ext>
                  </a:extLst>
                </a:gridCol>
                <a:gridCol w="2620238">
                  <a:extLst>
                    <a:ext uri="{9D8B030D-6E8A-4147-A177-3AD203B41FA5}">
                      <a16:colId xmlns:a16="http://schemas.microsoft.com/office/drawing/2014/main" val="3519393239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Scope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Local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24358040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Lifetime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Until function ends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04039298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 dirty="0">
                          <a:effectLst/>
                        </a:rPr>
                        <a:t>Storage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CPU registers (if available)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2482663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Default value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</a:rPr>
                        <a:t>Garbage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1743357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 dirty="0">
                          <a:effectLst/>
                        </a:rPr>
                        <a:t>Address access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 dirty="0">
                          <a:effectLst/>
                        </a:rPr>
                        <a:t>❌ Cannot use &amp; operator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239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03017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EF73-0087-36AE-9681-5BCA902F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F244-9BC8-9EB7-268B-158E2088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99679"/>
            <a:ext cx="4073455" cy="182896"/>
          </a:xfrm>
        </p:spPr>
        <p:txBody>
          <a:bodyPr>
            <a:normAutofit fontScale="90000"/>
          </a:bodyPr>
          <a:lstStyle/>
          <a:p>
            <a:r>
              <a:rPr lang="en-US" dirty="0"/>
              <a:t>Static Storage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B6D34-10B5-D84A-7E99-B4B2A2FA6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924" y="434975"/>
            <a:ext cx="4066252" cy="1900529"/>
          </a:xfrm>
        </p:spPr>
        <p:txBody>
          <a:bodyPr>
            <a:noAutofit/>
          </a:bodyPr>
          <a:lstStyle/>
          <a:p>
            <a:pPr marL="36000">
              <a:spcBef>
                <a:spcPts val="0"/>
              </a:spcBef>
            </a:pPr>
            <a:r>
              <a:rPr lang="en-IN" sz="1500" dirty="0"/>
              <a:t>Gives variables </a:t>
            </a:r>
            <a:r>
              <a:rPr lang="en-IN" sz="1500" b="1" dirty="0"/>
              <a:t>lifetime = entire program</a:t>
            </a:r>
            <a:r>
              <a:rPr lang="en-IN" sz="1500" dirty="0"/>
              <a:t>.</a:t>
            </a:r>
          </a:p>
          <a:p>
            <a:pPr marL="36000">
              <a:spcBef>
                <a:spcPts val="0"/>
              </a:spcBef>
            </a:pPr>
            <a:r>
              <a:rPr lang="en-IN" sz="1500" b="1" dirty="0"/>
              <a:t>✔ Static Local Variable</a:t>
            </a:r>
            <a:endParaRPr lang="en-IN" sz="1500" dirty="0"/>
          </a:p>
          <a:p>
            <a:pPr marL="36000">
              <a:spcBef>
                <a:spcPts val="0"/>
              </a:spcBef>
            </a:pPr>
            <a:r>
              <a:rPr lang="en-IN" sz="1500" dirty="0"/>
              <a:t>void demo() {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    static int x = 0;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    x++;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    </a:t>
            </a:r>
            <a:r>
              <a:rPr lang="en-IN" sz="1500" dirty="0" err="1"/>
              <a:t>printf</a:t>
            </a:r>
            <a:r>
              <a:rPr lang="en-IN" sz="1500" dirty="0"/>
              <a:t>("%d ", x);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}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int main() {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    demo();  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    demo();  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    demo();</a:t>
            </a:r>
          </a:p>
          <a:p>
            <a:pPr marL="36000">
              <a:spcBef>
                <a:spcPts val="0"/>
              </a:spcBef>
            </a:pPr>
            <a:r>
              <a:rPr lang="en-IN" sz="1500" dirty="0"/>
              <a:t>}</a:t>
            </a:r>
          </a:p>
          <a:p>
            <a:pPr marL="36000">
              <a:spcBef>
                <a:spcPts val="0"/>
              </a:spcBef>
            </a:pPr>
            <a:r>
              <a:rPr lang="en-IN" sz="1500" b="1" dirty="0"/>
              <a:t>✔ Output:</a:t>
            </a:r>
            <a:endParaRPr lang="en-IN" sz="1500" dirty="0"/>
          </a:p>
          <a:p>
            <a:pPr marL="36000">
              <a:spcBef>
                <a:spcPts val="0"/>
              </a:spcBef>
            </a:pPr>
            <a:r>
              <a:rPr lang="en-IN" sz="1500" dirty="0"/>
              <a:t>1 2 3</a:t>
            </a:r>
          </a:p>
          <a:p>
            <a:pPr marL="36000">
              <a:spcBef>
                <a:spcPts val="0"/>
              </a:spcBef>
            </a:pPr>
            <a:endParaRPr lang="en-IN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D65B5-D1DD-A761-F950-47FC3B3FD387}"/>
              </a:ext>
            </a:extLst>
          </p:cNvPr>
          <p:cNvSpPr txBox="1"/>
          <p:nvPr/>
        </p:nvSpPr>
        <p:spPr>
          <a:xfrm>
            <a:off x="2447925" y="1579963"/>
            <a:ext cx="21621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✔ Why?</a:t>
            </a:r>
            <a:endParaRPr lang="en-IN" sz="1400" dirty="0"/>
          </a:p>
          <a:p>
            <a:pPr lvl="0"/>
            <a:r>
              <a:rPr lang="en-IN" sz="1400" dirty="0"/>
              <a:t>Static variables </a:t>
            </a:r>
            <a:r>
              <a:rPr lang="en-IN" sz="1400" b="1" dirty="0"/>
              <a:t>retain previous value</a:t>
            </a:r>
            <a:endParaRPr lang="en-IN" sz="1400" dirty="0"/>
          </a:p>
          <a:p>
            <a:pPr lvl="0"/>
            <a:r>
              <a:rPr lang="en-IN" sz="1400" dirty="0"/>
              <a:t>They are created </a:t>
            </a:r>
            <a:r>
              <a:rPr lang="en-IN" sz="1400" b="1" dirty="0"/>
              <a:t>only once</a:t>
            </a:r>
            <a:endParaRPr lang="en-IN" sz="1400" dirty="0"/>
          </a:p>
          <a:p>
            <a:r>
              <a:rPr lang="en-IN" sz="1400" b="1" dirty="0"/>
              <a:t>Memory Diagram:</a:t>
            </a:r>
            <a:endParaRPr lang="en-IN" sz="1400" dirty="0"/>
          </a:p>
          <a:p>
            <a:r>
              <a:rPr lang="en-IN" sz="1400" dirty="0"/>
              <a:t>First call:  x = 1</a:t>
            </a:r>
          </a:p>
          <a:p>
            <a:r>
              <a:rPr lang="en-IN" sz="1400" dirty="0"/>
              <a:t>Second call: x = 2</a:t>
            </a:r>
          </a:p>
          <a:p>
            <a:r>
              <a:rPr lang="en-IN" sz="1400" dirty="0"/>
              <a:t>Third call:  x = 3</a:t>
            </a:r>
          </a:p>
        </p:txBody>
      </p:sp>
    </p:spTree>
    <p:extLst>
      <p:ext uri="{BB962C8B-B14F-4D97-AF65-F5344CB8AC3E}">
        <p14:creationId xmlns:p14="http://schemas.microsoft.com/office/powerpoint/2010/main" val="13290753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CD75E-0D68-F005-AB0C-E698BBC2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2F2E-C823-7158-781F-F107D64F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Storage Class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585EBC-EE87-0761-CDD6-8BD0EFFD9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74476"/>
              </p:ext>
            </p:extLst>
          </p:nvPr>
        </p:nvGraphicFramePr>
        <p:xfrm>
          <a:off x="255588" y="1489869"/>
          <a:ext cx="4067174" cy="1466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7462">
                  <a:extLst>
                    <a:ext uri="{9D8B030D-6E8A-4147-A177-3AD203B41FA5}">
                      <a16:colId xmlns:a16="http://schemas.microsoft.com/office/drawing/2014/main" val="645007544"/>
                    </a:ext>
                  </a:extLst>
                </a:gridCol>
                <a:gridCol w="2779712">
                  <a:extLst>
                    <a:ext uri="{9D8B030D-6E8A-4147-A177-3AD203B41FA5}">
                      <a16:colId xmlns:a16="http://schemas.microsoft.com/office/drawing/2014/main" val="716736706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Property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Value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1759191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Scope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Local to function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4833732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Lifetime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Entire program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3110232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Default value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8297850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Data Segment (static memory)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096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67257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8DBE-2DA9-C899-0B22-4E0C4290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F00F-7374-C6A3-D366-7C980B3A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00"/>
            <a:ext cx="4073455" cy="302217"/>
          </a:xfrm>
        </p:spPr>
        <p:txBody>
          <a:bodyPr>
            <a:normAutofit fontScale="90000"/>
          </a:bodyPr>
          <a:lstStyle/>
          <a:p>
            <a:r>
              <a:rPr lang="en-US" dirty="0"/>
              <a:t>Extern Storage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19BB4-587C-3CFC-73F3-C7284E938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434975"/>
            <a:ext cx="4066252" cy="190052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IN" sz="1500" dirty="0"/>
              <a:t>Used to </a:t>
            </a:r>
            <a:r>
              <a:rPr lang="en-IN" sz="1500" b="1" dirty="0"/>
              <a:t>access global variable from another file</a:t>
            </a:r>
            <a:r>
              <a:rPr lang="en-IN" sz="1500" dirty="0"/>
              <a:t> or outside the function.</a:t>
            </a:r>
          </a:p>
          <a:p>
            <a:pPr>
              <a:spcBef>
                <a:spcPts val="0"/>
              </a:spcBef>
            </a:pPr>
            <a:r>
              <a:rPr lang="en-IN" sz="1500" b="1" dirty="0"/>
              <a:t>✔ Example (same file)</a:t>
            </a:r>
            <a:endParaRPr lang="en-IN" sz="1500" dirty="0"/>
          </a:p>
          <a:p>
            <a:pPr>
              <a:spcBef>
                <a:spcPts val="0"/>
              </a:spcBef>
            </a:pPr>
            <a:r>
              <a:rPr lang="en-IN" sz="1500" dirty="0"/>
              <a:t>int a = 10;</a:t>
            </a:r>
          </a:p>
          <a:p>
            <a:pPr>
              <a:spcBef>
                <a:spcPts val="0"/>
              </a:spcBef>
            </a:pPr>
            <a:r>
              <a:rPr lang="en-IN" sz="1500" dirty="0"/>
              <a:t> </a:t>
            </a:r>
          </a:p>
          <a:p>
            <a:pPr>
              <a:spcBef>
                <a:spcPts val="0"/>
              </a:spcBef>
            </a:pPr>
            <a:r>
              <a:rPr lang="en-IN" sz="1500" dirty="0"/>
              <a:t>void display() {</a:t>
            </a:r>
          </a:p>
          <a:p>
            <a:pPr>
              <a:spcBef>
                <a:spcPts val="0"/>
              </a:spcBef>
            </a:pPr>
            <a:r>
              <a:rPr lang="en-IN" sz="1500" dirty="0"/>
              <a:t>    extern int a;</a:t>
            </a:r>
          </a:p>
          <a:p>
            <a:pPr>
              <a:spcBef>
                <a:spcPts val="0"/>
              </a:spcBef>
            </a:pPr>
            <a:r>
              <a:rPr lang="en-IN" sz="1500" dirty="0"/>
              <a:t>    </a:t>
            </a:r>
            <a:r>
              <a:rPr lang="en-IN" sz="1500" dirty="0" err="1"/>
              <a:t>printf</a:t>
            </a:r>
            <a:r>
              <a:rPr lang="en-IN" sz="1500" dirty="0"/>
              <a:t>("%d", a);</a:t>
            </a:r>
          </a:p>
          <a:p>
            <a:pPr>
              <a:spcBef>
                <a:spcPts val="0"/>
              </a:spcBef>
            </a:pPr>
            <a:r>
              <a:rPr lang="en-IN" sz="1500" dirty="0"/>
              <a:t>}</a:t>
            </a:r>
          </a:p>
          <a:p>
            <a:pPr>
              <a:spcBef>
                <a:spcPts val="0"/>
              </a:spcBef>
            </a:pPr>
            <a:endParaRPr lang="en-IN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AF114-32E4-EA1B-E048-A145907439AE}"/>
              </a:ext>
            </a:extLst>
          </p:cNvPr>
          <p:cNvSpPr txBox="1"/>
          <p:nvPr/>
        </p:nvSpPr>
        <p:spPr>
          <a:xfrm>
            <a:off x="1924050" y="735469"/>
            <a:ext cx="28686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IN" sz="1400" b="1" dirty="0"/>
              <a:t>✔ Example (two files)</a:t>
            </a:r>
            <a:endParaRPr lang="en-IN" sz="1400" dirty="0"/>
          </a:p>
          <a:p>
            <a:pPr>
              <a:spcBef>
                <a:spcPts val="0"/>
              </a:spcBef>
            </a:pPr>
            <a:r>
              <a:rPr lang="en-IN" sz="1400" b="1" dirty="0"/>
              <a:t>File 1: </a:t>
            </a:r>
            <a:r>
              <a:rPr lang="en-IN" sz="1400" b="1" dirty="0" err="1"/>
              <a:t>a.c</a:t>
            </a:r>
            <a:endParaRPr lang="en-IN" sz="1400" dirty="0"/>
          </a:p>
          <a:p>
            <a:pPr>
              <a:spcBef>
                <a:spcPts val="0"/>
              </a:spcBef>
            </a:pPr>
            <a:r>
              <a:rPr lang="en-IN" sz="1400" dirty="0"/>
              <a:t>int x = 50;</a:t>
            </a:r>
          </a:p>
          <a:p>
            <a:pPr>
              <a:spcBef>
                <a:spcPts val="0"/>
              </a:spcBef>
            </a:pPr>
            <a:r>
              <a:rPr lang="en-IN" sz="1400" b="1" dirty="0"/>
              <a:t>File 2: </a:t>
            </a:r>
            <a:r>
              <a:rPr lang="en-IN" sz="1400" b="1" dirty="0" err="1"/>
              <a:t>b.c</a:t>
            </a:r>
            <a:endParaRPr lang="en-IN" sz="1400" dirty="0"/>
          </a:p>
          <a:p>
            <a:pPr>
              <a:spcBef>
                <a:spcPts val="0"/>
              </a:spcBef>
            </a:pPr>
            <a:r>
              <a:rPr lang="en-IN" sz="1400" dirty="0"/>
              <a:t>#include &lt;</a:t>
            </a:r>
            <a:r>
              <a:rPr lang="en-IN" sz="1400" dirty="0" err="1"/>
              <a:t>stdio.h</a:t>
            </a:r>
            <a:r>
              <a:rPr lang="en-IN" sz="1400" dirty="0"/>
              <a:t>&gt;</a:t>
            </a:r>
          </a:p>
          <a:p>
            <a:pPr>
              <a:spcBef>
                <a:spcPts val="0"/>
              </a:spcBef>
            </a:pPr>
            <a:r>
              <a:rPr lang="en-IN" sz="1400" dirty="0"/>
              <a:t>extern int x;  </a:t>
            </a:r>
          </a:p>
          <a:p>
            <a:pPr>
              <a:spcBef>
                <a:spcPts val="0"/>
              </a:spcBef>
            </a:pPr>
            <a:r>
              <a:rPr lang="en-IN" sz="1400" dirty="0"/>
              <a:t>// declare variable from another file</a:t>
            </a:r>
          </a:p>
          <a:p>
            <a:pPr>
              <a:spcBef>
                <a:spcPts val="0"/>
              </a:spcBef>
            </a:pPr>
            <a:r>
              <a:rPr lang="en-IN" sz="1400" dirty="0"/>
              <a:t>int main() {</a:t>
            </a:r>
          </a:p>
          <a:p>
            <a:pPr>
              <a:spcBef>
                <a:spcPts val="0"/>
              </a:spcBef>
            </a:pPr>
            <a:r>
              <a:rPr lang="en-IN" sz="1400" dirty="0"/>
              <a:t>    </a:t>
            </a:r>
            <a:r>
              <a:rPr lang="en-IN" sz="1400" dirty="0" err="1"/>
              <a:t>printf</a:t>
            </a:r>
            <a:r>
              <a:rPr lang="en-IN" sz="1400" dirty="0"/>
              <a:t>("%d", x);</a:t>
            </a:r>
          </a:p>
          <a:p>
            <a:pPr>
              <a:spcBef>
                <a:spcPts val="0"/>
              </a:spcBef>
            </a:pPr>
            <a:r>
              <a:rPr lang="en-IN" sz="1400" dirty="0"/>
              <a:t>}</a:t>
            </a:r>
          </a:p>
          <a:p>
            <a:pPr>
              <a:spcBef>
                <a:spcPts val="0"/>
              </a:spcBef>
            </a:pPr>
            <a:r>
              <a:rPr lang="en-IN" sz="1400" b="1" dirty="0"/>
              <a:t>✔ Output:</a:t>
            </a:r>
            <a:endParaRPr lang="en-IN" sz="1400" dirty="0"/>
          </a:p>
          <a:p>
            <a:pPr>
              <a:spcBef>
                <a:spcPts val="0"/>
              </a:spcBef>
            </a:pPr>
            <a:r>
              <a:rPr lang="en-IN" sz="1400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03453806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2DEE0-0772-9F7B-8666-7488F1023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9576-6416-02CB-3112-7EFE4F0A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 Storage Class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0BF992-8DAA-692A-944D-F5541756A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36198"/>
              </p:ext>
            </p:extLst>
          </p:nvPr>
        </p:nvGraphicFramePr>
        <p:xfrm>
          <a:off x="255588" y="1489869"/>
          <a:ext cx="4067174" cy="1466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7462">
                  <a:extLst>
                    <a:ext uri="{9D8B030D-6E8A-4147-A177-3AD203B41FA5}">
                      <a16:colId xmlns:a16="http://schemas.microsoft.com/office/drawing/2014/main" val="645007544"/>
                    </a:ext>
                  </a:extLst>
                </a:gridCol>
                <a:gridCol w="2779712">
                  <a:extLst>
                    <a:ext uri="{9D8B030D-6E8A-4147-A177-3AD203B41FA5}">
                      <a16:colId xmlns:a16="http://schemas.microsoft.com/office/drawing/2014/main" val="716736706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Property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Value</a:t>
                      </a:r>
                      <a:endParaRPr lang="en-IN" sz="1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1759191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Scope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Global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4833732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Lifetime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Entire program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3110232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Data segment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8297850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Default value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78790" indent="-252095" algn="just"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Latha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096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44697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5A31-D070-4C9E-4DAF-07A30B66C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D43DBE-E869-C9F5-6E5E-A1824A3CD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008153"/>
              </p:ext>
            </p:extLst>
          </p:nvPr>
        </p:nvGraphicFramePr>
        <p:xfrm>
          <a:off x="190500" y="1041230"/>
          <a:ext cx="4419600" cy="192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9409">
                  <a:extLst>
                    <a:ext uri="{9D8B030D-6E8A-4147-A177-3AD203B41FA5}">
                      <a16:colId xmlns:a16="http://schemas.microsoft.com/office/drawing/2014/main" val="137293708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30704513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56809253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63304079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37141369"/>
                    </a:ext>
                  </a:extLst>
                </a:gridCol>
                <a:gridCol w="742191">
                  <a:extLst>
                    <a:ext uri="{9D8B030D-6E8A-4147-A177-3AD203B41FA5}">
                      <a16:colId xmlns:a16="http://schemas.microsoft.com/office/drawing/2014/main" val="2976421407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Storage Class</a:t>
                      </a:r>
                      <a:endParaRPr lang="en-IN" sz="13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Scope</a:t>
                      </a:r>
                      <a:endParaRPr lang="en-IN" sz="13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Lifetime</a:t>
                      </a:r>
                      <a:endParaRPr lang="en-IN" sz="13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Default Value</a:t>
                      </a:r>
                      <a:endParaRPr lang="en-IN" sz="13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Storage</a:t>
                      </a:r>
                      <a:endParaRPr lang="en-IN" sz="13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Keyword Used</a:t>
                      </a:r>
                      <a:endParaRPr lang="en-IN" sz="13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extLst>
                  <a:ext uri="{0D108BD9-81ED-4DB2-BD59-A6C34878D82A}">
                    <a16:rowId xmlns:a16="http://schemas.microsoft.com/office/drawing/2014/main" val="36229315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auto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Local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 dirty="0">
                          <a:effectLst/>
                        </a:rPr>
                        <a:t>Inside block</a:t>
                      </a:r>
                      <a:endParaRPr lang="en-IN" sz="13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Garbage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RAM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auto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extLst>
                  <a:ext uri="{0D108BD9-81ED-4DB2-BD59-A6C34878D82A}">
                    <a16:rowId xmlns:a16="http://schemas.microsoft.com/office/drawing/2014/main" val="31943681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 dirty="0">
                          <a:effectLst/>
                        </a:rPr>
                        <a:t>register</a:t>
                      </a:r>
                      <a:endParaRPr lang="en-IN" sz="13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Local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Inside block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Garbage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CPU Register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register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extLst>
                  <a:ext uri="{0D108BD9-81ED-4DB2-BD59-A6C34878D82A}">
                    <a16:rowId xmlns:a16="http://schemas.microsoft.com/office/drawing/2014/main" val="219256688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static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Local/Global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Entire program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0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Data segment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static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extLst>
                  <a:ext uri="{0D108BD9-81ED-4DB2-BD59-A6C34878D82A}">
                    <a16:rowId xmlns:a16="http://schemas.microsoft.com/office/drawing/2014/main" val="12754049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extern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Global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Entire program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0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>
                          <a:effectLst/>
                        </a:rPr>
                        <a:t>Data segment</a:t>
                      </a:r>
                      <a:endParaRPr lang="en-IN" sz="13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350" u="none" strike="noStrike" dirty="0">
                          <a:effectLst/>
                        </a:rPr>
                        <a:t>extern</a:t>
                      </a:r>
                      <a:endParaRPr lang="en-IN" sz="13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34" marR="8334" marT="8334" marB="0" anchor="ctr"/>
                </a:tc>
                <a:extLst>
                  <a:ext uri="{0D108BD9-81ED-4DB2-BD59-A6C34878D82A}">
                    <a16:rowId xmlns:a16="http://schemas.microsoft.com/office/drawing/2014/main" val="3321929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05431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15582</TotalTime>
  <Words>7081</Words>
  <Application>Microsoft Office PowerPoint</Application>
  <PresentationFormat>Custom</PresentationFormat>
  <Paragraphs>1324</Paragraphs>
  <Slides>178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178</vt:i4>
      </vt:variant>
    </vt:vector>
  </HeadingPairs>
  <TitlesOfParts>
    <vt:vector size="184" baseType="lpstr">
      <vt:lpstr>Arial Unicode MS</vt:lpstr>
      <vt:lpstr>Aptos Narrow</vt:lpstr>
      <vt:lpstr>Arial</vt:lpstr>
      <vt:lpstr>Calibri</vt:lpstr>
      <vt:lpstr>Calibri Light</vt:lpstr>
      <vt:lpstr>Metropolitan</vt:lpstr>
      <vt:lpstr>BACSE104 (2 4 0 4) Structured and 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Evaluation- Theory BACSE104</vt:lpstr>
      <vt:lpstr>Evaluation- LAB BACSE104</vt:lpstr>
      <vt:lpstr>What is a Program?</vt:lpstr>
      <vt:lpstr>What is a Programming Language?</vt:lpstr>
      <vt:lpstr>Evolution of Programming Languages (1940 → 2025 → Future)</vt:lpstr>
      <vt:lpstr>Evolution of Programming Languages (1940 → 2025 → Future)</vt:lpstr>
      <vt:lpstr>PowerPoint Presentation</vt:lpstr>
      <vt:lpstr>PowerPoint Presentation</vt:lpstr>
      <vt:lpstr>Future of Programming – Of course its started</vt:lpstr>
      <vt:lpstr>WHY Learn C Programming in Even Now?</vt:lpstr>
      <vt:lpstr>C vs C++</vt:lpstr>
      <vt:lpstr>Why C Came First, Then C++? </vt:lpstr>
      <vt:lpstr>PowerPoint Presentation</vt:lpstr>
      <vt:lpstr>Why We Learn BOTH C and C++ Today?</vt:lpstr>
      <vt:lpstr>Future of Programming (C &amp; C++)</vt:lpstr>
      <vt:lpstr>What is C?</vt:lpstr>
      <vt:lpstr>PowerPoint Presentation</vt:lpstr>
      <vt:lpstr>PowerPoint Presentation</vt:lpstr>
      <vt:lpstr>Structure of a C Program</vt:lpstr>
      <vt:lpstr>PowerPoint Presentation</vt:lpstr>
      <vt:lpstr>PowerPoint Presentation</vt:lpstr>
      <vt:lpstr>Compiler vs Interpreter</vt:lpstr>
      <vt:lpstr>Tokens in C</vt:lpstr>
      <vt:lpstr>Tokens</vt:lpstr>
      <vt:lpstr>Variables in C</vt:lpstr>
      <vt:lpstr>PowerPoint Presentation</vt:lpstr>
      <vt:lpstr>PowerPoint Presentation</vt:lpstr>
      <vt:lpstr>PowerPoint Presentation</vt:lpstr>
      <vt:lpstr>PowerPoint Presentation</vt:lpstr>
      <vt:lpstr>DATA TYPES IN C</vt:lpstr>
      <vt:lpstr>DATA TYPES IN C</vt:lpstr>
      <vt:lpstr>DATA TYPES IN C</vt:lpstr>
      <vt:lpstr>DATA TYPES IN C</vt:lpstr>
      <vt:lpstr>DATA TYPES IN C</vt:lpstr>
      <vt:lpstr>DATA TYPES IN C</vt:lpstr>
      <vt:lpstr>OPERATORS IN C</vt:lpstr>
      <vt:lpstr>What is an Operator?</vt:lpstr>
      <vt:lpstr>Why Are Operators Important?</vt:lpstr>
      <vt:lpstr>Types of Operators in C</vt:lpstr>
      <vt:lpstr>Arithmetic Operators</vt:lpstr>
      <vt:lpstr>Relational Operators</vt:lpstr>
      <vt:lpstr>Logical Operators</vt:lpstr>
      <vt:lpstr>Assignment Operators</vt:lpstr>
      <vt:lpstr>Increment / Decrement (++ / --)</vt:lpstr>
      <vt:lpstr>Conditional Operators</vt:lpstr>
      <vt:lpstr>Bitwise Operators</vt:lpstr>
      <vt:lpstr>Bitwise AND (&amp;)</vt:lpstr>
      <vt:lpstr>Bitwise OR (|)</vt:lpstr>
      <vt:lpstr>Bitwise XOR (^)</vt:lpstr>
      <vt:lpstr>Bitwise NOT (~)</vt:lpstr>
      <vt:lpstr>Left Shift (&lt;&lt;)</vt:lpstr>
      <vt:lpstr>Right Shift (&gt;&gt;)</vt:lpstr>
      <vt:lpstr>Masking Example</vt:lpstr>
      <vt:lpstr>Summary Table</vt:lpstr>
      <vt:lpstr>Special Operators</vt:lpstr>
      <vt:lpstr>Operator Precedence</vt:lpstr>
      <vt:lpstr>Operator Precedence (The Pyramid)</vt:lpstr>
      <vt:lpstr>Operator Precedence</vt:lpstr>
      <vt:lpstr>Operator Precedence</vt:lpstr>
      <vt:lpstr>Example</vt:lpstr>
      <vt:lpstr>Associativity</vt:lpstr>
      <vt:lpstr>Left-to-Right Example</vt:lpstr>
      <vt:lpstr>Right-to-Left Example</vt:lpstr>
      <vt:lpstr>Complex Expression Breakdown</vt:lpstr>
      <vt:lpstr>Expression Tree (Complex)</vt:lpstr>
      <vt:lpstr>Type Conversion in C</vt:lpstr>
      <vt:lpstr>Why Type Conversion is Needed</vt:lpstr>
      <vt:lpstr>Example: Mixed Data Types</vt:lpstr>
      <vt:lpstr>Wrong Result Without Conversion</vt:lpstr>
      <vt:lpstr>Implicit Conversion</vt:lpstr>
      <vt:lpstr>Implicit Example 1</vt:lpstr>
      <vt:lpstr>Implicit Example 2: ASCII Promotion</vt:lpstr>
      <vt:lpstr>Explicit Conversion (Type Casting)</vt:lpstr>
      <vt:lpstr>Explicit Example: Data Loss</vt:lpstr>
      <vt:lpstr>Type Modifier vs Type Conversion</vt:lpstr>
      <vt:lpstr>Promotion Rules</vt:lpstr>
      <vt:lpstr>Implicit Conversion Flowchart</vt:lpstr>
      <vt:lpstr>Explicit Conversion Flowchart</vt:lpstr>
      <vt:lpstr>Summary</vt:lpstr>
      <vt:lpstr>What is I/O in C?</vt:lpstr>
      <vt:lpstr>Input / Output Statements in C</vt:lpstr>
      <vt:lpstr>printf() – Output Function</vt:lpstr>
      <vt:lpstr>Format Specifiers (printf)</vt:lpstr>
      <vt:lpstr>scanf() – Input Function</vt:lpstr>
      <vt:lpstr>Format Specifiers (scanf)</vt:lpstr>
      <vt:lpstr>printf vs scanf</vt:lpstr>
      <vt:lpstr>Escape Sequences</vt:lpstr>
      <vt:lpstr>Carriage Return (\r) in C – Examples</vt:lpstr>
      <vt:lpstr>Examples</vt:lpstr>
      <vt:lpstr>Examples</vt:lpstr>
      <vt:lpstr>Multiple Inputs Using scanf()</vt:lpstr>
      <vt:lpstr>Common Mistakes</vt:lpstr>
      <vt:lpstr>How printf() Works – Diagram</vt:lpstr>
      <vt:lpstr>How scanf() Works – Diagram</vt:lpstr>
      <vt:lpstr>Example Program</vt:lpstr>
      <vt:lpstr>Formatting Output (printf)</vt:lpstr>
      <vt:lpstr>Control Structures in C</vt:lpstr>
      <vt:lpstr>Why Control Structures Are Needed</vt:lpstr>
      <vt:lpstr>Conditional Control Structures</vt:lpstr>
      <vt:lpstr>if Statement – Example</vt:lpstr>
      <vt:lpstr>if–else Statement – Example</vt:lpstr>
      <vt:lpstr>else-if Ladder – Example</vt:lpstr>
      <vt:lpstr>Nested if – Example</vt:lpstr>
      <vt:lpstr>switch-case – Example</vt:lpstr>
      <vt:lpstr>Ternary Operator ?: – Example</vt:lpstr>
      <vt:lpstr>Looping Structures in C</vt:lpstr>
      <vt:lpstr>for Loop – Example</vt:lpstr>
      <vt:lpstr>while Loop – Example</vt:lpstr>
      <vt:lpstr>do-while Loop – Example</vt:lpstr>
      <vt:lpstr>Loop Control – break and continue</vt:lpstr>
      <vt:lpstr>Infinite Loop – Example</vt:lpstr>
      <vt:lpstr>Nested Loops – Example</vt:lpstr>
      <vt:lpstr>Summary of Control Structures</vt:lpstr>
      <vt:lpstr>Arrays in C</vt:lpstr>
      <vt:lpstr>Why Arrays Are Needed</vt:lpstr>
      <vt:lpstr>1D Array Declaration</vt:lpstr>
      <vt:lpstr>Initialization Methods</vt:lpstr>
      <vt:lpstr>Accessing 1D Array</vt:lpstr>
      <vt:lpstr>Input/Output of 1D Array</vt:lpstr>
      <vt:lpstr>1D Array Memory Layout</vt:lpstr>
      <vt:lpstr>Common Errors in Arrays</vt:lpstr>
      <vt:lpstr>2D Array Declaration</vt:lpstr>
      <vt:lpstr>2D Array Initialization</vt:lpstr>
      <vt:lpstr>Accessing 2D Array</vt:lpstr>
      <vt:lpstr>2D Array Input/Output</vt:lpstr>
      <vt:lpstr>2D Array Memory Layout (Row-Major)</vt:lpstr>
      <vt:lpstr>Difference: 1D vs 2D</vt:lpstr>
      <vt:lpstr>Strings in C</vt:lpstr>
      <vt:lpstr>Why Strings?</vt:lpstr>
      <vt:lpstr>String Declaration Methods</vt:lpstr>
      <vt:lpstr>String Input Methods</vt:lpstr>
      <vt:lpstr>String Output Methods</vt:lpstr>
      <vt:lpstr>String Operations  strlen()</vt:lpstr>
      <vt:lpstr>strcpy()</vt:lpstr>
      <vt:lpstr>strcat()</vt:lpstr>
      <vt:lpstr>strcmp()</vt:lpstr>
      <vt:lpstr>Case Conversion Functions</vt:lpstr>
      <vt:lpstr>Character Search – strchr()</vt:lpstr>
      <vt:lpstr>strrev()</vt:lpstr>
      <vt:lpstr>Manual String Length Logic</vt:lpstr>
      <vt:lpstr>Manual String Copy Logic</vt:lpstr>
      <vt:lpstr>Manual String Compare Logic</vt:lpstr>
      <vt:lpstr>Memory Layout Example</vt:lpstr>
      <vt:lpstr>Functions in C – Introduction</vt:lpstr>
      <vt:lpstr>Functions in C – Introduction</vt:lpstr>
      <vt:lpstr>User-Defined Functions</vt:lpstr>
      <vt:lpstr>User-Defined Functions</vt:lpstr>
      <vt:lpstr>Structure of a User-Defined Function</vt:lpstr>
      <vt:lpstr>Function Declaration &amp; Definition</vt:lpstr>
      <vt:lpstr>Function Call</vt:lpstr>
      <vt:lpstr>Function Categories Based on Arguments &amp; Return Type</vt:lpstr>
      <vt:lpstr>Call by Value</vt:lpstr>
      <vt:lpstr>Call by Value – Example Output</vt:lpstr>
      <vt:lpstr>Call by Reference</vt:lpstr>
      <vt:lpstr>Call by Reference – Example Output</vt:lpstr>
      <vt:lpstr>CV vs CR</vt:lpstr>
      <vt:lpstr>Recursion – Introduction</vt:lpstr>
      <vt:lpstr>Recursion – Execution Flow</vt:lpstr>
      <vt:lpstr>Recursion – Output Example</vt:lpstr>
      <vt:lpstr>Fibonacci Using Recursion</vt:lpstr>
      <vt:lpstr>Advantages and  Disadvantages</vt:lpstr>
      <vt:lpstr>STORAGE CLASSES IN C</vt:lpstr>
      <vt:lpstr>Storage Class</vt:lpstr>
      <vt:lpstr>Auto Storage Class</vt:lpstr>
      <vt:lpstr>Auto Storage Class</vt:lpstr>
      <vt:lpstr>Register Storage Class</vt:lpstr>
      <vt:lpstr>Register Storage Class</vt:lpstr>
      <vt:lpstr>Static Storage Class</vt:lpstr>
      <vt:lpstr>Static Storage Class</vt:lpstr>
      <vt:lpstr>Extern Storage Class</vt:lpstr>
      <vt:lpstr>Extern Storage Class</vt:lpstr>
      <vt:lpstr>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C?</dc:title>
  <dc:creator>Sharat Chikkerur</dc:creator>
  <cp:lastModifiedBy>Dinakaran Muruganandam</cp:lastModifiedBy>
  <cp:revision>82</cp:revision>
  <dcterms:created xsi:type="dcterms:W3CDTF">2024-01-03T08:48:56Z</dcterms:created>
  <dcterms:modified xsi:type="dcterms:W3CDTF">2025-12-14T00:39:43Z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2010-04-03T00:00:00Z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2024-01-03T00:00:00Z</vt:filetime>
  </property>
</Properties>
</file>