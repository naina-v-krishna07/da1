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"/>
    <p:sldId id="256" r:id="rId3"/>
    <p:sldId id="257" r:id="rId4"/>
    <p:sldId id="258" r:id="rId5"/>
    <p:sldId id="275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6" r:id="rId14"/>
    <p:sldId id="266" r:id="rId15"/>
    <p:sldId id="267" r:id="rId16"/>
    <p:sldId id="268" r:id="rId17"/>
    <p:sldId id="269" r:id="rId18"/>
    <p:sldId id="270" r:id="rId19"/>
    <p:sldId id="280" r:id="rId20"/>
    <p:sldId id="281" r:id="rId21"/>
    <p:sldId id="283" r:id="rId22"/>
    <p:sldId id="284" r:id="rId23"/>
    <p:sldId id="285" r:id="rId24"/>
    <p:sldId id="282" r:id="rId25"/>
    <p:sldId id="271" r:id="rId26"/>
    <p:sldId id="279" r:id="rId27"/>
    <p:sldId id="286" r:id="rId28"/>
    <p:sldId id="288" r:id="rId29"/>
    <p:sldId id="272" r:id="rId30"/>
    <p:sldId id="289" r:id="rId31"/>
    <p:sldId id="290" r:id="rId32"/>
    <p:sldId id="291" r:id="rId33"/>
    <p:sldId id="292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18" r:id="rId46"/>
    <p:sldId id="277" r:id="rId47"/>
    <p:sldId id="325" r:id="rId48"/>
    <p:sldId id="319" r:id="rId49"/>
    <p:sldId id="320" r:id="rId50"/>
    <p:sldId id="321" r:id="rId51"/>
    <p:sldId id="326" r:id="rId52"/>
    <p:sldId id="322" r:id="rId53"/>
    <p:sldId id="323" r:id="rId54"/>
    <p:sldId id="324" r:id="rId55"/>
    <p:sldId id="327" r:id="rId56"/>
    <p:sldId id="328" r:id="rId57"/>
    <p:sldId id="293" r:id="rId58"/>
    <p:sldId id="329" r:id="rId59"/>
    <p:sldId id="330" r:id="rId60"/>
    <p:sldId id="331" r:id="rId61"/>
    <p:sldId id="332" r:id="rId62"/>
    <p:sldId id="333" r:id="rId63"/>
    <p:sldId id="334" r:id="rId64"/>
    <p:sldId id="335" r:id="rId65"/>
    <p:sldId id="336" r:id="rId66"/>
    <p:sldId id="337" r:id="rId67"/>
    <p:sldId id="338" r:id="rId68"/>
    <p:sldId id="339" r:id="rId69"/>
    <p:sldId id="340" r:id="rId70"/>
    <p:sldId id="341" r:id="rId71"/>
    <p:sldId id="342" r:id="rId72"/>
    <p:sldId id="343" r:id="rId73"/>
    <p:sldId id="344" r:id="rId74"/>
    <p:sldId id="345" r:id="rId75"/>
    <p:sldId id="346" r:id="rId76"/>
    <p:sldId id="347" r:id="rId77"/>
    <p:sldId id="353" r:id="rId78"/>
    <p:sldId id="354" r:id="rId79"/>
    <p:sldId id="363" r:id="rId80"/>
    <p:sldId id="364" r:id="rId81"/>
    <p:sldId id="355" r:id="rId82"/>
    <p:sldId id="365" r:id="rId83"/>
    <p:sldId id="366" r:id="rId84"/>
    <p:sldId id="360" r:id="rId85"/>
    <p:sldId id="348" r:id="rId86"/>
    <p:sldId id="349" r:id="rId87"/>
    <p:sldId id="367" r:id="rId88"/>
    <p:sldId id="350" r:id="rId89"/>
    <p:sldId id="351" r:id="rId90"/>
    <p:sldId id="352" r:id="rId91"/>
    <p:sldId id="356" r:id="rId92"/>
    <p:sldId id="357" r:id="rId93"/>
    <p:sldId id="361" r:id="rId94"/>
    <p:sldId id="368" r:id="rId95"/>
    <p:sldId id="369" r:id="rId96"/>
    <p:sldId id="370" r:id="rId97"/>
    <p:sldId id="371" r:id="rId98"/>
    <p:sldId id="372" r:id="rId99"/>
    <p:sldId id="373" r:id="rId10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551D0-7F38-9846-A7B8-8A2D122F5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CAE89-49BD-1FBD-DD66-CBCF815FD2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Module </a:t>
            </a:r>
            <a:r>
              <a:rPr lang="en-IN" dirty="0"/>
              <a:t>2</a:t>
            </a:r>
            <a:endParaRPr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4068353-4A83-1D77-7E10-F1274F1CF1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328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Pointers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9609644-118F-063A-7F3C-EE973FCEE8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Pointer?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800" dirty="0"/>
              <a:t>A pointer is a variable that stores the memory address of another variable.</a:t>
            </a:r>
          </a:p>
          <a:p>
            <a:pPr lvl="1">
              <a:defRPr sz="1600"/>
            </a:pPr>
            <a:r>
              <a:rPr sz="2400" dirty="0"/>
              <a:t>Example:</a:t>
            </a:r>
          </a:p>
          <a:p>
            <a:pPr lvl="1">
              <a:defRPr sz="1600"/>
            </a:pPr>
            <a:r>
              <a:rPr sz="2400" dirty="0"/>
              <a:t>int a = 10;</a:t>
            </a:r>
          </a:p>
          <a:p>
            <a:pPr lvl="1">
              <a:defRPr sz="1600"/>
            </a:pPr>
            <a:r>
              <a:rPr sz="2400" dirty="0"/>
              <a:t>int *p;</a:t>
            </a:r>
          </a:p>
          <a:p>
            <a:pPr lvl="1">
              <a:defRPr sz="1600"/>
            </a:pPr>
            <a:r>
              <a:rPr sz="2400" dirty="0"/>
              <a:t>p = &amp;a;</a:t>
            </a:r>
          </a:p>
          <a:p>
            <a:pPr lvl="1">
              <a:defRPr sz="1600"/>
            </a:pPr>
            <a:r>
              <a:rPr sz="2400" dirty="0"/>
              <a:t>a contains 10, p contains address of a, *p gives the value at that address.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dirty="0"/>
              <a:t>Why Pointers Are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8866"/>
            <a:ext cx="8229600" cy="488729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1. Direct Memory Access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	C gives low-level memory control. Pointers allow direct access to memory.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2. Call-by-Reference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	Without pointers, functions cannot modify original variables.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3. Efficient Array Manipulation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	Pointers allow fast traversal: *(</a:t>
            </a:r>
            <a:r>
              <a:rPr lang="en-US" dirty="0" err="1"/>
              <a:t>arr</a:t>
            </a:r>
            <a:r>
              <a:rPr lang="en-US" dirty="0"/>
              <a:t> + </a:t>
            </a:r>
            <a:r>
              <a:rPr lang="en-US" dirty="0" err="1"/>
              <a:t>i</a:t>
            </a:r>
            <a:r>
              <a:rPr lang="en-US" dirty="0"/>
              <a:t>) equals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].</a:t>
            </a:r>
            <a:endParaRPr lang="en-IN" dirty="0"/>
          </a:p>
          <a:p>
            <a:pPr marL="0" indent="0">
              <a:buNone/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EF761-6E5B-688C-2225-1DFDB283D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D561C-1686-88E3-ED85-9CD5E8FB3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dirty="0"/>
              <a:t>Why Pointers Are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E6368-93D9-B676-6A95-355BF57B6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8866"/>
            <a:ext cx="8229600" cy="488729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4. Dynamic Memory Allocation</a:t>
            </a:r>
            <a:endParaRPr lang="en-IN" dirty="0"/>
          </a:p>
          <a:p>
            <a:pPr marL="457200" lvl="1" indent="0">
              <a:buNone/>
            </a:pPr>
            <a:r>
              <a:rPr lang="en-US" dirty="0"/>
              <a:t>Functions like malloc(), </a:t>
            </a:r>
            <a:r>
              <a:rPr lang="en-US" dirty="0" err="1"/>
              <a:t>calloc</a:t>
            </a:r>
            <a:r>
              <a:rPr lang="en-US" dirty="0"/>
              <a:t>(), </a:t>
            </a:r>
            <a:r>
              <a:rPr lang="en-US" dirty="0" err="1"/>
              <a:t>realloc</a:t>
            </a:r>
            <a:r>
              <a:rPr lang="en-US" dirty="0"/>
              <a:t>() return pointers.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5. Data Structures</a:t>
            </a:r>
            <a:endParaRPr lang="en-IN" dirty="0"/>
          </a:p>
          <a:p>
            <a:pPr marL="457200" lvl="1" indent="0">
              <a:buNone/>
            </a:pPr>
            <a:r>
              <a:rPr lang="en-US" dirty="0"/>
              <a:t>Linked lists, trees, graphs require pointers.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6. Function Pointers</a:t>
            </a:r>
            <a:endParaRPr lang="en-IN" dirty="0"/>
          </a:p>
          <a:p>
            <a:pPr marL="457200" lvl="1" indent="0">
              <a:buNone/>
            </a:pPr>
            <a:r>
              <a:rPr lang="en-US" dirty="0"/>
              <a:t>Used for callbacks, event handling, interrupt handlers.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7. Hardware / System-Level Programming</a:t>
            </a:r>
            <a:endParaRPr lang="en-IN" dirty="0"/>
          </a:p>
          <a:p>
            <a:pPr marL="457200" lvl="1" indent="0">
              <a:buNone/>
            </a:pPr>
            <a:r>
              <a:rPr lang="en-US" dirty="0"/>
              <a:t>Pointers are essential for OS, embedded systems, drivers,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2987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6807"/>
          </a:xfrm>
        </p:spPr>
        <p:txBody>
          <a:bodyPr>
            <a:normAutofit fontScale="90000"/>
          </a:bodyPr>
          <a:lstStyle/>
          <a:p>
            <a:r>
              <a:rPr dirty="0"/>
              <a:t>Pointer Declaration &amp; Dereferencing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37420"/>
            <a:ext cx="8229600" cy="5845942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sz="2800" dirty="0"/>
              <a:t>Syntax:</a:t>
            </a:r>
          </a:p>
          <a:p>
            <a:pPr marL="457200" lvl="1" indent="0">
              <a:buNone/>
              <a:defRPr sz="1600"/>
            </a:pPr>
            <a:r>
              <a:rPr sz="2400" dirty="0"/>
              <a:t>int *p;   // pointer to int</a:t>
            </a:r>
          </a:p>
          <a:p>
            <a:pPr marL="457200" lvl="1" indent="0">
              <a:buNone/>
              <a:defRPr sz="1600"/>
            </a:pPr>
            <a:r>
              <a:rPr sz="2400" dirty="0"/>
              <a:t>float *f; // pointer to float</a:t>
            </a:r>
          </a:p>
          <a:p>
            <a:pPr marL="457200" lvl="1" indent="0">
              <a:buNone/>
              <a:defRPr sz="1600"/>
            </a:pPr>
            <a:r>
              <a:rPr sz="2400" dirty="0"/>
              <a:t>char *c;  // pointer to char</a:t>
            </a:r>
          </a:p>
          <a:p>
            <a:pPr marL="457200" lvl="1" indent="0">
              <a:buNone/>
              <a:defRPr sz="1600"/>
            </a:pPr>
            <a:r>
              <a:rPr sz="2400" dirty="0"/>
              <a:t>Example:</a:t>
            </a:r>
          </a:p>
          <a:p>
            <a:pPr marL="457200" lvl="1" indent="0">
              <a:buNone/>
              <a:defRPr sz="1600"/>
            </a:pPr>
            <a:r>
              <a:rPr sz="2400" dirty="0"/>
              <a:t>int a = 5;</a:t>
            </a:r>
          </a:p>
          <a:p>
            <a:pPr marL="457200" lvl="1" indent="0">
              <a:buNone/>
              <a:defRPr sz="1600"/>
            </a:pPr>
            <a:r>
              <a:rPr sz="2400" dirty="0"/>
              <a:t>int *p = &amp;a;</a:t>
            </a:r>
          </a:p>
          <a:p>
            <a:pPr marL="457200" lvl="1" indent="0">
              <a:buNone/>
              <a:defRPr sz="1600"/>
            </a:pPr>
            <a:r>
              <a:rPr sz="2400" dirty="0" err="1"/>
              <a:t>printf</a:t>
            </a:r>
            <a:r>
              <a:rPr sz="2400" dirty="0"/>
              <a:t>("%d", *p);  // prints 5</a:t>
            </a:r>
            <a:endParaRPr lang="en-IN" sz="2400" dirty="0"/>
          </a:p>
          <a:p>
            <a:pPr marL="457200" lvl="1" indent="0">
              <a:buNone/>
              <a:defRPr sz="1600"/>
            </a:pPr>
            <a:endParaRPr lang="en-IN" sz="2400" dirty="0"/>
          </a:p>
          <a:p>
            <a:r>
              <a:rPr lang="en-US" dirty="0"/>
              <a:t>&amp; a → address of variable a</a:t>
            </a:r>
            <a:endParaRPr lang="en-IN" dirty="0"/>
          </a:p>
          <a:p>
            <a:r>
              <a:rPr lang="en-US" dirty="0"/>
              <a:t>* p → value at that memory location (dereferencing)</a:t>
            </a:r>
            <a:endParaRPr lang="en-IN" dirty="0"/>
          </a:p>
          <a:p>
            <a:pPr marL="457200" lvl="1" indent="0">
              <a:buNone/>
              <a:defRPr sz="1600"/>
            </a:pPr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Example memory: a = 10 at address 1000; p holds 1000.</a:t>
            </a:r>
          </a:p>
          <a:p>
            <a:pPr lvl="1">
              <a:defRPr sz="1600"/>
            </a:pPr>
            <a:r>
              <a:rPr sz="2000" dirty="0"/>
              <a:t>a: [10] at 1000</a:t>
            </a:r>
          </a:p>
          <a:p>
            <a:pPr lvl="1">
              <a:defRPr sz="1600"/>
            </a:pPr>
            <a:r>
              <a:rPr sz="2000" dirty="0"/>
              <a:t>p: [1000] at 2000</a:t>
            </a:r>
          </a:p>
          <a:p>
            <a:pPr lvl="1">
              <a:defRPr sz="1600"/>
            </a:pPr>
            <a:r>
              <a:rPr sz="2000" dirty="0"/>
              <a:t>*p follows the address stored in p and reads 10.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107BAE-647C-10E9-F795-F43B59CE84EC}"/>
              </a:ext>
            </a:extLst>
          </p:cNvPr>
          <p:cNvSpPr/>
          <p:nvPr/>
        </p:nvSpPr>
        <p:spPr>
          <a:xfrm>
            <a:off x="884903" y="4262284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02390E-0790-5EFC-6089-75B7A949E98D}"/>
              </a:ext>
            </a:extLst>
          </p:cNvPr>
          <p:cNvSpPr/>
          <p:nvPr/>
        </p:nvSpPr>
        <p:spPr>
          <a:xfrm>
            <a:off x="3657600" y="4262284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CEC857-E851-BA79-8957-81D0ECC5D35A}"/>
              </a:ext>
            </a:extLst>
          </p:cNvPr>
          <p:cNvSpPr txBox="1"/>
          <p:nvPr/>
        </p:nvSpPr>
        <p:spPr>
          <a:xfrm>
            <a:off x="1061884" y="528209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43C0AD-DB0B-C702-2E89-DBA0835F38E1}"/>
              </a:ext>
            </a:extLst>
          </p:cNvPr>
          <p:cNvSpPr txBox="1"/>
          <p:nvPr/>
        </p:nvSpPr>
        <p:spPr>
          <a:xfrm>
            <a:off x="3788428" y="531929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64A8DF-7C14-297B-282B-EBB974D2DC70}"/>
              </a:ext>
            </a:extLst>
          </p:cNvPr>
          <p:cNvSpPr txBox="1"/>
          <p:nvPr/>
        </p:nvSpPr>
        <p:spPr>
          <a:xfrm>
            <a:off x="1015731" y="3801671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a=10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D6928C-75BC-CAF5-038C-15A9E4320FFB}"/>
              </a:ext>
            </a:extLst>
          </p:cNvPr>
          <p:cNvSpPr txBox="1"/>
          <p:nvPr/>
        </p:nvSpPr>
        <p:spPr>
          <a:xfrm>
            <a:off x="3784420" y="3750384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P=&amp;a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294FE9-A44F-DC0A-77AF-E43EAB81F854}"/>
              </a:ext>
            </a:extLst>
          </p:cNvPr>
          <p:cNvSpPr txBox="1"/>
          <p:nvPr/>
        </p:nvSpPr>
        <p:spPr>
          <a:xfrm>
            <a:off x="734100" y="5617806"/>
            <a:ext cx="1395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Address of 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D1B951-E111-5766-3FA1-767E49283D42}"/>
              </a:ext>
            </a:extLst>
          </p:cNvPr>
          <p:cNvSpPr txBox="1"/>
          <p:nvPr/>
        </p:nvSpPr>
        <p:spPr>
          <a:xfrm>
            <a:off x="2921754" y="5626801"/>
            <a:ext cx="2693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address of pointer variable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Null Pointer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A pointer that does not point to any valid memory location.</a:t>
            </a:r>
          </a:p>
          <a:p>
            <a:pPr lvl="1">
              <a:defRPr sz="1600"/>
            </a:pPr>
            <a:r>
              <a:rPr sz="2400" dirty="0"/>
              <a:t>int *p = NULL;</a:t>
            </a:r>
          </a:p>
          <a:p>
            <a:pPr lvl="1">
              <a:defRPr sz="1600"/>
            </a:pPr>
            <a:r>
              <a:rPr sz="2400" dirty="0"/>
              <a:t>if (p == NULL) </a:t>
            </a:r>
            <a:r>
              <a:rPr sz="2400" dirty="0" err="1"/>
              <a:t>printf</a:t>
            </a:r>
            <a:r>
              <a:rPr sz="2400" dirty="0"/>
              <a:t>("Pointer is empty");</a:t>
            </a:r>
          </a:p>
          <a:p>
            <a:pPr lvl="1">
              <a:defRPr sz="1600"/>
            </a:pPr>
            <a:r>
              <a:rPr sz="2400" dirty="0"/>
              <a:t>Useful for safety checks before dereferencing.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Pointer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4342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sz="2600" dirty="0"/>
              <a:t>Allowed operations: p+1, p-1, p++, p--.</a:t>
            </a:r>
          </a:p>
          <a:p>
            <a:pPr lvl="1">
              <a:defRPr sz="1600"/>
            </a:pPr>
            <a:r>
              <a:rPr sz="2600" dirty="0"/>
              <a:t>Pointer moves in steps of its data type size.</a:t>
            </a:r>
          </a:p>
          <a:p>
            <a:pPr lvl="1">
              <a:defRPr sz="1600"/>
            </a:pPr>
            <a:r>
              <a:rPr sz="2600" dirty="0"/>
              <a:t>Example:</a:t>
            </a:r>
          </a:p>
          <a:p>
            <a:pPr marL="457200" lvl="1" indent="0">
              <a:buNone/>
              <a:defRPr sz="1600"/>
            </a:pPr>
            <a:r>
              <a:rPr lang="en-IN" sz="2600" dirty="0"/>
              <a:t>	</a:t>
            </a:r>
            <a:r>
              <a:rPr sz="2600" dirty="0"/>
              <a:t>int </a:t>
            </a:r>
            <a:r>
              <a:rPr sz="2600" dirty="0" err="1"/>
              <a:t>arr</a:t>
            </a:r>
            <a:r>
              <a:rPr sz="2600" dirty="0"/>
              <a:t>[3] = {10,20,30};</a:t>
            </a:r>
          </a:p>
          <a:p>
            <a:pPr marL="457200" lvl="1" indent="0">
              <a:buNone/>
              <a:defRPr sz="1600"/>
            </a:pPr>
            <a:r>
              <a:rPr lang="en-IN" sz="2600" dirty="0"/>
              <a:t>	</a:t>
            </a:r>
            <a:r>
              <a:rPr sz="2600" dirty="0"/>
              <a:t>int *p = </a:t>
            </a:r>
            <a:r>
              <a:rPr sz="2600" dirty="0" err="1"/>
              <a:t>arr</a:t>
            </a:r>
            <a:r>
              <a:rPr sz="2600" dirty="0"/>
              <a:t>;</a:t>
            </a:r>
          </a:p>
          <a:p>
            <a:pPr marL="457200" lvl="1" indent="0">
              <a:buNone/>
              <a:defRPr sz="1600"/>
            </a:pPr>
            <a:r>
              <a:rPr lang="en-IN" sz="2600" dirty="0"/>
              <a:t>	</a:t>
            </a:r>
            <a:r>
              <a:rPr sz="2600" dirty="0" err="1"/>
              <a:t>printf</a:t>
            </a:r>
            <a:r>
              <a:rPr sz="2600" dirty="0"/>
              <a:t>("%d ", *p);   // 10</a:t>
            </a:r>
          </a:p>
          <a:p>
            <a:pPr marL="457200" lvl="1" indent="0">
              <a:buNone/>
              <a:defRPr sz="1600"/>
            </a:pPr>
            <a:r>
              <a:rPr lang="en-IN" sz="2600" dirty="0"/>
              <a:t>	</a:t>
            </a:r>
            <a:r>
              <a:rPr sz="2600" dirty="0"/>
              <a:t>p++;</a:t>
            </a:r>
          </a:p>
          <a:p>
            <a:pPr marL="457200" lvl="1" indent="0">
              <a:buNone/>
              <a:defRPr sz="1600"/>
            </a:pPr>
            <a:r>
              <a:rPr lang="en-IN" sz="2600" dirty="0"/>
              <a:t>	</a:t>
            </a:r>
            <a:r>
              <a:rPr sz="2600" dirty="0" err="1"/>
              <a:t>printf</a:t>
            </a:r>
            <a:r>
              <a:rPr sz="2600" dirty="0"/>
              <a:t>("%d ", *p);   // 20</a:t>
            </a:r>
            <a:endParaRPr lang="en-IN" sz="2600" dirty="0"/>
          </a:p>
          <a:p>
            <a:pPr marL="457200" lvl="1" indent="0">
              <a:buNone/>
              <a:defRPr sz="1600"/>
            </a:pPr>
            <a:endParaRPr lang="en-IN" sz="2600" dirty="0"/>
          </a:p>
          <a:p>
            <a:pPr marL="457200" lvl="1" indent="0">
              <a:buNone/>
              <a:defRPr sz="1600"/>
            </a:pPr>
            <a:r>
              <a:rPr lang="en-US" sz="2000" dirty="0"/>
              <a:t>If int = 4 bytes, then p++ moves 4 bytes forward.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Pointers and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Arrays and pointers are closely related.</a:t>
            </a:r>
            <a:endParaRPr lang="en-IN" dirty="0"/>
          </a:p>
          <a:p>
            <a:r>
              <a:rPr lang="en-US" dirty="0"/>
              <a:t>Important rules: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US" dirty="0" err="1"/>
              <a:t>arr</a:t>
            </a:r>
            <a:r>
              <a:rPr lang="en-US" dirty="0"/>
              <a:t> is a constant pointer to the first element.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== *(</a:t>
            </a:r>
            <a:r>
              <a:rPr lang="en-US" dirty="0" err="1"/>
              <a:t>arr</a:t>
            </a:r>
            <a:r>
              <a:rPr lang="en-US" dirty="0"/>
              <a:t> + </a:t>
            </a:r>
            <a:r>
              <a:rPr lang="en-US" dirty="0" err="1"/>
              <a:t>i</a:t>
            </a:r>
            <a:r>
              <a:rPr lang="en-US" dirty="0"/>
              <a:t>)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Example: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arr</a:t>
            </a:r>
            <a:r>
              <a:rPr lang="en-US" dirty="0"/>
              <a:t>[3] = {5, 10, 15};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	int *p = </a:t>
            </a:r>
            <a:r>
              <a:rPr lang="en-US" dirty="0" err="1"/>
              <a:t>arr</a:t>
            </a:r>
            <a:r>
              <a:rPr lang="en-US" dirty="0"/>
              <a:t>;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("%d", *(p+2));  // 15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Pointer to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3000" dirty="0"/>
              <a:t>Pointer to the entire array:</a:t>
            </a:r>
          </a:p>
          <a:p>
            <a:pPr marL="457200" lvl="1" indent="0">
              <a:buNone/>
              <a:defRPr sz="1600"/>
            </a:pPr>
            <a:r>
              <a:rPr lang="en-IN" sz="3000" dirty="0"/>
              <a:t>	</a:t>
            </a:r>
            <a:r>
              <a:rPr sz="3000" dirty="0"/>
              <a:t>int </a:t>
            </a:r>
            <a:r>
              <a:rPr sz="3000" dirty="0" err="1"/>
              <a:t>arr</a:t>
            </a:r>
            <a:r>
              <a:rPr sz="3000" dirty="0"/>
              <a:t>[3] = {1,2,3};</a:t>
            </a:r>
          </a:p>
          <a:p>
            <a:pPr marL="457200" lvl="1" indent="0">
              <a:buNone/>
              <a:defRPr sz="1600"/>
            </a:pPr>
            <a:r>
              <a:rPr lang="en-IN" sz="3000" dirty="0"/>
              <a:t>	</a:t>
            </a:r>
            <a:r>
              <a:rPr sz="3000" dirty="0"/>
              <a:t>int (*p)[3] = &amp;</a:t>
            </a:r>
            <a:r>
              <a:rPr sz="3000" dirty="0" err="1"/>
              <a:t>arr</a:t>
            </a:r>
            <a:r>
              <a:rPr sz="3000" dirty="0"/>
              <a:t>;</a:t>
            </a:r>
          </a:p>
          <a:p>
            <a:pPr marL="457200" lvl="1" indent="0">
              <a:buNone/>
              <a:defRPr sz="1600"/>
            </a:pPr>
            <a:r>
              <a:rPr lang="en-IN" sz="3000" dirty="0"/>
              <a:t>	</a:t>
            </a:r>
            <a:r>
              <a:rPr sz="3000" dirty="0" err="1"/>
              <a:t>printf</a:t>
            </a:r>
            <a:r>
              <a:rPr sz="3000" dirty="0"/>
              <a:t>("%d", (*p)[1]); //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Passing Pointers to Functions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 sz="1800"/>
            </a:pPr>
            <a:r>
              <a:rPr sz="2800" dirty="0"/>
              <a:t>Call by Value: copy of variable is passed.</a:t>
            </a:r>
            <a:endParaRPr lang="en-IN" sz="2800" dirty="0"/>
          </a:p>
          <a:p>
            <a:pPr marL="0" indent="0">
              <a:buNone/>
              <a:defRPr sz="1800"/>
            </a:pPr>
            <a:r>
              <a:rPr lang="en-IN" sz="2800" dirty="0"/>
              <a:t>void change(int x) </a:t>
            </a:r>
          </a:p>
          <a:p>
            <a:pPr marL="0" indent="0">
              <a:buNone/>
              <a:defRPr sz="1800"/>
            </a:pPr>
            <a:r>
              <a:rPr lang="en-IN" sz="2800" dirty="0"/>
              <a:t>{</a:t>
            </a:r>
          </a:p>
          <a:p>
            <a:pPr marL="0" indent="0">
              <a:buNone/>
              <a:defRPr sz="1800"/>
            </a:pPr>
            <a:r>
              <a:rPr lang="en-IN" sz="2800" dirty="0"/>
              <a:t>    x = 100;</a:t>
            </a:r>
          </a:p>
          <a:p>
            <a:pPr marL="0" indent="0">
              <a:buNone/>
              <a:defRPr sz="1800"/>
            </a:pPr>
            <a:r>
              <a:rPr lang="en-IN" sz="2800" dirty="0"/>
              <a:t>}</a:t>
            </a:r>
          </a:p>
          <a:p>
            <a:pPr marL="0" indent="0">
              <a:buNone/>
              <a:defRPr sz="1800"/>
            </a:pPr>
            <a:endParaRPr lang="en-IN" sz="2800" dirty="0"/>
          </a:p>
          <a:p>
            <a:pPr marL="0" indent="0">
              <a:buNone/>
              <a:defRPr sz="1800"/>
            </a:pPr>
            <a:r>
              <a:rPr lang="en-IN" sz="2800" dirty="0"/>
              <a:t>int main() {</a:t>
            </a:r>
          </a:p>
          <a:p>
            <a:pPr marL="0" indent="0">
              <a:buNone/>
              <a:defRPr sz="1800"/>
            </a:pPr>
            <a:r>
              <a:rPr lang="en-IN" sz="2800" dirty="0"/>
              <a:t>    int a = 10;</a:t>
            </a:r>
          </a:p>
          <a:p>
            <a:pPr marL="0" indent="0">
              <a:buNone/>
              <a:defRPr sz="1800"/>
            </a:pPr>
            <a:r>
              <a:rPr lang="en-IN" sz="2800" dirty="0"/>
              <a:t>    change(a);</a:t>
            </a:r>
          </a:p>
          <a:p>
            <a:pPr marL="0" indent="0">
              <a:buNone/>
              <a:defRPr sz="1800"/>
            </a:pPr>
            <a:r>
              <a:rPr lang="en-IN" sz="2800" dirty="0"/>
              <a:t>    </a:t>
            </a:r>
            <a:r>
              <a:rPr lang="en-IN" sz="2800" dirty="0" err="1"/>
              <a:t>printf</a:t>
            </a:r>
            <a:r>
              <a:rPr lang="en-IN" sz="2800" dirty="0"/>
              <a:t>("%d", a); // 10</a:t>
            </a:r>
          </a:p>
          <a:p>
            <a:pPr marL="0" indent="0">
              <a:buNone/>
              <a:defRPr sz="1800"/>
            </a:pPr>
            <a:r>
              <a:rPr lang="en-IN" sz="2800" dirty="0"/>
              <a:t>}</a:t>
            </a:r>
          </a:p>
          <a:p>
            <a:pPr marL="0" indent="0">
              <a:buNone/>
              <a:defRPr sz="1800"/>
            </a:pPr>
            <a:endParaRPr lang="en-IN" sz="2800" dirty="0"/>
          </a:p>
          <a:p>
            <a:pPr marL="0" indent="0">
              <a:buNone/>
              <a:defRPr sz="1800"/>
            </a:pPr>
            <a:r>
              <a:rPr lang="en-US" sz="2600" dirty="0"/>
              <a:t>Here, only a copy of a is modified.</a:t>
            </a:r>
            <a:endParaRPr lang="en-IN" sz="2600" dirty="0"/>
          </a:p>
          <a:p>
            <a:pPr marL="0" indent="0">
              <a:buNone/>
              <a:defRPr sz="1800"/>
            </a:pPr>
            <a:endParaRPr lang="en-IN" sz="2800" dirty="0"/>
          </a:p>
          <a:p>
            <a:pPr marL="0" indent="0">
              <a:buNone/>
              <a:defRPr sz="1800"/>
            </a:pPr>
            <a:endParaRPr lang="en-IN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39FF0-EAC4-12CE-06D6-DF3737394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A6EAA-24A4-BBE2-708B-187EB55A3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Passing Pointers to Functions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FBFBD-8839-8038-606B-D2495345F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US" sz="2800" dirty="0"/>
              <a:t>Call by Reference: address is passed.</a:t>
            </a:r>
          </a:p>
          <a:p>
            <a:pPr marL="457200" lvl="1" indent="0">
              <a:buNone/>
              <a:defRPr sz="1600"/>
            </a:pPr>
            <a:r>
              <a:rPr lang="en-IN" sz="2400" dirty="0"/>
              <a:t>void change(int *p) </a:t>
            </a:r>
          </a:p>
          <a:p>
            <a:pPr marL="457200" lvl="1" indent="0">
              <a:buNone/>
              <a:defRPr sz="1600"/>
            </a:pPr>
            <a:r>
              <a:rPr lang="en-IN" sz="2400" dirty="0"/>
              <a:t>{</a:t>
            </a:r>
          </a:p>
          <a:p>
            <a:pPr marL="457200" lvl="1" indent="0">
              <a:buNone/>
              <a:defRPr sz="1600"/>
            </a:pPr>
            <a:r>
              <a:rPr lang="en-IN" sz="2400" dirty="0"/>
              <a:t>    *p = 100;</a:t>
            </a:r>
          </a:p>
          <a:p>
            <a:pPr marL="457200" lvl="1" indent="0">
              <a:buNone/>
              <a:defRPr sz="1600"/>
            </a:pPr>
            <a:r>
              <a:rPr lang="en-IN" sz="2400" dirty="0"/>
              <a:t>}</a:t>
            </a:r>
          </a:p>
          <a:p>
            <a:pPr marL="457200" lvl="1" indent="0">
              <a:buNone/>
              <a:defRPr sz="1600"/>
            </a:pPr>
            <a:r>
              <a:rPr lang="en-IN" sz="2400" dirty="0"/>
              <a:t>int main() {</a:t>
            </a:r>
          </a:p>
          <a:p>
            <a:pPr marL="457200" lvl="1" indent="0">
              <a:buNone/>
              <a:defRPr sz="1600"/>
            </a:pPr>
            <a:r>
              <a:rPr lang="en-IN" sz="2400" dirty="0"/>
              <a:t>    int a = 10;</a:t>
            </a:r>
          </a:p>
          <a:p>
            <a:pPr marL="457200" lvl="1" indent="0">
              <a:buNone/>
              <a:defRPr sz="1600"/>
            </a:pPr>
            <a:r>
              <a:rPr lang="en-IN" sz="2400" dirty="0"/>
              <a:t>    change(&amp;a);</a:t>
            </a:r>
          </a:p>
          <a:p>
            <a:pPr marL="457200" lvl="1" indent="0">
              <a:buNone/>
              <a:defRPr sz="1600"/>
            </a:pPr>
            <a:r>
              <a:rPr lang="en-IN" sz="2400" dirty="0"/>
              <a:t>    </a:t>
            </a:r>
            <a:r>
              <a:rPr lang="en-IN" sz="2400" dirty="0" err="1"/>
              <a:t>printf</a:t>
            </a:r>
            <a:r>
              <a:rPr lang="en-IN" sz="2400" dirty="0"/>
              <a:t>("%d", a); // 100</a:t>
            </a:r>
          </a:p>
          <a:p>
            <a:pPr marL="457200" lvl="1" indent="0">
              <a:buNone/>
              <a:defRPr sz="1600"/>
            </a:pPr>
            <a:r>
              <a:rPr lang="en-IN" sz="2400" dirty="0"/>
              <a:t>}</a:t>
            </a:r>
          </a:p>
          <a:p>
            <a:pPr marL="457200" lvl="1" indent="0">
              <a:buNone/>
              <a:defRPr sz="1600"/>
            </a:pPr>
            <a:endParaRPr lang="en-IN" sz="2400" dirty="0"/>
          </a:p>
          <a:p>
            <a:pPr marL="457200" lvl="1" indent="0">
              <a:buNone/>
              <a:defRPr sz="1600"/>
            </a:pPr>
            <a:endParaRPr lang="en-IN" sz="2400" dirty="0"/>
          </a:p>
          <a:p>
            <a:pPr marL="457200" lvl="1" indent="0">
              <a:buNone/>
              <a:defRPr sz="1600"/>
            </a:pPr>
            <a:endParaRPr lang="en-IN" sz="2400" dirty="0"/>
          </a:p>
          <a:p>
            <a:pPr marL="457200" lvl="1" indent="0">
              <a:buNone/>
              <a:defRPr sz="1600"/>
            </a:pPr>
            <a:endParaRPr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52235C-E8C6-F27C-4E4A-E722A89DB75B}"/>
              </a:ext>
            </a:extLst>
          </p:cNvPr>
          <p:cNvSpPr txBox="1"/>
          <p:nvPr/>
        </p:nvSpPr>
        <p:spPr>
          <a:xfrm>
            <a:off x="4704736" y="4454730"/>
            <a:ext cx="4572000" cy="1724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Latha" panose="020B0604020202020204" pitchFamily="34" charset="0"/>
              </a:rPr>
              <a:t>Explanation:</a:t>
            </a:r>
            <a:endParaRPr lang="en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Latha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Latha" panose="020B0604020202020204" pitchFamily="34" charset="0"/>
              </a:rPr>
              <a:t>- &amp;a → address of a</a:t>
            </a:r>
            <a:endParaRPr lang="en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Latha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Latha" panose="020B0604020202020204" pitchFamily="34" charset="0"/>
              </a:rPr>
              <a:t>- p → receives the address</a:t>
            </a:r>
            <a:endParaRPr lang="en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Latha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Latha" panose="020B0604020202020204" pitchFamily="34" charset="0"/>
              </a:rPr>
              <a:t>- *p = 100 → modifies actual variable</a:t>
            </a:r>
            <a:endParaRPr lang="en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Lath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8021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Pointers and Functions (Pointer Parameters)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lang="en-US" sz="2400" u="sng" dirty="0"/>
              <a:t>Swap Using Pointers</a:t>
            </a:r>
            <a:endParaRPr lang="en-IN" sz="2200" u="sng" dirty="0"/>
          </a:p>
          <a:p>
            <a:pPr marL="0" indent="0">
              <a:buNone/>
              <a:defRPr sz="1800"/>
            </a:pPr>
            <a:r>
              <a:rPr lang="en-IN" sz="2200" dirty="0"/>
              <a:t>void swap(int *x, int *y) {</a:t>
            </a:r>
          </a:p>
          <a:p>
            <a:pPr marL="0" indent="0">
              <a:buNone/>
              <a:defRPr sz="1800"/>
            </a:pPr>
            <a:r>
              <a:rPr lang="en-IN" sz="2200" dirty="0"/>
              <a:t>    int temp = *x;</a:t>
            </a:r>
          </a:p>
          <a:p>
            <a:pPr marL="0" indent="0">
              <a:buNone/>
              <a:defRPr sz="1800"/>
            </a:pPr>
            <a:r>
              <a:rPr lang="en-IN" sz="2200" dirty="0"/>
              <a:t>    *x = *y;</a:t>
            </a:r>
          </a:p>
          <a:p>
            <a:pPr marL="0" indent="0">
              <a:buNone/>
              <a:defRPr sz="1800"/>
            </a:pPr>
            <a:r>
              <a:rPr lang="en-IN" sz="2200" dirty="0"/>
              <a:t>    *y = temp;</a:t>
            </a:r>
          </a:p>
          <a:p>
            <a:pPr marL="0" indent="0">
              <a:buNone/>
              <a:defRPr sz="1800"/>
            </a:pPr>
            <a:r>
              <a:rPr lang="en-IN" sz="2200" dirty="0"/>
              <a:t>}</a:t>
            </a:r>
          </a:p>
          <a:p>
            <a:pPr marL="0" indent="0">
              <a:buNone/>
              <a:defRPr sz="1800"/>
            </a:pPr>
            <a:r>
              <a:rPr lang="en-IN" sz="2200" dirty="0"/>
              <a:t>int main() {</a:t>
            </a:r>
          </a:p>
          <a:p>
            <a:pPr marL="0" indent="0">
              <a:buNone/>
              <a:defRPr sz="1800"/>
            </a:pPr>
            <a:r>
              <a:rPr lang="en-IN" sz="2200" dirty="0"/>
              <a:t>    int a = 5, b = 10;</a:t>
            </a:r>
          </a:p>
          <a:p>
            <a:pPr marL="0" indent="0">
              <a:buNone/>
              <a:defRPr sz="1800"/>
            </a:pPr>
            <a:r>
              <a:rPr lang="en-IN" sz="2200" dirty="0"/>
              <a:t>    swap(&amp;a, &amp;b);</a:t>
            </a:r>
          </a:p>
          <a:p>
            <a:pPr marL="0" indent="0">
              <a:buNone/>
              <a:defRPr sz="1800"/>
            </a:pPr>
            <a:r>
              <a:rPr lang="en-IN" sz="2200" dirty="0"/>
              <a:t>    </a:t>
            </a:r>
            <a:r>
              <a:rPr lang="en-IN" sz="2200" dirty="0" err="1"/>
              <a:t>printf</a:t>
            </a:r>
            <a:r>
              <a:rPr lang="en-IN" sz="2200" dirty="0"/>
              <a:t>("a = %d, b = %d", a, b); // a = 10, b = 5</a:t>
            </a:r>
          </a:p>
          <a:p>
            <a:pPr marL="0" indent="0">
              <a:buNone/>
              <a:defRPr sz="1800"/>
            </a:pPr>
            <a:r>
              <a:rPr lang="en-IN" sz="2200" dirty="0"/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Pointer to Pointer (Double Pointer)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A pointer storing the address of another pointer.</a:t>
            </a:r>
          </a:p>
          <a:p>
            <a:pPr lvl="1">
              <a:defRPr sz="1600"/>
            </a:pPr>
            <a:r>
              <a:rPr sz="2400" dirty="0"/>
              <a:t>int a = 10;</a:t>
            </a:r>
          </a:p>
          <a:p>
            <a:pPr lvl="1">
              <a:defRPr sz="1600"/>
            </a:pPr>
            <a:r>
              <a:rPr sz="2400" dirty="0"/>
              <a:t>int *p = &amp;a;</a:t>
            </a:r>
          </a:p>
          <a:p>
            <a:pPr lvl="1">
              <a:defRPr sz="1600"/>
            </a:pPr>
            <a:r>
              <a:rPr sz="2400" dirty="0"/>
              <a:t>int **pp = &amp;p;</a:t>
            </a:r>
          </a:p>
          <a:p>
            <a:pPr lvl="1">
              <a:defRPr sz="1600"/>
            </a:pPr>
            <a:r>
              <a:rPr sz="2400" dirty="0" err="1"/>
              <a:t>printf</a:t>
            </a:r>
            <a:r>
              <a:rPr sz="2400" dirty="0"/>
              <a:t>("%d", **pp); // 10</a:t>
            </a:r>
          </a:p>
        </p:txBody>
      </p:sp>
      <p:pic>
        <p:nvPicPr>
          <p:cNvPr id="5" name="Picture 4" descr="A diagram of a computer program">
            <a:extLst>
              <a:ext uri="{FF2B5EF4-FFF2-40B4-BE49-F238E27FC236}">
                <a16:creationId xmlns:a16="http://schemas.microsoft.com/office/drawing/2014/main" id="{209D2FD6-2363-CDA3-F0C4-2852368B6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227" y="4057022"/>
            <a:ext cx="6416316" cy="24043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54561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 sz="1800"/>
            </a:pPr>
            <a:r>
              <a:rPr sz="2400" dirty="0"/>
              <a:t>Used to store address of a function.</a:t>
            </a:r>
          </a:p>
          <a:p>
            <a:pPr marL="457200" lvl="1" indent="0">
              <a:buNone/>
              <a:defRPr sz="1600"/>
            </a:pPr>
            <a:r>
              <a:rPr sz="2400" dirty="0"/>
              <a:t>Syntax: </a:t>
            </a:r>
            <a:r>
              <a:rPr sz="2400" dirty="0" err="1"/>
              <a:t>return_type</a:t>
            </a:r>
            <a:r>
              <a:rPr sz="2400" dirty="0"/>
              <a:t> (*</a:t>
            </a:r>
            <a:r>
              <a:rPr sz="2400" dirty="0" err="1"/>
              <a:t>fp</a:t>
            </a:r>
            <a:r>
              <a:rPr sz="2400" dirty="0"/>
              <a:t>)(</a:t>
            </a:r>
            <a:r>
              <a:rPr sz="2400" dirty="0" err="1"/>
              <a:t>parameter_list</a:t>
            </a:r>
            <a:r>
              <a:rPr sz="2400" dirty="0"/>
              <a:t>);</a:t>
            </a:r>
          </a:p>
          <a:p>
            <a:pPr marL="457200" lvl="1" indent="0">
              <a:buNone/>
              <a:defRPr sz="1600"/>
            </a:pPr>
            <a:endParaRPr lang="en-IN" sz="2400" dirty="0"/>
          </a:p>
          <a:p>
            <a:pPr marL="457200" lvl="1" indent="0">
              <a:buNone/>
              <a:defRPr sz="1600"/>
            </a:pPr>
            <a:r>
              <a:rPr sz="2400" dirty="0"/>
              <a:t>Example:</a:t>
            </a:r>
          </a:p>
          <a:p>
            <a:pPr marL="457200" lvl="1" indent="0">
              <a:buNone/>
              <a:defRPr sz="1600"/>
            </a:pPr>
            <a:r>
              <a:rPr lang="en-IN" sz="2400" dirty="0"/>
              <a:t>#include &lt;</a:t>
            </a:r>
            <a:r>
              <a:rPr lang="en-IN" sz="2400" dirty="0" err="1"/>
              <a:t>stdio.h</a:t>
            </a:r>
            <a:r>
              <a:rPr lang="en-IN" sz="2400" dirty="0"/>
              <a:t>&gt;</a:t>
            </a:r>
          </a:p>
          <a:p>
            <a:pPr marL="457200" lvl="1" indent="0">
              <a:buNone/>
              <a:defRPr sz="1600"/>
            </a:pPr>
            <a:r>
              <a:rPr lang="en-IN" sz="2400" dirty="0"/>
              <a:t>void display() {</a:t>
            </a:r>
          </a:p>
          <a:p>
            <a:pPr marL="457200" lvl="1" indent="0">
              <a:buNone/>
              <a:defRPr sz="1600"/>
            </a:pPr>
            <a:r>
              <a:rPr lang="en-IN" sz="2400" dirty="0"/>
              <a:t>    </a:t>
            </a:r>
            <a:r>
              <a:rPr lang="en-IN" sz="2400" dirty="0" err="1"/>
              <a:t>printf</a:t>
            </a:r>
            <a:r>
              <a:rPr lang="en-IN" sz="2400" dirty="0"/>
              <a:t>("Hello");</a:t>
            </a:r>
          </a:p>
          <a:p>
            <a:pPr marL="457200" lvl="1" indent="0">
              <a:buNone/>
              <a:defRPr sz="1600"/>
            </a:pPr>
            <a:r>
              <a:rPr lang="en-IN" sz="2400" dirty="0"/>
              <a:t>}</a:t>
            </a:r>
          </a:p>
          <a:p>
            <a:pPr marL="457200" lvl="1" indent="0">
              <a:buNone/>
              <a:defRPr sz="1600"/>
            </a:pPr>
            <a:r>
              <a:rPr lang="en-IN" sz="2400" dirty="0"/>
              <a:t>int main() {</a:t>
            </a:r>
          </a:p>
          <a:p>
            <a:pPr marL="457200" lvl="1" indent="0">
              <a:buNone/>
              <a:defRPr sz="1600"/>
            </a:pPr>
            <a:r>
              <a:rPr lang="en-IN" sz="2400" dirty="0"/>
              <a:t>    void (*</a:t>
            </a:r>
            <a:r>
              <a:rPr lang="en-IN" sz="2400" dirty="0" err="1"/>
              <a:t>fp</a:t>
            </a:r>
            <a:r>
              <a:rPr lang="en-IN" sz="2400" dirty="0"/>
              <a:t>)() = display;</a:t>
            </a:r>
          </a:p>
          <a:p>
            <a:pPr marL="457200" lvl="1" indent="0">
              <a:buNone/>
              <a:defRPr sz="1600"/>
            </a:pPr>
            <a:r>
              <a:rPr lang="en-IN" sz="2400" dirty="0"/>
              <a:t>    </a:t>
            </a:r>
            <a:r>
              <a:rPr lang="en-IN" sz="2400" dirty="0" err="1"/>
              <a:t>fp</a:t>
            </a:r>
            <a:r>
              <a:rPr lang="en-IN" sz="2400" dirty="0"/>
              <a:t>();   // calls display()</a:t>
            </a:r>
          </a:p>
          <a:p>
            <a:pPr marL="457200" lvl="1" indent="0">
              <a:buNone/>
              <a:defRPr sz="1600"/>
            </a:pPr>
            <a:r>
              <a:rPr lang="en-IN" sz="2400" dirty="0"/>
              <a:t>}</a:t>
            </a:r>
          </a:p>
          <a:p>
            <a:pPr marL="457200" lvl="1" indent="0">
              <a:buNone/>
              <a:defRPr sz="1600"/>
            </a:pPr>
            <a:endParaRPr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Pointer with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  <a:defRPr sz="1800"/>
            </a:pPr>
            <a:r>
              <a:rPr lang="en-IN" sz="2800" dirty="0"/>
              <a:t>int add(int a, int b) </a:t>
            </a:r>
          </a:p>
          <a:p>
            <a:pPr marL="0" indent="0">
              <a:buNone/>
              <a:defRPr sz="1800"/>
            </a:pPr>
            <a:r>
              <a:rPr lang="en-IN" sz="2800" dirty="0"/>
              <a:t>{</a:t>
            </a:r>
          </a:p>
          <a:p>
            <a:pPr marL="0" indent="0">
              <a:buNone/>
              <a:defRPr sz="1800"/>
            </a:pPr>
            <a:r>
              <a:rPr lang="en-IN" sz="2800" dirty="0"/>
              <a:t>    return a + b;</a:t>
            </a:r>
          </a:p>
          <a:p>
            <a:pPr marL="0" indent="0">
              <a:buNone/>
              <a:defRPr sz="1800"/>
            </a:pPr>
            <a:r>
              <a:rPr lang="en-IN" sz="2800" dirty="0"/>
              <a:t>}</a:t>
            </a:r>
          </a:p>
          <a:p>
            <a:pPr>
              <a:defRPr sz="1800"/>
            </a:pPr>
            <a:endParaRPr lang="en-IN" sz="2800" dirty="0"/>
          </a:p>
          <a:p>
            <a:pPr marL="0" indent="0">
              <a:buNone/>
              <a:defRPr sz="1800"/>
            </a:pPr>
            <a:r>
              <a:rPr lang="en-IN" sz="2800" dirty="0"/>
              <a:t>int main()</a:t>
            </a:r>
          </a:p>
          <a:p>
            <a:pPr marL="0" indent="0">
              <a:buNone/>
              <a:defRPr sz="1800"/>
            </a:pPr>
            <a:r>
              <a:rPr lang="en-IN" sz="2800" dirty="0"/>
              <a:t> {</a:t>
            </a:r>
          </a:p>
          <a:p>
            <a:pPr marL="0" indent="0">
              <a:buNone/>
              <a:defRPr sz="1800"/>
            </a:pPr>
            <a:r>
              <a:rPr lang="en-IN" sz="2800" dirty="0"/>
              <a:t>    int (*</a:t>
            </a:r>
            <a:r>
              <a:rPr lang="en-IN" sz="2800" dirty="0" err="1"/>
              <a:t>fptr</a:t>
            </a:r>
            <a:r>
              <a:rPr lang="en-IN" sz="2800" dirty="0"/>
              <a:t>)(int, int) = add;</a:t>
            </a:r>
          </a:p>
          <a:p>
            <a:pPr marL="0" indent="0">
              <a:buNone/>
              <a:defRPr sz="1800"/>
            </a:pPr>
            <a:r>
              <a:rPr lang="en-IN" sz="2800" dirty="0"/>
              <a:t>    </a:t>
            </a:r>
            <a:r>
              <a:rPr lang="en-IN" sz="2800" dirty="0" err="1"/>
              <a:t>printf</a:t>
            </a:r>
            <a:r>
              <a:rPr lang="en-IN" sz="2800" dirty="0"/>
              <a:t>("%d", </a:t>
            </a:r>
            <a:r>
              <a:rPr lang="en-IN" sz="2800" dirty="0" err="1"/>
              <a:t>fptr</a:t>
            </a:r>
            <a:r>
              <a:rPr lang="en-IN" sz="2800" dirty="0"/>
              <a:t>(3, 4));  // 7</a:t>
            </a:r>
          </a:p>
          <a:p>
            <a:pPr marL="0" indent="0">
              <a:buNone/>
              <a:defRPr sz="1800"/>
            </a:pPr>
            <a:r>
              <a:rPr lang="en-IN" sz="2800" dirty="0"/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 of Function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1800"/>
            </a:pPr>
            <a:r>
              <a:rPr lang="en-IN" sz="2800" dirty="0"/>
              <a:t>Used for menu-driven programs.</a:t>
            </a:r>
          </a:p>
          <a:p>
            <a:pPr>
              <a:defRPr sz="1800"/>
            </a:pPr>
            <a:endParaRPr lang="en-IN" sz="2800" dirty="0"/>
          </a:p>
          <a:p>
            <a:pPr marL="0" indent="0">
              <a:buNone/>
              <a:defRPr sz="1800"/>
            </a:pPr>
            <a:r>
              <a:rPr lang="en-IN" sz="2800" dirty="0"/>
              <a:t>int add(int </a:t>
            </a:r>
            <a:r>
              <a:rPr lang="en-IN" sz="2800" dirty="0" err="1"/>
              <a:t>a,int</a:t>
            </a:r>
            <a:r>
              <a:rPr lang="en-IN" sz="2800" dirty="0"/>
              <a:t> b){ return </a:t>
            </a:r>
            <a:r>
              <a:rPr lang="en-IN" sz="2800" dirty="0" err="1"/>
              <a:t>a+b</a:t>
            </a:r>
            <a:r>
              <a:rPr lang="en-IN" sz="2800" dirty="0"/>
              <a:t>; }</a:t>
            </a:r>
          </a:p>
          <a:p>
            <a:pPr marL="0" indent="0">
              <a:buNone/>
              <a:defRPr sz="1800"/>
            </a:pPr>
            <a:r>
              <a:rPr lang="en-IN" sz="2800" dirty="0"/>
              <a:t>int sub(int </a:t>
            </a:r>
            <a:r>
              <a:rPr lang="en-IN" sz="2800" dirty="0" err="1"/>
              <a:t>a,int</a:t>
            </a:r>
            <a:r>
              <a:rPr lang="en-IN" sz="2800" dirty="0"/>
              <a:t> b){ return a-b; }</a:t>
            </a:r>
          </a:p>
          <a:p>
            <a:pPr>
              <a:defRPr sz="1800"/>
            </a:pPr>
            <a:endParaRPr lang="en-IN" sz="2800" dirty="0"/>
          </a:p>
          <a:p>
            <a:pPr marL="0" indent="0">
              <a:buNone/>
              <a:defRPr sz="1800"/>
            </a:pPr>
            <a:r>
              <a:rPr lang="en-IN" sz="2800" dirty="0"/>
              <a:t>int main() {</a:t>
            </a:r>
          </a:p>
          <a:p>
            <a:pPr marL="0" indent="0">
              <a:buNone/>
              <a:defRPr sz="1800"/>
            </a:pPr>
            <a:r>
              <a:rPr lang="en-IN" sz="2800" dirty="0"/>
              <a:t>    int (*ops[2])(int, int) = {add, sub};</a:t>
            </a:r>
          </a:p>
          <a:p>
            <a:pPr marL="0" indent="0">
              <a:buNone/>
              <a:defRPr sz="1800"/>
            </a:pPr>
            <a:r>
              <a:rPr lang="en-IN" sz="2800" dirty="0"/>
              <a:t>    </a:t>
            </a:r>
            <a:r>
              <a:rPr lang="en-IN" sz="2800" dirty="0" err="1"/>
              <a:t>printf</a:t>
            </a:r>
            <a:r>
              <a:rPr lang="en-IN" sz="2800" dirty="0"/>
              <a:t>("%d", ops[0](5,3)); // 8</a:t>
            </a:r>
          </a:p>
          <a:p>
            <a:pPr marL="0" indent="0">
              <a:buNone/>
              <a:defRPr sz="1800"/>
            </a:pPr>
            <a:r>
              <a:rPr lang="en-IN" sz="2800" dirty="0"/>
              <a:t>}</a:t>
            </a:r>
          </a:p>
          <a:p>
            <a:pPr>
              <a:defRPr sz="1800"/>
            </a:pPr>
            <a:endParaRPr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0D728-607D-CF4D-8328-892C0561B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144B6-DDE0-374C-63C4-E0A7C3DAE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7027"/>
          </a:xfrm>
        </p:spPr>
        <p:txBody>
          <a:bodyPr>
            <a:normAutofit fontScale="90000"/>
          </a:bodyPr>
          <a:lstStyle/>
          <a:p>
            <a:r>
              <a:rPr dirty="0"/>
              <a:t>Dynamic Memory Allocation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9B578-EE09-769D-5D41-0E9D79B55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8693"/>
            <a:ext cx="8229600" cy="3657600"/>
          </a:xfrm>
        </p:spPr>
        <p:txBody>
          <a:bodyPr>
            <a:normAutofit/>
          </a:bodyPr>
          <a:lstStyle/>
          <a:p>
            <a:r>
              <a:rPr lang="en-US" b="1" dirty="0"/>
              <a:t>Dynamic Memory Allocation is the process of allocating memory during program execution (runtime) instead of before execution (compile time).</a:t>
            </a:r>
          </a:p>
          <a:p>
            <a:r>
              <a:rPr lang="en-US" dirty="0"/>
              <a:t>In C, DMA allows a program to </a:t>
            </a:r>
            <a:r>
              <a:rPr lang="en-US" b="1" dirty="0"/>
              <a:t>request memory when it is needed and release it when it is no longer required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1047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632F4-72BC-DDAE-0540-7DA5D569B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5A7A3-70B7-9FBB-A58C-EFFDFDA52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7027"/>
          </a:xfrm>
        </p:spPr>
        <p:txBody>
          <a:bodyPr>
            <a:normAutofit fontScale="90000"/>
          </a:bodyPr>
          <a:lstStyle/>
          <a:p>
            <a:r>
              <a:rPr lang="en-IN" dirty="0"/>
              <a:t>Why – DMA?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8DF7A-C8ED-69DF-21E5-88A01AA79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8692"/>
            <a:ext cx="8229600" cy="556930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Problem with Static (Compile-time) Memory Allocation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When we use:</a:t>
            </a:r>
          </a:p>
          <a:p>
            <a:pPr marL="0" indent="0">
              <a:buNone/>
            </a:pPr>
            <a:r>
              <a:rPr lang="en-IN" dirty="0"/>
              <a:t>int </a:t>
            </a:r>
            <a:r>
              <a:rPr lang="en-IN" dirty="0" err="1"/>
              <a:t>arr</a:t>
            </a:r>
            <a:r>
              <a:rPr lang="en-IN" dirty="0"/>
              <a:t>[10];</a:t>
            </a:r>
          </a:p>
          <a:p>
            <a:pPr marL="0" indent="0">
              <a:buNone/>
            </a:pPr>
            <a:r>
              <a:rPr lang="en-IN" dirty="0"/>
              <a:t>❌ Problems:</a:t>
            </a:r>
          </a:p>
          <a:p>
            <a:r>
              <a:rPr lang="en-IN" dirty="0"/>
              <a:t>Size is </a:t>
            </a:r>
            <a:r>
              <a:rPr lang="en-IN" b="1" dirty="0"/>
              <a:t>fixed</a:t>
            </a:r>
            <a:endParaRPr lang="en-IN" dirty="0"/>
          </a:p>
          <a:p>
            <a:r>
              <a:rPr lang="en-IN" dirty="0"/>
              <a:t>Memory is allocated </a:t>
            </a:r>
            <a:r>
              <a:rPr lang="en-IN" b="1" dirty="0"/>
              <a:t>before execution</a:t>
            </a:r>
            <a:endParaRPr lang="en-IN" dirty="0"/>
          </a:p>
          <a:p>
            <a:r>
              <a:rPr lang="en-IN" dirty="0"/>
              <a:t>Cannot change size later</a:t>
            </a:r>
          </a:p>
          <a:p>
            <a:r>
              <a:rPr lang="en-IN" dirty="0"/>
              <a:t>Wastes memory if not fully used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int n;</a:t>
            </a:r>
          </a:p>
          <a:p>
            <a:pPr marL="0" indent="0">
              <a:buNone/>
            </a:pPr>
            <a:r>
              <a:rPr lang="en-IN" dirty="0" err="1"/>
              <a:t>scanf</a:t>
            </a:r>
            <a:r>
              <a:rPr lang="en-IN" dirty="0"/>
              <a:t>("%d", &amp;n);</a:t>
            </a:r>
          </a:p>
          <a:p>
            <a:pPr marL="0" indent="0">
              <a:buNone/>
            </a:pPr>
            <a:r>
              <a:rPr lang="en-IN" dirty="0"/>
              <a:t>int </a:t>
            </a:r>
            <a:r>
              <a:rPr lang="en-IN" dirty="0" err="1"/>
              <a:t>arr</a:t>
            </a:r>
            <a:r>
              <a:rPr lang="en-IN" dirty="0"/>
              <a:t>[n];   // ❌ Not allowed in older C standards</a:t>
            </a:r>
          </a:p>
          <a:p>
            <a:pPr marL="0" indent="0">
              <a:buNone/>
            </a:pPr>
            <a:r>
              <a:rPr lang="en-IN" dirty="0"/>
              <a:t>👉 At compile time, the compiler </a:t>
            </a:r>
            <a:r>
              <a:rPr lang="en-IN" b="1" dirty="0"/>
              <a:t>does not know</a:t>
            </a:r>
            <a:r>
              <a:rPr lang="en-IN" dirty="0"/>
              <a:t> the value of n.</a:t>
            </a:r>
          </a:p>
        </p:txBody>
      </p:sp>
    </p:spTree>
    <p:extLst>
      <p:ext uri="{BB962C8B-B14F-4D97-AF65-F5344CB8AC3E}">
        <p14:creationId xmlns:p14="http://schemas.microsoft.com/office/powerpoint/2010/main" val="142114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AE0F4-A718-BC0A-7CC9-2BBC47D96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A9122-1422-6436-32EC-A1913AC4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7027"/>
          </a:xfrm>
        </p:spPr>
        <p:txBody>
          <a:bodyPr>
            <a:normAutofit fontScale="90000"/>
          </a:bodyPr>
          <a:lstStyle/>
          <a:p>
            <a:r>
              <a:rPr lang="en-IN" dirty="0"/>
              <a:t>Why – DMA?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162A0-5AAF-30E2-B878-3C8A97322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8692"/>
            <a:ext cx="8229600" cy="55693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DMA Solves This Problem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DMA allows us to:</a:t>
            </a:r>
          </a:p>
          <a:p>
            <a:pPr marL="0" indent="0">
              <a:buNone/>
            </a:pPr>
            <a:r>
              <a:rPr lang="en-IN" dirty="0"/>
              <a:t>✔ Allocate memory </a:t>
            </a:r>
            <a:r>
              <a:rPr lang="en-IN" b="1" dirty="0"/>
              <a:t>after knowing actual requirement</a:t>
            </a:r>
            <a:br>
              <a:rPr lang="en-IN" dirty="0"/>
            </a:br>
            <a:r>
              <a:rPr lang="en-IN" dirty="0"/>
              <a:t>✔ Allocate memory </a:t>
            </a:r>
            <a:r>
              <a:rPr lang="en-IN" b="1" dirty="0"/>
              <a:t>based on user input</a:t>
            </a:r>
            <a:br>
              <a:rPr lang="en-IN" dirty="0"/>
            </a:br>
            <a:r>
              <a:rPr lang="en-IN" dirty="0"/>
              <a:t>✔ Increase or decrease memory size dynamically</a:t>
            </a:r>
            <a:br>
              <a:rPr lang="en-IN" dirty="0"/>
            </a:br>
            <a:r>
              <a:rPr lang="en-IN" dirty="0"/>
              <a:t>✔ Use memory efficiently</a:t>
            </a:r>
          </a:p>
        </p:txBody>
      </p:sp>
    </p:spTree>
    <p:extLst>
      <p:ext uri="{BB962C8B-B14F-4D97-AF65-F5344CB8AC3E}">
        <p14:creationId xmlns:p14="http://schemas.microsoft.com/office/powerpoint/2010/main" val="1912970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D1A47-8B07-04BC-4DFB-00EBCF021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4E68C-7C06-0548-7A58-FC170145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7027"/>
          </a:xfrm>
        </p:spPr>
        <p:txBody>
          <a:bodyPr>
            <a:noAutofit/>
          </a:bodyPr>
          <a:lstStyle/>
          <a:p>
            <a:pPr lvl="0"/>
            <a:r>
              <a:rPr lang="en-IN" sz="2800" b="1" dirty="0"/>
              <a:t>Where is Dynamically Allocated Memory Stored?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761C7-CB90-CB25-A735-6E7FEEF7C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8692"/>
            <a:ext cx="8229600" cy="5569307"/>
          </a:xfrm>
        </p:spPr>
        <p:txBody>
          <a:bodyPr>
            <a:normAutofit/>
          </a:bodyPr>
          <a:lstStyle/>
          <a:p>
            <a:r>
              <a:rPr lang="en-IN" b="1" dirty="0"/>
              <a:t>Heap Memory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EBEBF8-BA54-8F8D-CAD8-4FF8FEBFE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871399"/>
              </p:ext>
            </p:extLst>
          </p:nvPr>
        </p:nvGraphicFramePr>
        <p:xfrm>
          <a:off x="575187" y="2147309"/>
          <a:ext cx="6046839" cy="11544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77729">
                  <a:extLst>
                    <a:ext uri="{9D8B030D-6E8A-4147-A177-3AD203B41FA5}">
                      <a16:colId xmlns:a16="http://schemas.microsoft.com/office/drawing/2014/main" val="1507011512"/>
                    </a:ext>
                  </a:extLst>
                </a:gridCol>
                <a:gridCol w="3569110">
                  <a:extLst>
                    <a:ext uri="{9D8B030D-6E8A-4147-A177-3AD203B41FA5}">
                      <a16:colId xmlns:a16="http://schemas.microsoft.com/office/drawing/2014/main" val="14315680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2400" kern="100">
                          <a:effectLst/>
                        </a:rPr>
                        <a:t>Memory Type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2400" kern="100">
                          <a:effectLst/>
                        </a:rPr>
                        <a:t>Lifetime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09351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2400" kern="100">
                          <a:effectLst/>
                        </a:rPr>
                        <a:t>Stack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2400" kern="100" dirty="0">
                          <a:effectLst/>
                        </a:rPr>
                        <a:t>Function execution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88674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2400" kern="100">
                          <a:effectLst/>
                        </a:rPr>
                        <a:t>Heap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2400" kern="100" dirty="0">
                          <a:effectLst/>
                        </a:rPr>
                        <a:t>Until explicitly freed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0443639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4F05DD3-8C6D-33E5-0C71-64533F36F0DC}"/>
              </a:ext>
            </a:extLst>
          </p:cNvPr>
          <p:cNvSpPr txBox="1"/>
          <p:nvPr/>
        </p:nvSpPr>
        <p:spPr>
          <a:xfrm>
            <a:off x="575186" y="3879539"/>
            <a:ext cx="665152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8790" indent="-252095" algn="just"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DMA uses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heap memory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, which: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Is larger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Exists until free() is called</a:t>
            </a:r>
          </a:p>
          <a:p>
            <a:pPr>
              <a:buNone/>
            </a:pP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Must be managed by the programmer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38273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D0E49-BC54-335F-EC12-323329243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1EA1D-8C99-5FD5-F43B-25F3B236C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7027"/>
          </a:xfrm>
        </p:spPr>
        <p:txBody>
          <a:bodyPr>
            <a:noAutofit/>
          </a:bodyPr>
          <a:lstStyle/>
          <a:p>
            <a:pPr lvl="0"/>
            <a:r>
              <a:rPr lang="en-IN" sz="3600" b="1" dirty="0"/>
              <a:t>Why Pointers Are Mandatory for DMA</a:t>
            </a: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EBC50-5535-71F8-9CDF-04286714B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684" y="1126460"/>
            <a:ext cx="8229600" cy="55693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DMA functions </a:t>
            </a:r>
            <a:r>
              <a:rPr lang="en-IN" b="1" dirty="0"/>
              <a:t>return addresses</a:t>
            </a:r>
            <a:r>
              <a:rPr lang="en-IN" dirty="0"/>
              <a:t>, not values.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	int *p = malloc(5 * </a:t>
            </a:r>
            <a:r>
              <a:rPr lang="en-IN" dirty="0" err="1"/>
              <a:t>sizeof</a:t>
            </a:r>
            <a:r>
              <a:rPr lang="en-IN" dirty="0"/>
              <a:t>(int));</a:t>
            </a:r>
          </a:p>
          <a:p>
            <a:pPr marL="0" indent="0">
              <a:buNone/>
            </a:pPr>
            <a:r>
              <a:rPr lang="en-IN" dirty="0"/>
              <a:t>Here:</a:t>
            </a:r>
          </a:p>
          <a:p>
            <a:pPr marL="0" lvl="0" indent="0">
              <a:buNone/>
            </a:pPr>
            <a:r>
              <a:rPr lang="en-IN" dirty="0"/>
              <a:t>malloc() returns the </a:t>
            </a:r>
            <a:r>
              <a:rPr lang="en-IN" b="1" dirty="0"/>
              <a:t>address</a:t>
            </a:r>
            <a:r>
              <a:rPr lang="en-IN" dirty="0"/>
              <a:t> of allocated memory</a:t>
            </a:r>
          </a:p>
          <a:p>
            <a:pPr lvl="0"/>
            <a:r>
              <a:rPr lang="en-IN" dirty="0"/>
              <a:t>That address must be stored in a </a:t>
            </a:r>
            <a:r>
              <a:rPr lang="en-IN" b="1" dirty="0"/>
              <a:t>pointer</a:t>
            </a:r>
            <a:endParaRPr lang="en-IN" dirty="0"/>
          </a:p>
          <a:p>
            <a:r>
              <a:rPr lang="en-IN" dirty="0"/>
              <a:t>❗ Without pointers, DMA is impossible.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3016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91F69-39C0-9BE0-0B87-9317B0CB9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AA9F7-6050-3FA4-67EE-42058074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7027"/>
          </a:xfrm>
        </p:spPr>
        <p:txBody>
          <a:bodyPr>
            <a:normAutofit fontScale="90000"/>
          </a:bodyPr>
          <a:lstStyle/>
          <a:p>
            <a:r>
              <a:rPr dirty="0"/>
              <a:t>Dynamic Memory Allocation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C2C49-17AD-FB20-5705-4D62FE5CF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8693"/>
            <a:ext cx="8229600" cy="3657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All DMA functions are in: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stdlib.h</a:t>
            </a:r>
            <a:r>
              <a:rPr lang="en-IN" dirty="0"/>
              <a:t>&gt;</a:t>
            </a:r>
          </a:p>
          <a:p>
            <a:r>
              <a:rPr lang="en-IN" dirty="0"/>
              <a:t>malloc() – Memory Allocation</a:t>
            </a:r>
          </a:p>
          <a:p>
            <a:r>
              <a:rPr lang="en-IN" dirty="0" err="1"/>
              <a:t>calloc</a:t>
            </a:r>
            <a:r>
              <a:rPr lang="en-IN" dirty="0"/>
              <a:t>() – Contiguous Allocation</a:t>
            </a:r>
          </a:p>
          <a:p>
            <a:r>
              <a:rPr lang="en-IN" dirty="0" err="1"/>
              <a:t>realloc</a:t>
            </a:r>
            <a:r>
              <a:rPr lang="en-IN" dirty="0"/>
              <a:t>() – Resize Memory</a:t>
            </a:r>
          </a:p>
          <a:p>
            <a:r>
              <a:rPr lang="en-IN" dirty="0"/>
              <a:t>free() – Deallocate Memory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36303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Dynamic Memory Allocation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9368"/>
            <a:ext cx="8229600" cy="56486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u="sng" dirty="0"/>
              <a:t>malloc()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Allocates memory without initialization.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ptr</a:t>
            </a:r>
            <a:r>
              <a:rPr lang="en-US" dirty="0"/>
              <a:t> = (type*) malloc(</a:t>
            </a:r>
            <a:r>
              <a:rPr lang="en-US" dirty="0" err="1"/>
              <a:t>size_in_bytes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*p = (int*)malloc(5 * </a:t>
            </a:r>
            <a:r>
              <a:rPr lang="en-US" dirty="0" err="1"/>
              <a:t>sizeof</a:t>
            </a:r>
            <a:r>
              <a:rPr lang="en-US" dirty="0"/>
              <a:t>(int));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✔ Allocates memory</a:t>
            </a:r>
            <a:br>
              <a:rPr lang="en-US" dirty="0"/>
            </a:br>
            <a:r>
              <a:rPr lang="en-US" dirty="0"/>
              <a:t>❌ Does </a:t>
            </a:r>
            <a:r>
              <a:rPr lang="en-US" b="1" dirty="0"/>
              <a:t>not initialize</a:t>
            </a:r>
            <a:r>
              <a:rPr lang="en-US" dirty="0"/>
              <a:t> memory (garbage values)</a:t>
            </a:r>
          </a:p>
          <a:p>
            <a:pPr marL="0" indent="0">
              <a:buNone/>
            </a:pPr>
            <a:r>
              <a:rPr lang="en-US" dirty="0"/>
              <a:t>Memory must be freed later: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30D38-0A76-DFDD-F3D7-BDB9F5297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EE62E-0AD8-1261-0F08-327BCA95D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7027"/>
          </a:xfrm>
        </p:spPr>
        <p:txBody>
          <a:bodyPr>
            <a:normAutofit fontScale="90000"/>
          </a:bodyPr>
          <a:lstStyle/>
          <a:p>
            <a:r>
              <a:rPr dirty="0"/>
              <a:t>Dynamic Memory Allocation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76A1A-6B3E-FA54-E51C-69E4C3C7B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1665"/>
            <a:ext cx="8229600" cy="6076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err="1"/>
              <a:t>calloc</a:t>
            </a:r>
            <a:r>
              <a:rPr lang="en-US" u="sng" dirty="0"/>
              <a:t>()</a:t>
            </a:r>
            <a:endParaRPr lang="en-IN" u="sng" dirty="0"/>
          </a:p>
          <a:p>
            <a:pPr marL="0" indent="0">
              <a:buNone/>
            </a:pPr>
            <a:r>
              <a:rPr lang="en-US" dirty="0"/>
              <a:t>Allocates memory and initializes it to ZERO.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ptr</a:t>
            </a:r>
            <a:r>
              <a:rPr lang="en-US" dirty="0"/>
              <a:t> = (type*) </a:t>
            </a:r>
            <a:r>
              <a:rPr lang="en-US" dirty="0" err="1"/>
              <a:t>calloc</a:t>
            </a:r>
            <a:r>
              <a:rPr lang="en-US" dirty="0"/>
              <a:t>(n, size);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*p = (int*)</a:t>
            </a:r>
            <a:r>
              <a:rPr lang="en-US" dirty="0" err="1"/>
              <a:t>calloc</a:t>
            </a:r>
            <a:r>
              <a:rPr lang="en-US" dirty="0"/>
              <a:t>(5, </a:t>
            </a:r>
            <a:r>
              <a:rPr lang="en-US" dirty="0" err="1"/>
              <a:t>sizeof</a:t>
            </a:r>
            <a:r>
              <a:rPr lang="en-US" dirty="0"/>
              <a:t>(int));</a:t>
            </a:r>
            <a:endParaRPr lang="en-IN" dirty="0"/>
          </a:p>
          <a:p>
            <a:pPr lvl="1"/>
            <a:endParaRPr lang="en-IN" dirty="0"/>
          </a:p>
          <a:p>
            <a:pPr marL="0" indent="0">
              <a:buNone/>
            </a:pPr>
            <a:r>
              <a:rPr lang="en-US" dirty="0"/>
              <a:t>✔ Allocates memory</a:t>
            </a:r>
            <a:br>
              <a:rPr lang="en-US" dirty="0"/>
            </a:br>
            <a:r>
              <a:rPr lang="en-US" dirty="0"/>
              <a:t>✔ Initializes all values to </a:t>
            </a:r>
            <a:r>
              <a:rPr lang="en-US" b="1" dirty="0"/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1638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DD7C4-12B8-7115-0510-41700CDC0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812B2-E050-8C0B-3AC7-ED2F46FCD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7027"/>
          </a:xfrm>
        </p:spPr>
        <p:txBody>
          <a:bodyPr>
            <a:normAutofit fontScale="90000"/>
          </a:bodyPr>
          <a:lstStyle/>
          <a:p>
            <a:r>
              <a:rPr dirty="0"/>
              <a:t>Dynamic Memory Allocation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5030C-C612-9A6B-A22B-D15E1BF5D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1665"/>
            <a:ext cx="8229600" cy="607633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u="sng" dirty="0" err="1"/>
              <a:t>realloc</a:t>
            </a:r>
            <a:r>
              <a:rPr lang="en-US" u="sng" dirty="0"/>
              <a:t>()</a:t>
            </a:r>
            <a:r>
              <a:rPr lang="en-IN" dirty="0"/>
              <a:t> - </a:t>
            </a:r>
            <a:r>
              <a:rPr lang="en-US" dirty="0"/>
              <a:t>Reallocates/expands memory.</a:t>
            </a:r>
          </a:p>
          <a:p>
            <a:pPr marL="0" indent="0">
              <a:buNone/>
            </a:pPr>
            <a:r>
              <a:rPr lang="en-US" dirty="0"/>
              <a:t>Used when size needs to be changed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int *p = (int*) malloc(3 * </a:t>
            </a:r>
            <a:r>
              <a:rPr lang="en-US" dirty="0" err="1"/>
              <a:t>sizeof</a:t>
            </a:r>
            <a:r>
              <a:rPr lang="en-US" dirty="0"/>
              <a:t>(int));</a:t>
            </a:r>
          </a:p>
          <a:p>
            <a:pPr marL="0" indent="0">
              <a:buNone/>
            </a:pPr>
            <a:r>
              <a:rPr lang="en-US" dirty="0"/>
              <a:t>p = </a:t>
            </a:r>
            <a:r>
              <a:rPr lang="en-US" dirty="0" err="1"/>
              <a:t>realloc</a:t>
            </a:r>
            <a:r>
              <a:rPr lang="en-US" dirty="0"/>
              <a:t>(p, 6 * </a:t>
            </a:r>
            <a:r>
              <a:rPr lang="en-US" dirty="0" err="1"/>
              <a:t>sizeof</a:t>
            </a:r>
            <a:r>
              <a:rPr lang="en-US" dirty="0"/>
              <a:t>(int));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✔ Expands or shrinks memory</a:t>
            </a:r>
            <a:br>
              <a:rPr lang="en-US" dirty="0"/>
            </a:br>
            <a:r>
              <a:rPr lang="en-US" dirty="0"/>
              <a:t>✔ Preserves old data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free() – Deallocates memory</a:t>
            </a:r>
            <a:endParaRPr lang="en-IN" u="sng" dirty="0"/>
          </a:p>
          <a:p>
            <a:pPr marL="0" indent="0">
              <a:buNone/>
            </a:pPr>
            <a:r>
              <a:rPr lang="en-US" dirty="0"/>
              <a:t>Releases allocated memory.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	free(p);</a:t>
            </a:r>
          </a:p>
          <a:p>
            <a:pPr marL="0" indent="0">
              <a:buNone/>
            </a:pPr>
            <a:r>
              <a:rPr lang="en-US" dirty="0"/>
              <a:t>✔ Releases memory back to OS</a:t>
            </a:r>
            <a:br>
              <a:rPr lang="en-US" dirty="0"/>
            </a:br>
            <a:r>
              <a:rPr lang="en-US" dirty="0"/>
              <a:t>✔ Prevents memory leaks</a:t>
            </a:r>
            <a:endParaRPr lang="en-I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2409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76CC9-41E8-6753-00B5-574E7F704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A5BF6-B098-36BD-AAF8-8E2E09B50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7027"/>
          </a:xfrm>
        </p:spPr>
        <p:txBody>
          <a:bodyPr>
            <a:normAutofit fontScale="90000"/>
          </a:bodyPr>
          <a:lstStyle/>
          <a:p>
            <a:r>
              <a:rPr dirty="0"/>
              <a:t>Dynamic 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1D9DD-83EB-44B8-875C-4659C5750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1665"/>
            <a:ext cx="8229600" cy="6076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🔹 Advantages of DMA</a:t>
            </a:r>
          </a:p>
          <a:p>
            <a:pPr marL="0" indent="0">
              <a:buNone/>
            </a:pPr>
            <a:r>
              <a:rPr lang="en-IN" dirty="0"/>
              <a:t>✔ Efficient memory usage</a:t>
            </a:r>
            <a:br>
              <a:rPr lang="en-IN" dirty="0"/>
            </a:br>
            <a:r>
              <a:rPr lang="en-IN" dirty="0"/>
              <a:t>✔ Flexible memory size</a:t>
            </a:r>
            <a:br>
              <a:rPr lang="en-IN" dirty="0"/>
            </a:br>
            <a:r>
              <a:rPr lang="en-IN" dirty="0"/>
              <a:t>✔ Useful for large data</a:t>
            </a:r>
            <a:br>
              <a:rPr lang="en-IN" dirty="0"/>
            </a:br>
            <a:r>
              <a:rPr lang="en-IN" dirty="0"/>
              <a:t>✔ Essential for data structures</a:t>
            </a:r>
            <a:br>
              <a:rPr lang="en-IN" dirty="0"/>
            </a:br>
            <a:r>
              <a:rPr lang="en-IN" dirty="0"/>
              <a:t>✔ Avoids wastage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b="1" dirty="0"/>
              <a:t>🔹 Disadvantages of DMA</a:t>
            </a:r>
          </a:p>
          <a:p>
            <a:pPr marL="0" indent="0">
              <a:buNone/>
            </a:pPr>
            <a:r>
              <a:rPr lang="en-IN" dirty="0"/>
              <a:t>❌ Programmer must manage memory</a:t>
            </a:r>
            <a:br>
              <a:rPr lang="en-IN" dirty="0"/>
            </a:br>
            <a:r>
              <a:rPr lang="en-IN" dirty="0"/>
              <a:t>❌ Memory leaks if free() is forgotten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1374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DMA Example: Dynamic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3110"/>
            <a:ext cx="8229600" cy="4843053"/>
          </a:xfrm>
        </p:spPr>
        <p:txBody>
          <a:bodyPr>
            <a:noAutofit/>
          </a:bodyPr>
          <a:lstStyle/>
          <a:p>
            <a:pPr marL="0" indent="0">
              <a:buNone/>
              <a:defRPr sz="1800"/>
            </a:pPr>
            <a:r>
              <a:rPr lang="en-IN" sz="2400" dirty="0"/>
              <a:t>	</a:t>
            </a:r>
            <a:r>
              <a:rPr sz="2400" dirty="0"/>
              <a:t>#include &lt;</a:t>
            </a:r>
            <a:r>
              <a:rPr sz="2400" dirty="0" err="1"/>
              <a:t>stdio.h</a:t>
            </a:r>
            <a:r>
              <a:rPr sz="2400" dirty="0"/>
              <a:t>&gt;</a:t>
            </a:r>
            <a:endParaRPr lang="en-IN" sz="2400" dirty="0"/>
          </a:p>
          <a:p>
            <a:pPr marL="0" indent="0">
              <a:buNone/>
              <a:defRPr sz="1800"/>
            </a:pPr>
            <a:r>
              <a:rPr lang="en-IN" sz="2400" dirty="0"/>
              <a:t>	</a:t>
            </a:r>
            <a:r>
              <a:rPr sz="2400" dirty="0"/>
              <a:t>#include &lt;</a:t>
            </a:r>
            <a:r>
              <a:rPr sz="2400" dirty="0" err="1"/>
              <a:t>stdlib.h</a:t>
            </a:r>
            <a:r>
              <a:rPr sz="2400" dirty="0"/>
              <a:t>&gt;</a:t>
            </a:r>
            <a:endParaRPr lang="en-IN" sz="2400" dirty="0"/>
          </a:p>
          <a:p>
            <a:pPr marL="0" indent="0">
              <a:buNone/>
              <a:defRPr sz="1800"/>
            </a:pPr>
            <a:r>
              <a:rPr lang="en-IN" sz="2400" dirty="0"/>
              <a:t>	</a:t>
            </a:r>
            <a:r>
              <a:rPr sz="2400" dirty="0"/>
              <a:t>int main() {</a:t>
            </a:r>
            <a:endParaRPr lang="en-IN" sz="2400" dirty="0"/>
          </a:p>
          <a:p>
            <a:pPr marL="457200" lvl="1" indent="0">
              <a:buNone/>
              <a:defRPr sz="1600"/>
            </a:pPr>
            <a:r>
              <a:rPr sz="2400" dirty="0"/>
              <a:t>int n, *p;</a:t>
            </a:r>
          </a:p>
          <a:p>
            <a:pPr marL="457200" lvl="1" indent="0">
              <a:buNone/>
              <a:defRPr sz="1600"/>
            </a:pPr>
            <a:r>
              <a:rPr sz="2400" dirty="0" err="1"/>
              <a:t>printf</a:t>
            </a:r>
            <a:r>
              <a:rPr sz="2400" dirty="0"/>
              <a:t>("Enter size: ");</a:t>
            </a:r>
          </a:p>
          <a:p>
            <a:pPr marL="457200" lvl="1" indent="0">
              <a:buNone/>
              <a:defRPr sz="1600"/>
            </a:pPr>
            <a:r>
              <a:rPr sz="2400" dirty="0" err="1"/>
              <a:t>scanf</a:t>
            </a:r>
            <a:r>
              <a:rPr sz="2400" dirty="0"/>
              <a:t>("%d", &amp;n);</a:t>
            </a:r>
          </a:p>
          <a:p>
            <a:pPr marL="457200" lvl="1" indent="0">
              <a:buNone/>
              <a:defRPr sz="1600"/>
            </a:pPr>
            <a:r>
              <a:rPr sz="2400" dirty="0"/>
              <a:t>p = (int*)malloc(n * </a:t>
            </a:r>
            <a:r>
              <a:rPr sz="2400" dirty="0" err="1"/>
              <a:t>sizeof</a:t>
            </a:r>
            <a:r>
              <a:rPr sz="2400" dirty="0"/>
              <a:t>(int));</a:t>
            </a:r>
          </a:p>
          <a:p>
            <a:pPr marL="457200" lvl="1" indent="0">
              <a:buNone/>
              <a:defRPr sz="1600"/>
            </a:pPr>
            <a:r>
              <a:rPr sz="2400" dirty="0"/>
              <a:t>for (int </a:t>
            </a:r>
            <a:r>
              <a:rPr sz="2400" dirty="0" err="1"/>
              <a:t>i</a:t>
            </a:r>
            <a:r>
              <a:rPr sz="2400" dirty="0"/>
              <a:t> = 0; </a:t>
            </a:r>
            <a:r>
              <a:rPr sz="2400" dirty="0" err="1"/>
              <a:t>i</a:t>
            </a:r>
            <a:r>
              <a:rPr sz="2400" dirty="0"/>
              <a:t> &lt; n; </a:t>
            </a:r>
            <a:r>
              <a:rPr sz="2400" dirty="0" err="1"/>
              <a:t>i</a:t>
            </a:r>
            <a:r>
              <a:rPr sz="2400" dirty="0"/>
              <a:t>++) p[</a:t>
            </a:r>
            <a:r>
              <a:rPr sz="2400" dirty="0" err="1"/>
              <a:t>i</a:t>
            </a:r>
            <a:r>
              <a:rPr sz="2400" dirty="0"/>
              <a:t>] = </a:t>
            </a:r>
            <a:r>
              <a:rPr sz="2400" dirty="0" err="1"/>
              <a:t>i</a:t>
            </a:r>
            <a:r>
              <a:rPr sz="2400" dirty="0"/>
              <a:t> + 1;</a:t>
            </a:r>
          </a:p>
          <a:p>
            <a:pPr marL="457200" lvl="1" indent="0">
              <a:buNone/>
              <a:defRPr sz="1600"/>
            </a:pPr>
            <a:r>
              <a:rPr sz="2400" dirty="0"/>
              <a:t>for (int </a:t>
            </a:r>
            <a:r>
              <a:rPr sz="2400" dirty="0" err="1"/>
              <a:t>i</a:t>
            </a:r>
            <a:r>
              <a:rPr sz="2400" dirty="0"/>
              <a:t> = 0; </a:t>
            </a:r>
            <a:r>
              <a:rPr sz="2400" dirty="0" err="1"/>
              <a:t>i</a:t>
            </a:r>
            <a:r>
              <a:rPr sz="2400" dirty="0"/>
              <a:t> &lt; n; </a:t>
            </a:r>
            <a:r>
              <a:rPr sz="2400" dirty="0" err="1"/>
              <a:t>i</a:t>
            </a:r>
            <a:r>
              <a:rPr sz="2400" dirty="0"/>
              <a:t>++) </a:t>
            </a:r>
            <a:r>
              <a:rPr sz="2400" dirty="0" err="1"/>
              <a:t>printf</a:t>
            </a:r>
            <a:r>
              <a:rPr sz="2400" dirty="0"/>
              <a:t>("%d ", p[</a:t>
            </a:r>
            <a:r>
              <a:rPr sz="2400" dirty="0" err="1"/>
              <a:t>i</a:t>
            </a:r>
            <a:r>
              <a:rPr sz="2400" dirty="0"/>
              <a:t>]);</a:t>
            </a:r>
            <a:endParaRPr lang="en-IN" sz="2400" dirty="0"/>
          </a:p>
          <a:p>
            <a:pPr marL="457200" lvl="1" indent="0">
              <a:buNone/>
              <a:defRPr sz="1600"/>
            </a:pPr>
            <a:r>
              <a:rPr sz="2400" dirty="0"/>
              <a:t>free(p);</a:t>
            </a:r>
            <a:endParaRPr lang="en-IN" sz="2400" dirty="0"/>
          </a:p>
          <a:p>
            <a:pPr marL="457200" lvl="1" indent="0">
              <a:buNone/>
              <a:defRPr sz="1600"/>
            </a:pPr>
            <a:r>
              <a:rPr sz="2400" dirty="0"/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11BDA-B96A-CCD0-9B9B-F69A21161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87" y="77327"/>
            <a:ext cx="8229600" cy="654510"/>
          </a:xfrm>
        </p:spPr>
        <p:txBody>
          <a:bodyPr>
            <a:normAutofit fontScale="90000"/>
          </a:bodyPr>
          <a:lstStyle/>
          <a:p>
            <a:r>
              <a:rPr lang="en-IN" dirty="0"/>
              <a:t>DMA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2B73B-5BE8-59B2-402E-F119F5D10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31837"/>
            <a:ext cx="8229600" cy="604883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3800" dirty="0"/>
              <a:t>#include &lt;</a:t>
            </a:r>
            <a:r>
              <a:rPr lang="en-IN" sz="3800" dirty="0" err="1"/>
              <a:t>stdio.h</a:t>
            </a:r>
            <a:r>
              <a:rPr lang="en-IN" sz="3800" dirty="0"/>
              <a:t>&gt;</a:t>
            </a:r>
          </a:p>
          <a:p>
            <a:pPr marL="0" indent="0">
              <a:buNone/>
            </a:pPr>
            <a:r>
              <a:rPr lang="en-IN" sz="3800" dirty="0"/>
              <a:t>#include &lt;</a:t>
            </a:r>
            <a:r>
              <a:rPr lang="en-IN" sz="3800" dirty="0" err="1"/>
              <a:t>stdlib.h</a:t>
            </a:r>
            <a:r>
              <a:rPr lang="en-IN" sz="3800" dirty="0"/>
              <a:t>&gt;</a:t>
            </a:r>
          </a:p>
          <a:p>
            <a:pPr marL="0" indent="0">
              <a:buNone/>
            </a:pPr>
            <a:r>
              <a:rPr lang="en-IN" sz="3800" dirty="0"/>
              <a:t>int main() {</a:t>
            </a:r>
          </a:p>
          <a:p>
            <a:pPr marL="0" indent="0">
              <a:buNone/>
            </a:pPr>
            <a:r>
              <a:rPr lang="en-IN" sz="3800" dirty="0"/>
              <a:t>    int n;     </a:t>
            </a:r>
            <a:r>
              <a:rPr lang="en-IN" sz="3800" dirty="0" err="1"/>
              <a:t>printf</a:t>
            </a:r>
            <a:r>
              <a:rPr lang="en-IN" sz="3800" dirty="0"/>
              <a:t>("Enter size: ");     </a:t>
            </a:r>
            <a:r>
              <a:rPr lang="en-IN" sz="3800" dirty="0" err="1"/>
              <a:t>scanf</a:t>
            </a:r>
            <a:r>
              <a:rPr lang="en-IN" sz="3800" dirty="0"/>
              <a:t>("%d", &amp;n);</a:t>
            </a:r>
          </a:p>
          <a:p>
            <a:pPr marL="0" indent="0">
              <a:buNone/>
            </a:pPr>
            <a:r>
              <a:rPr lang="en-IN" sz="3800" dirty="0"/>
              <a:t>    int *p = (int*)</a:t>
            </a:r>
            <a:r>
              <a:rPr lang="en-IN" sz="3800" dirty="0" err="1"/>
              <a:t>calloc</a:t>
            </a:r>
            <a:r>
              <a:rPr lang="en-IN" sz="3800" dirty="0"/>
              <a:t>(n, </a:t>
            </a:r>
            <a:r>
              <a:rPr lang="en-IN" sz="3800" dirty="0" err="1"/>
              <a:t>sizeof</a:t>
            </a:r>
            <a:r>
              <a:rPr lang="en-IN" sz="3800" dirty="0"/>
              <a:t>(int));</a:t>
            </a:r>
          </a:p>
          <a:p>
            <a:pPr marL="0" indent="0">
              <a:buNone/>
            </a:pPr>
            <a:r>
              <a:rPr lang="en-IN" sz="3800" dirty="0"/>
              <a:t>    if (p == NULL) {</a:t>
            </a:r>
          </a:p>
          <a:p>
            <a:pPr marL="0" indent="0">
              <a:buNone/>
            </a:pPr>
            <a:r>
              <a:rPr lang="en-IN" sz="3800" dirty="0"/>
              <a:t>        </a:t>
            </a:r>
            <a:r>
              <a:rPr lang="en-IN" sz="3800" dirty="0" err="1"/>
              <a:t>printf</a:t>
            </a:r>
            <a:r>
              <a:rPr lang="en-IN" sz="3800" dirty="0"/>
              <a:t>("Memory allocation failed");</a:t>
            </a:r>
          </a:p>
          <a:p>
            <a:pPr marL="0" indent="0">
              <a:buNone/>
            </a:pPr>
            <a:r>
              <a:rPr lang="en-IN" sz="3800" dirty="0"/>
              <a:t>        return 1;     }</a:t>
            </a:r>
          </a:p>
          <a:p>
            <a:pPr marL="0" indent="0">
              <a:buNone/>
            </a:pPr>
            <a:r>
              <a:rPr lang="en-IN" sz="3800" dirty="0"/>
              <a:t>    for (int </a:t>
            </a:r>
            <a:r>
              <a:rPr lang="en-IN" sz="3800" dirty="0" err="1"/>
              <a:t>i</a:t>
            </a:r>
            <a:r>
              <a:rPr lang="en-IN" sz="3800" dirty="0"/>
              <a:t> = 0; </a:t>
            </a:r>
            <a:r>
              <a:rPr lang="en-IN" sz="3800" dirty="0" err="1"/>
              <a:t>i</a:t>
            </a:r>
            <a:r>
              <a:rPr lang="en-IN" sz="3800" dirty="0"/>
              <a:t> &lt; n; </a:t>
            </a:r>
            <a:r>
              <a:rPr lang="en-IN" sz="3800" dirty="0" err="1"/>
              <a:t>i</a:t>
            </a:r>
            <a:r>
              <a:rPr lang="en-IN" sz="3800" dirty="0"/>
              <a:t>++)</a:t>
            </a:r>
          </a:p>
          <a:p>
            <a:pPr marL="0" indent="0">
              <a:buNone/>
            </a:pPr>
            <a:r>
              <a:rPr lang="en-IN" sz="3800" dirty="0"/>
              <a:t>        p[</a:t>
            </a:r>
            <a:r>
              <a:rPr lang="en-IN" sz="3800" dirty="0" err="1"/>
              <a:t>i</a:t>
            </a:r>
            <a:r>
              <a:rPr lang="en-IN" sz="3800" dirty="0"/>
              <a:t>] = </a:t>
            </a:r>
            <a:r>
              <a:rPr lang="en-IN" sz="3800" dirty="0" err="1"/>
              <a:t>i</a:t>
            </a:r>
            <a:r>
              <a:rPr lang="en-IN" sz="3800" dirty="0"/>
              <a:t> + 1;</a:t>
            </a:r>
          </a:p>
          <a:p>
            <a:pPr marL="0" indent="0">
              <a:buNone/>
            </a:pPr>
            <a:r>
              <a:rPr lang="en-IN" sz="3800" dirty="0"/>
              <a:t>    p = </a:t>
            </a:r>
            <a:r>
              <a:rPr lang="en-IN" sz="3800" dirty="0" err="1"/>
              <a:t>realloc</a:t>
            </a:r>
            <a:r>
              <a:rPr lang="en-IN" sz="3800" dirty="0"/>
              <a:t>(p, (n + 2) * </a:t>
            </a:r>
            <a:r>
              <a:rPr lang="en-IN" sz="3800" dirty="0" err="1"/>
              <a:t>sizeof</a:t>
            </a:r>
            <a:r>
              <a:rPr lang="en-IN" sz="3800" dirty="0"/>
              <a:t>(int));</a:t>
            </a:r>
          </a:p>
          <a:p>
            <a:pPr marL="0" indent="0">
              <a:buNone/>
            </a:pPr>
            <a:r>
              <a:rPr lang="en-IN" sz="3800" dirty="0"/>
              <a:t>    free(p);</a:t>
            </a:r>
          </a:p>
          <a:p>
            <a:pPr marL="0" indent="0">
              <a:buNone/>
            </a:pPr>
            <a:r>
              <a:rPr lang="en-IN" sz="3800" dirty="0"/>
              <a:t>       return 0; 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40379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4ECEB-52E4-B7D6-F943-D4DF8955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DMA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9A05B-8317-89AD-9788-273BF55AD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malloc: Allocates memory at runtime without initialization.</a:t>
            </a:r>
          </a:p>
          <a:p>
            <a:endParaRPr lang="en-US" dirty="0"/>
          </a:p>
          <a:p>
            <a:r>
              <a:rPr lang="en-US" dirty="0" err="1"/>
              <a:t>calloc</a:t>
            </a:r>
            <a:r>
              <a:rPr lang="en-US" dirty="0"/>
              <a:t>: Allocates memory and initializes all elements to zero.</a:t>
            </a:r>
          </a:p>
          <a:p>
            <a:endParaRPr lang="en-US" dirty="0"/>
          </a:p>
          <a:p>
            <a:r>
              <a:rPr lang="en-US" dirty="0" err="1"/>
              <a:t>realloc</a:t>
            </a:r>
            <a:r>
              <a:rPr lang="en-US" dirty="0"/>
              <a:t>: Resizes dynamically allocated memory.</a:t>
            </a:r>
          </a:p>
          <a:p>
            <a:endParaRPr lang="en-US" dirty="0"/>
          </a:p>
          <a:p>
            <a:r>
              <a:rPr lang="en-US" dirty="0"/>
              <a:t>free: Releases allocated memory.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03770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STRUCTURES IN C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0FC4382-0C45-3445-67BB-28466AE1C1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Structures?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Arrays </a:t>
            </a:r>
            <a:r>
              <a:rPr lang="en-US" dirty="0"/>
              <a:t>- S</a:t>
            </a:r>
            <a:r>
              <a:rPr dirty="0"/>
              <a:t>tore same type</a:t>
            </a:r>
            <a:r>
              <a:rPr lang="en-US" dirty="0"/>
              <a:t> of data</a:t>
            </a:r>
            <a:endParaRPr dirty="0"/>
          </a:p>
          <a:p>
            <a:r>
              <a:rPr dirty="0"/>
              <a:t>Real-world data is mixed</a:t>
            </a:r>
            <a:endParaRPr lang="en-US" dirty="0"/>
          </a:p>
          <a:p>
            <a:pPr lvl="1"/>
            <a:r>
              <a:rPr lang="en-IN" dirty="0"/>
              <a:t>Example: Student</a:t>
            </a:r>
          </a:p>
          <a:p>
            <a:pPr lvl="1"/>
            <a:r>
              <a:rPr lang="en-US" dirty="0"/>
              <a:t>One student = one record</a:t>
            </a:r>
          </a:p>
          <a:p>
            <a:pPr lvl="1"/>
            <a:r>
              <a:rPr lang="en-US" dirty="0"/>
              <a:t>Roll, Name, Marks</a:t>
            </a:r>
          </a:p>
          <a:p>
            <a:r>
              <a:rPr dirty="0"/>
              <a:t>Need grouping</a:t>
            </a:r>
            <a:endParaRPr lang="en-US" dirty="0"/>
          </a:p>
          <a:p>
            <a:r>
              <a:rPr lang="en-IN" dirty="0"/>
              <a:t>All details belong to </a:t>
            </a:r>
            <a:r>
              <a:rPr lang="en-IN" b="1" dirty="0"/>
              <a:t>one entity</a:t>
            </a:r>
          </a:p>
          <a:p>
            <a:r>
              <a:rPr lang="en-IN" dirty="0"/>
              <a:t>Structure = </a:t>
            </a:r>
            <a:r>
              <a:rPr lang="en-IN" b="1" dirty="0"/>
              <a:t>one folder with many data types</a:t>
            </a:r>
            <a:endParaRPr lang="en-IN" dirty="0"/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BE5A1-A13F-7500-7501-5E084A65D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45E4F-27F9-9742-52B5-14D8C0E28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</a:t>
            </a:r>
            <a:r>
              <a:rPr lang="en-IN" b="1" dirty="0"/>
              <a:t>structure</a:t>
            </a:r>
            <a:r>
              <a:rPr lang="en-IN" dirty="0"/>
              <a:t> is a </a:t>
            </a:r>
            <a:r>
              <a:rPr lang="en-IN" b="1" dirty="0"/>
              <a:t>user-defined data type</a:t>
            </a:r>
            <a:r>
              <a:rPr lang="en-IN" dirty="0"/>
              <a:t> that groups </a:t>
            </a:r>
            <a:r>
              <a:rPr lang="en-IN" b="1" dirty="0"/>
              <a:t>different data types</a:t>
            </a:r>
            <a:r>
              <a:rPr lang="en-IN" dirty="0"/>
              <a:t> under one name.</a:t>
            </a:r>
          </a:p>
          <a:p>
            <a:r>
              <a:rPr lang="en-IN" dirty="0"/>
              <a:t>✔ Heterogeneous data</a:t>
            </a:r>
            <a:br>
              <a:rPr lang="en-IN" dirty="0"/>
            </a:br>
            <a:r>
              <a:rPr lang="en-IN" dirty="0"/>
              <a:t>✔ Logical grouping</a:t>
            </a:r>
            <a:br>
              <a:rPr lang="en-IN" dirty="0"/>
            </a:br>
            <a:r>
              <a:rPr lang="en-IN" dirty="0"/>
              <a:t>✔ Easy representation of real objects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35716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C2D0B7E-8B01-F2E8-1361-F1638C6867A3}"/>
              </a:ext>
            </a:extLst>
          </p:cNvPr>
          <p:cNvSpPr/>
          <p:nvPr/>
        </p:nvSpPr>
        <p:spPr>
          <a:xfrm>
            <a:off x="486695" y="222795"/>
            <a:ext cx="2212258" cy="167603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63677" y="219086"/>
            <a:ext cx="31119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/>
              <a:t>STRUCTURE</a:t>
            </a:r>
          </a:p>
          <a:p>
            <a:r>
              <a:rPr sz="2400" dirty="0"/>
              <a:t>roll : int</a:t>
            </a:r>
          </a:p>
          <a:p>
            <a:r>
              <a:rPr sz="2400" dirty="0"/>
              <a:t>name : char[]</a:t>
            </a:r>
          </a:p>
          <a:p>
            <a:r>
              <a:rPr sz="2400" dirty="0"/>
              <a:t>marks : float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9AEEC6-79BD-A301-EC4F-2678C173C0B5}"/>
              </a:ext>
            </a:extLst>
          </p:cNvPr>
          <p:cNvSpPr txBox="1"/>
          <p:nvPr/>
        </p:nvSpPr>
        <p:spPr>
          <a:xfrm>
            <a:off x="486695" y="2173723"/>
            <a:ext cx="808211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8790" indent="-252095" algn="just">
              <a:buNone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struct Student {</a:t>
            </a:r>
          </a:p>
          <a:p>
            <a:pPr marL="478790" indent="-252095" algn="just">
              <a:buNone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int roll;</a:t>
            </a:r>
          </a:p>
          <a:p>
            <a:pPr marL="478790" indent="-252095" algn="just">
              <a:buNone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char name[20];</a:t>
            </a:r>
          </a:p>
          <a:p>
            <a:pPr marL="478790" indent="-252095" algn="just">
              <a:buNone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float marks;</a:t>
            </a:r>
          </a:p>
          <a:p>
            <a:pPr marL="478790" indent="-252095" algn="just">
              <a:buNone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};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struct → keyword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Student → structure name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Members → variables inside structure</a:t>
            </a:r>
          </a:p>
          <a:p>
            <a:endParaRPr lang="en-IN" dirty="0"/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DE4FEF-0401-9757-8ECA-D5454AD67F33}"/>
              </a:ext>
            </a:extLst>
          </p:cNvPr>
          <p:cNvSpPr txBox="1"/>
          <p:nvPr/>
        </p:nvSpPr>
        <p:spPr>
          <a:xfrm>
            <a:off x="4144298" y="1530910"/>
            <a:ext cx="54716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struct Student s1;</a:t>
            </a:r>
          </a:p>
          <a:p>
            <a:endParaRPr lang="en-IN" dirty="0"/>
          </a:p>
          <a:p>
            <a:r>
              <a:rPr lang="en-IN" dirty="0"/>
              <a:t>Memory allocated </a:t>
            </a:r>
            <a:r>
              <a:rPr lang="en-IN" b="1" dirty="0"/>
              <a:t>only when variable is declared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Accessing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s.roll</a:t>
            </a:r>
            <a:r>
              <a:rPr dirty="0"/>
              <a:t> = 1;</a:t>
            </a:r>
          </a:p>
          <a:p>
            <a:r>
              <a:rPr dirty="0" err="1"/>
              <a:t>s.marks</a:t>
            </a:r>
            <a:r>
              <a:rPr dirty="0"/>
              <a:t> = 90.5;</a:t>
            </a:r>
            <a:endParaRPr lang="en-US" dirty="0"/>
          </a:p>
          <a:p>
            <a:endParaRPr lang="en-IN" dirty="0"/>
          </a:p>
          <a:p>
            <a:r>
              <a:rPr lang="en-IN" dirty="0"/>
              <a:t>Uses </a:t>
            </a:r>
            <a:r>
              <a:rPr lang="en-IN" b="1" dirty="0"/>
              <a:t>dot (.) operator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4206" y="208266"/>
            <a:ext cx="8229600" cy="457199"/>
          </a:xfrm>
        </p:spPr>
        <p:txBody>
          <a:bodyPr>
            <a:normAutofit fontScale="90000"/>
          </a:bodyPr>
          <a:lstStyle/>
          <a:p>
            <a:r>
              <a:rPr dirty="0"/>
              <a:t>Example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65152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 struct Student {</a:t>
            </a:r>
          </a:p>
          <a:p>
            <a:pPr marL="0" indent="0">
              <a:buNone/>
            </a:pPr>
            <a:r>
              <a:rPr lang="en-IN" dirty="0"/>
              <a:t>    int roll;</a:t>
            </a:r>
          </a:p>
          <a:p>
            <a:pPr marL="0" indent="0">
              <a:buNone/>
            </a:pPr>
            <a:r>
              <a:rPr lang="en-IN" dirty="0"/>
              <a:t>    float marks;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r>
              <a:rPr lang="en-IN" dirty="0"/>
              <a:t> void main() {</a:t>
            </a:r>
          </a:p>
          <a:p>
            <a:pPr marL="0" indent="0">
              <a:buNone/>
            </a:pPr>
            <a:r>
              <a:rPr lang="en-IN" dirty="0"/>
              <a:t>    struct Student s;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s.roll</a:t>
            </a:r>
            <a:r>
              <a:rPr lang="en-IN" dirty="0"/>
              <a:t> = 1;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s.marks</a:t>
            </a:r>
            <a:r>
              <a:rPr lang="en-IN" dirty="0"/>
              <a:t> = 92.5;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("Roll: %d\n", </a:t>
            </a:r>
            <a:r>
              <a:rPr lang="en-IN" dirty="0" err="1"/>
              <a:t>s.roll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("Marks: %.2f", </a:t>
            </a:r>
            <a:r>
              <a:rPr lang="en-IN" dirty="0" err="1"/>
              <a:t>s.marks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8C9B6-E76C-42F4-7F68-472649D4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ED769-B683-7347-DC32-2F6A18049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Better data organization</a:t>
            </a:r>
          </a:p>
          <a:p>
            <a:pPr lvl="0"/>
            <a:r>
              <a:rPr lang="en-IN" dirty="0"/>
              <a:t>Easy maintenance</a:t>
            </a:r>
          </a:p>
          <a:p>
            <a:pPr lvl="0"/>
            <a:r>
              <a:rPr lang="en-IN" dirty="0"/>
              <a:t>Real-world modeling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45181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 of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Used to store </a:t>
            </a:r>
            <a:r>
              <a:rPr lang="en-IN" b="1" dirty="0"/>
              <a:t>multiple records</a:t>
            </a:r>
            <a:r>
              <a:rPr lang="en-IN" dirty="0"/>
              <a:t> of same structure type.</a:t>
            </a:r>
          </a:p>
          <a:p>
            <a:r>
              <a:rPr lang="en-IN" dirty="0"/>
              <a:t>Example: Many students in a class.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 – Class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📚 </a:t>
            </a:r>
            <a:r>
              <a:rPr lang="en-IN" b="1" dirty="0"/>
              <a:t>Class Register</a:t>
            </a:r>
            <a:endParaRPr lang="en-IN" dirty="0"/>
          </a:p>
          <a:p>
            <a:pPr lvl="0"/>
            <a:r>
              <a:rPr lang="en-IN" dirty="0"/>
              <a:t>Each row = one student</a:t>
            </a:r>
          </a:p>
          <a:p>
            <a:pPr lvl="0"/>
            <a:r>
              <a:rPr lang="en-IN" dirty="0"/>
              <a:t>Same structure repeated many times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29246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/>
              <a:t>Array of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877" y="1371600"/>
            <a:ext cx="1736245" cy="52322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ctr"/>
            <a:r>
              <a:rPr sz="2800" dirty="0"/>
              <a:t>Student[0]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557" y="1371600"/>
            <a:ext cx="1736245" cy="52322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ctr"/>
            <a:r>
              <a:rPr sz="2800" dirty="0"/>
              <a:t>Student[1]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1237" y="1371600"/>
            <a:ext cx="1736245" cy="52322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ctr"/>
            <a:r>
              <a:rPr sz="2800" dirty="0"/>
              <a:t>Student[2]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CE4086-3449-95D1-694B-142130A5D9C9}"/>
              </a:ext>
            </a:extLst>
          </p:cNvPr>
          <p:cNvSpPr txBox="1"/>
          <p:nvPr/>
        </p:nvSpPr>
        <p:spPr>
          <a:xfrm>
            <a:off x="1240463" y="2447921"/>
            <a:ext cx="4572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u="sng" dirty="0"/>
              <a:t>Syntax</a:t>
            </a:r>
          </a:p>
          <a:p>
            <a:r>
              <a:rPr lang="en-IN" sz="3600" dirty="0"/>
              <a:t>struct Student s[50];</a:t>
            </a:r>
          </a:p>
          <a:p>
            <a:endParaRPr lang="en-IN" sz="3600" dirty="0"/>
          </a:p>
          <a:p>
            <a:r>
              <a:rPr lang="en-IN" sz="3600" b="1" u="sng" dirty="0"/>
              <a:t>Accessing Elements</a:t>
            </a:r>
          </a:p>
          <a:p>
            <a:r>
              <a:rPr lang="en-US" sz="3600" dirty="0"/>
              <a:t>s[</a:t>
            </a:r>
            <a:r>
              <a:rPr lang="en-US" sz="3600" dirty="0" err="1"/>
              <a:t>i</a:t>
            </a:r>
            <a:r>
              <a:rPr lang="en-US" sz="3600" dirty="0"/>
              <a:t>].roll</a:t>
            </a:r>
          </a:p>
          <a:p>
            <a:r>
              <a:rPr lang="en-US" sz="3600" dirty="0"/>
              <a:t>s[</a:t>
            </a:r>
            <a:r>
              <a:rPr lang="en-US" sz="3600" dirty="0" err="1"/>
              <a:t>i</a:t>
            </a:r>
            <a:r>
              <a:rPr lang="en-US" sz="3600" dirty="0"/>
              <a:t>].marks</a:t>
            </a:r>
          </a:p>
          <a:p>
            <a:endParaRPr lang="en-IN" sz="3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2914"/>
            <a:ext cx="8229600" cy="330046"/>
          </a:xfrm>
        </p:spPr>
        <p:txBody>
          <a:bodyPr>
            <a:normAutofit fontScale="90000"/>
          </a:bodyPr>
          <a:lstStyle/>
          <a:p>
            <a:r>
              <a:rPr dirty="0"/>
              <a:t>Example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2960"/>
            <a:ext cx="8229600" cy="63621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300" dirty="0"/>
              <a:t>#include &lt;</a:t>
            </a:r>
            <a:r>
              <a:rPr lang="en-IN" sz="2300" dirty="0" err="1"/>
              <a:t>stdio.h</a:t>
            </a:r>
            <a:r>
              <a:rPr lang="en-IN" sz="2300" dirty="0"/>
              <a:t>&gt;</a:t>
            </a:r>
          </a:p>
          <a:p>
            <a:pPr marL="0" indent="0">
              <a:buNone/>
            </a:pPr>
            <a:r>
              <a:rPr lang="en-IN" sz="2300" dirty="0"/>
              <a:t>struct Student {</a:t>
            </a:r>
          </a:p>
          <a:p>
            <a:pPr marL="0" indent="0">
              <a:buNone/>
            </a:pPr>
            <a:r>
              <a:rPr lang="en-IN" sz="2300" dirty="0"/>
              <a:t>    int roll;</a:t>
            </a:r>
          </a:p>
          <a:p>
            <a:pPr marL="0" indent="0">
              <a:buNone/>
            </a:pPr>
            <a:r>
              <a:rPr lang="en-IN" sz="2300" dirty="0"/>
              <a:t>    float marks;</a:t>
            </a:r>
          </a:p>
          <a:p>
            <a:pPr marL="0" indent="0">
              <a:buNone/>
            </a:pPr>
            <a:r>
              <a:rPr lang="en-IN" sz="2300" dirty="0"/>
              <a:t>};</a:t>
            </a:r>
          </a:p>
          <a:p>
            <a:pPr marL="0" indent="0">
              <a:buNone/>
            </a:pPr>
            <a:r>
              <a:rPr lang="en-IN" sz="2300" dirty="0"/>
              <a:t>int main() {</a:t>
            </a:r>
          </a:p>
          <a:p>
            <a:pPr marL="0" indent="0">
              <a:buNone/>
            </a:pPr>
            <a:r>
              <a:rPr lang="en-IN" sz="2300" dirty="0"/>
              <a:t>    struct Student s[2];</a:t>
            </a:r>
          </a:p>
          <a:p>
            <a:pPr marL="0" indent="0">
              <a:buNone/>
            </a:pPr>
            <a:r>
              <a:rPr lang="en-IN" sz="2300" dirty="0"/>
              <a:t>    s[0].roll = 1;</a:t>
            </a:r>
          </a:p>
          <a:p>
            <a:pPr marL="0" indent="0">
              <a:buNone/>
            </a:pPr>
            <a:r>
              <a:rPr lang="en-IN" sz="2300" dirty="0"/>
              <a:t>    s[0].marks = 90;</a:t>
            </a:r>
          </a:p>
          <a:p>
            <a:pPr marL="0" indent="0">
              <a:buNone/>
            </a:pPr>
            <a:r>
              <a:rPr lang="en-IN" sz="2300" dirty="0"/>
              <a:t>    s[1].roll = 2;</a:t>
            </a:r>
          </a:p>
          <a:p>
            <a:pPr marL="0" indent="0">
              <a:buNone/>
            </a:pPr>
            <a:r>
              <a:rPr lang="en-IN" sz="2300" dirty="0"/>
              <a:t>    s[1].marks = 85;</a:t>
            </a:r>
          </a:p>
          <a:p>
            <a:pPr marL="0" indent="0">
              <a:buNone/>
            </a:pPr>
            <a:r>
              <a:rPr lang="en-IN" sz="2300" dirty="0"/>
              <a:t>    for(int </a:t>
            </a:r>
            <a:r>
              <a:rPr lang="en-IN" sz="2300" dirty="0" err="1"/>
              <a:t>i</a:t>
            </a:r>
            <a:r>
              <a:rPr lang="en-IN" sz="2300" dirty="0"/>
              <a:t>=0;i&lt;2;i++)</a:t>
            </a:r>
          </a:p>
          <a:p>
            <a:pPr marL="0" indent="0">
              <a:buNone/>
            </a:pPr>
            <a:r>
              <a:rPr lang="en-IN" sz="2300" dirty="0"/>
              <a:t>        </a:t>
            </a:r>
            <a:r>
              <a:rPr lang="en-IN" sz="2300" dirty="0" err="1"/>
              <a:t>printf</a:t>
            </a:r>
            <a:r>
              <a:rPr lang="en-IN" sz="2300" dirty="0"/>
              <a:t>("%d %.2f\n", s[</a:t>
            </a:r>
            <a:r>
              <a:rPr lang="en-IN" sz="2300" dirty="0" err="1"/>
              <a:t>i</a:t>
            </a:r>
            <a:r>
              <a:rPr lang="en-IN" sz="2300" dirty="0"/>
              <a:t>].roll, s[</a:t>
            </a:r>
            <a:r>
              <a:rPr lang="en-IN" sz="2300" dirty="0" err="1"/>
              <a:t>i</a:t>
            </a:r>
            <a:r>
              <a:rPr lang="en-IN" sz="2300" dirty="0"/>
              <a:t>].marks);</a:t>
            </a:r>
          </a:p>
          <a:p>
            <a:pPr marL="0" indent="0">
              <a:buNone/>
            </a:pPr>
            <a:r>
              <a:rPr lang="en-IN" sz="2300" dirty="0"/>
              <a:t>    return 0;</a:t>
            </a:r>
          </a:p>
          <a:p>
            <a:pPr marL="0" indent="0">
              <a:buNone/>
            </a:pPr>
            <a:r>
              <a:rPr lang="en-IN" sz="2300" dirty="0"/>
              <a:t>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Used in databases</a:t>
            </a:r>
          </a:p>
          <a:p>
            <a:pPr lvl="0"/>
            <a:r>
              <a:rPr lang="en-IN" dirty="0"/>
              <a:t>Easy record management</a:t>
            </a:r>
          </a:p>
          <a:p>
            <a:pPr lvl="0"/>
            <a:r>
              <a:rPr lang="en-IN" dirty="0"/>
              <a:t>File handling support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Structure inside another structure</a:t>
            </a:r>
            <a:endParaRPr lang="en-US" dirty="0"/>
          </a:p>
          <a:p>
            <a:endParaRPr lang="en-IN" dirty="0"/>
          </a:p>
          <a:p>
            <a:r>
              <a:rPr lang="en-IN" dirty="0"/>
              <a:t>🆔 </a:t>
            </a:r>
            <a:r>
              <a:rPr lang="en-IN" b="1" dirty="0"/>
              <a:t>Student ID Card</a:t>
            </a:r>
            <a:endParaRPr lang="en-IN" dirty="0"/>
          </a:p>
          <a:p>
            <a:pPr lvl="1"/>
            <a:r>
              <a:rPr lang="en-IN" dirty="0"/>
              <a:t>Personal details</a:t>
            </a:r>
          </a:p>
          <a:p>
            <a:pPr lvl="1"/>
            <a:r>
              <a:rPr lang="en-IN" dirty="0"/>
              <a:t>Address details inside it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8E8514-34DC-1D03-AA3C-58AEBDAA5632}"/>
              </a:ext>
            </a:extLst>
          </p:cNvPr>
          <p:cNvSpPr txBox="1"/>
          <p:nvPr/>
        </p:nvSpPr>
        <p:spPr>
          <a:xfrm>
            <a:off x="1519083" y="1190923"/>
            <a:ext cx="6858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8790" indent="-252095" algn="just">
              <a:buNone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struct Address {</a:t>
            </a:r>
          </a:p>
          <a:p>
            <a:pPr marL="478790" indent="-252095" algn="just">
              <a:buNone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char city[20];</a:t>
            </a:r>
          </a:p>
          <a:p>
            <a:pPr marL="478790" indent="-252095" algn="just">
              <a:buNone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};</a:t>
            </a:r>
          </a:p>
          <a:p>
            <a:pPr marL="478790" indent="-252095" algn="just">
              <a:buNone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 </a:t>
            </a:r>
          </a:p>
          <a:p>
            <a:pPr marL="478790" indent="-252095" algn="just">
              <a:buNone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struct Student {</a:t>
            </a:r>
          </a:p>
          <a:p>
            <a:pPr marL="478790" indent="-252095" algn="just">
              <a:buNone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int roll;</a:t>
            </a:r>
          </a:p>
          <a:p>
            <a:pPr marL="478790" indent="-252095" algn="just">
              <a:buNone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struct Address </a:t>
            </a:r>
            <a:r>
              <a:rPr lang="en-IN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addr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;</a:t>
            </a:r>
          </a:p>
          <a:p>
            <a:pPr marL="478790" indent="-252095" algn="just">
              <a:buNone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};</a:t>
            </a:r>
          </a:p>
          <a:p>
            <a:pPr marL="478790" indent="-252095" algn="just">
              <a:buNone/>
            </a:pPr>
            <a:endParaRPr lang="en-IN" sz="2800" kern="100" dirty="0"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marL="478790" indent="-252095" algn="just">
              <a:buNone/>
            </a:pP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marL="478790" indent="-252095" algn="just"/>
            <a:r>
              <a:rPr lang="en-IN" sz="2800" dirty="0" err="1"/>
              <a:t>s.addr.city</a:t>
            </a:r>
            <a:r>
              <a:rPr lang="en-IN" sz="2800" dirty="0"/>
              <a:t> = "Chennai";</a:t>
            </a:r>
          </a:p>
          <a:p>
            <a:pPr marL="478790" indent="-252095" algn="just">
              <a:buNone/>
            </a:pP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r>
              <a:rPr dirty="0"/>
              <a:t>Example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91410"/>
            <a:ext cx="8229600" cy="626659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 struct Address { char city[20]; };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pPr marL="0" indent="0">
              <a:buNone/>
            </a:pPr>
            <a:r>
              <a:rPr lang="en-IN" dirty="0"/>
              <a:t>struct Student {</a:t>
            </a:r>
          </a:p>
          <a:p>
            <a:pPr marL="0" indent="0">
              <a:buNone/>
            </a:pPr>
            <a:r>
              <a:rPr lang="en-IN" dirty="0"/>
              <a:t>    int roll;</a:t>
            </a:r>
          </a:p>
          <a:p>
            <a:pPr marL="0" indent="0">
              <a:buNone/>
            </a:pPr>
            <a:r>
              <a:rPr lang="en-IN" dirty="0"/>
              <a:t>    struct Address </a:t>
            </a:r>
            <a:r>
              <a:rPr lang="en-IN" dirty="0" err="1"/>
              <a:t>addr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struct Student s = {1, "Chennai"};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("%d %s", </a:t>
            </a:r>
            <a:r>
              <a:rPr lang="en-IN" dirty="0" err="1"/>
              <a:t>s.roll</a:t>
            </a:r>
            <a:r>
              <a:rPr lang="en-IN" dirty="0"/>
              <a:t>, </a:t>
            </a:r>
            <a:r>
              <a:rPr lang="en-IN" dirty="0" err="1"/>
              <a:t>s.addr.city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B7734-4DCD-1AA6-DCA6-9EFF9F78A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700" dirty="0"/>
              <a:t>#include &lt;</a:t>
            </a:r>
            <a:r>
              <a:rPr lang="en-IN" sz="2700" dirty="0" err="1"/>
              <a:t>stdio.h</a:t>
            </a:r>
            <a:r>
              <a:rPr lang="en-IN" sz="2700" dirty="0"/>
              <a:t>&gt;</a:t>
            </a:r>
          </a:p>
          <a:p>
            <a:pPr marL="0" indent="0">
              <a:buNone/>
            </a:pPr>
            <a:r>
              <a:rPr lang="en-IN" sz="2700" dirty="0"/>
              <a:t>struct Address {</a:t>
            </a:r>
          </a:p>
          <a:p>
            <a:pPr marL="0" indent="0">
              <a:buNone/>
            </a:pPr>
            <a:r>
              <a:rPr lang="en-IN" sz="2700" dirty="0"/>
              <a:t>    int </a:t>
            </a:r>
            <a:r>
              <a:rPr lang="en-IN" sz="2700" dirty="0" err="1"/>
              <a:t>houseNo</a:t>
            </a:r>
            <a:r>
              <a:rPr lang="en-IN" sz="2700" dirty="0"/>
              <a:t>;     char city[20];         int </a:t>
            </a:r>
            <a:r>
              <a:rPr lang="en-IN" sz="2700" dirty="0" err="1"/>
              <a:t>pincode</a:t>
            </a:r>
            <a:r>
              <a:rPr lang="en-IN" sz="2700" dirty="0"/>
              <a:t>;</a:t>
            </a:r>
          </a:p>
          <a:p>
            <a:pPr marL="0" indent="0">
              <a:buNone/>
            </a:pPr>
            <a:r>
              <a:rPr lang="en-IN" sz="2700" dirty="0"/>
              <a:t>};</a:t>
            </a:r>
          </a:p>
          <a:p>
            <a:pPr marL="0" indent="0">
              <a:buNone/>
            </a:pPr>
            <a:r>
              <a:rPr lang="en-IN" sz="2700" dirty="0"/>
              <a:t>struct Student {      int roll;       struct Address </a:t>
            </a:r>
            <a:r>
              <a:rPr lang="en-IN" sz="2700" dirty="0" err="1"/>
              <a:t>addr</a:t>
            </a:r>
            <a:r>
              <a:rPr lang="en-IN" sz="2700" dirty="0"/>
              <a:t>;  };</a:t>
            </a:r>
          </a:p>
          <a:p>
            <a:pPr marL="0" indent="0">
              <a:buNone/>
            </a:pPr>
            <a:r>
              <a:rPr lang="en-IN" sz="2700" dirty="0"/>
              <a:t>int main() {</a:t>
            </a:r>
          </a:p>
          <a:p>
            <a:pPr marL="0" indent="0">
              <a:buNone/>
            </a:pPr>
            <a:r>
              <a:rPr lang="en-IN" sz="2700" dirty="0"/>
              <a:t>    struct Student s = {          1,              // roll</a:t>
            </a:r>
          </a:p>
          <a:p>
            <a:pPr marL="0" indent="0">
              <a:buNone/>
            </a:pPr>
            <a:r>
              <a:rPr lang="en-IN" sz="2700" dirty="0"/>
              <a:t>        { 25, "Chennai", 600001 }  }; // Address details</a:t>
            </a:r>
          </a:p>
          <a:p>
            <a:pPr marL="0" indent="0">
              <a:buNone/>
            </a:pPr>
            <a:r>
              <a:rPr lang="en-IN" sz="2700" dirty="0"/>
              <a:t>       </a:t>
            </a:r>
            <a:r>
              <a:rPr lang="en-IN" sz="2700" dirty="0" err="1"/>
              <a:t>printf</a:t>
            </a:r>
            <a:r>
              <a:rPr lang="en-IN" sz="2700" dirty="0"/>
              <a:t>("Roll No: %d\n", </a:t>
            </a:r>
            <a:r>
              <a:rPr lang="en-IN" sz="2700" dirty="0" err="1"/>
              <a:t>s.roll</a:t>
            </a:r>
            <a:r>
              <a:rPr lang="en-IN" sz="2700" dirty="0"/>
              <a:t>);    </a:t>
            </a:r>
          </a:p>
          <a:p>
            <a:pPr marL="0" indent="0">
              <a:buNone/>
            </a:pPr>
            <a:r>
              <a:rPr lang="en-IN" sz="2700" dirty="0"/>
              <a:t>    </a:t>
            </a:r>
            <a:r>
              <a:rPr lang="en-IN" sz="2700" dirty="0" err="1"/>
              <a:t>printf</a:t>
            </a:r>
            <a:r>
              <a:rPr lang="en-IN" sz="2700" dirty="0"/>
              <a:t>("House No: %d\n", </a:t>
            </a:r>
            <a:r>
              <a:rPr lang="en-IN" sz="2700" dirty="0" err="1"/>
              <a:t>s.addr.houseNo</a:t>
            </a:r>
            <a:r>
              <a:rPr lang="en-IN" sz="2700" dirty="0"/>
              <a:t>);</a:t>
            </a:r>
          </a:p>
          <a:p>
            <a:pPr marL="0" indent="0">
              <a:buNone/>
            </a:pPr>
            <a:r>
              <a:rPr lang="en-IN" sz="2700" dirty="0"/>
              <a:t>    </a:t>
            </a:r>
            <a:r>
              <a:rPr lang="en-IN" sz="2700" dirty="0" err="1"/>
              <a:t>printf</a:t>
            </a:r>
            <a:r>
              <a:rPr lang="en-IN" sz="2700" dirty="0"/>
              <a:t>("City: %s\n", </a:t>
            </a:r>
            <a:r>
              <a:rPr lang="en-IN" sz="2700" dirty="0" err="1"/>
              <a:t>s.addr.city</a:t>
            </a:r>
            <a:r>
              <a:rPr lang="en-IN" sz="2700" dirty="0"/>
              <a:t>);    </a:t>
            </a:r>
            <a:r>
              <a:rPr lang="en-IN" sz="2700" dirty="0" err="1"/>
              <a:t>printf</a:t>
            </a:r>
            <a:r>
              <a:rPr lang="en-IN" sz="2700" dirty="0"/>
              <a:t>("</a:t>
            </a:r>
            <a:r>
              <a:rPr lang="en-IN" sz="2700" dirty="0" err="1"/>
              <a:t>Pincode</a:t>
            </a:r>
            <a:r>
              <a:rPr lang="en-IN" sz="2700" dirty="0"/>
              <a:t>: %d\n", </a:t>
            </a:r>
            <a:r>
              <a:rPr lang="en-IN" sz="2700" dirty="0" err="1"/>
              <a:t>s.addr.pincode</a:t>
            </a:r>
            <a:r>
              <a:rPr lang="en-IN" sz="2700" dirty="0"/>
              <a:t>);</a:t>
            </a:r>
          </a:p>
          <a:p>
            <a:pPr marL="0" indent="0">
              <a:buNone/>
            </a:pPr>
            <a:r>
              <a:rPr lang="en-IN" sz="2700" dirty="0"/>
              <a:t>    return 0;</a:t>
            </a:r>
          </a:p>
          <a:p>
            <a:pPr marL="0" indent="0">
              <a:buNone/>
            </a:pPr>
            <a:r>
              <a:rPr lang="en-IN" sz="27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085882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Structures with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lnSpcReduction="10000"/>
          </a:bodyPr>
          <a:lstStyle/>
          <a:p>
            <a:r>
              <a:rPr lang="en-IN" sz="3600" dirty="0"/>
              <a:t>Structures can be:</a:t>
            </a:r>
          </a:p>
          <a:p>
            <a:pPr lvl="1"/>
            <a:r>
              <a:rPr lang="en-IN" sz="3200" dirty="0"/>
              <a:t>Passed to functions</a:t>
            </a:r>
          </a:p>
          <a:p>
            <a:pPr lvl="1"/>
            <a:r>
              <a:rPr lang="en-IN" sz="3200" dirty="0"/>
              <a:t>Returned from functions</a:t>
            </a:r>
          </a:p>
          <a:p>
            <a:pPr lvl="1"/>
            <a:r>
              <a:rPr lang="en-IN" sz="3200" dirty="0"/>
              <a:t>Example - 📤 Sending a student file to teacher for evaluation</a:t>
            </a:r>
          </a:p>
          <a:p>
            <a:pPr lvl="1"/>
            <a:r>
              <a:rPr lang="en-IN" sz="3200" dirty="0"/>
              <a:t>Benefits</a:t>
            </a:r>
          </a:p>
          <a:p>
            <a:pPr lvl="2"/>
            <a:r>
              <a:rPr lang="en-IN" sz="2800" dirty="0"/>
              <a:t>Modularity</a:t>
            </a:r>
          </a:p>
          <a:p>
            <a:pPr lvl="2"/>
            <a:r>
              <a:rPr lang="en-IN" sz="2800" dirty="0"/>
              <a:t>Reusability</a:t>
            </a:r>
          </a:p>
          <a:p>
            <a:pPr lvl="2"/>
            <a:r>
              <a:rPr lang="en-IN" sz="2800" dirty="0"/>
              <a:t>Efficient memory use</a:t>
            </a:r>
          </a:p>
          <a:p>
            <a:pPr lvl="1"/>
            <a:endParaRPr lang="en-IN" sz="3200" dirty="0"/>
          </a:p>
          <a:p>
            <a:pPr lvl="1"/>
            <a:endParaRPr lang="en-IN" sz="3200" dirty="0"/>
          </a:p>
          <a:p>
            <a:pPr lvl="1"/>
            <a:endParaRPr lang="en-IN" sz="3200" dirty="0"/>
          </a:p>
          <a:p>
            <a:pPr lvl="1"/>
            <a:endParaRPr lang="en-IN" sz="3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Pass by Value</a:t>
            </a:r>
            <a:r>
              <a:rPr lang="en-US" dirty="0"/>
              <a:t> and Reference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Pass by Value</a:t>
            </a:r>
            <a:endParaRPr lang="en-IN" sz="4000" dirty="0"/>
          </a:p>
          <a:p>
            <a:pPr lvl="1"/>
            <a:r>
              <a:rPr sz="3600" dirty="0"/>
              <a:t>void display(struct Student s);</a:t>
            </a:r>
            <a:endParaRPr lang="en-US" sz="3600" dirty="0"/>
          </a:p>
          <a:p>
            <a:r>
              <a:rPr lang="en-IN" sz="4000" b="1" dirty="0"/>
              <a:t>Pass by Reference</a:t>
            </a:r>
            <a:endParaRPr lang="en-IN" sz="4000" dirty="0"/>
          </a:p>
          <a:p>
            <a:pPr lvl="1"/>
            <a:r>
              <a:rPr lang="en-IN" sz="3600" dirty="0"/>
              <a:t>void update(struct Student *s);</a:t>
            </a:r>
          </a:p>
          <a:p>
            <a:endParaRPr sz="4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327"/>
            <a:ext cx="8229600" cy="654510"/>
          </a:xfrm>
        </p:spPr>
        <p:txBody>
          <a:bodyPr>
            <a:normAutofit fontScale="90000"/>
          </a:bodyPr>
          <a:lstStyle/>
          <a:p>
            <a:r>
              <a:rPr dirty="0"/>
              <a:t>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0155"/>
            <a:ext cx="8229600" cy="59105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void display(struct Student s)</a:t>
            </a:r>
          </a:p>
          <a:p>
            <a:pPr marL="0" indent="0">
              <a:buNone/>
            </a:pPr>
            <a:r>
              <a:rPr lang="en-IN" dirty="0"/>
              <a:t>{    </a:t>
            </a:r>
            <a:r>
              <a:rPr lang="en-IN" dirty="0" err="1"/>
              <a:t>printf</a:t>
            </a:r>
            <a:r>
              <a:rPr lang="en-IN" dirty="0"/>
              <a:t>("%d", </a:t>
            </a:r>
            <a:r>
              <a:rPr lang="en-IN" dirty="0" err="1"/>
              <a:t>s.roll</a:t>
            </a:r>
            <a:r>
              <a:rPr lang="en-IN" dirty="0"/>
              <a:t>);  }</a:t>
            </a:r>
          </a:p>
          <a:p>
            <a:pPr marL="0" indent="0">
              <a:buNone/>
            </a:pPr>
            <a:r>
              <a:rPr lang="en-IN" dirty="0"/>
              <a:t>--------------------------</a:t>
            </a:r>
          </a:p>
          <a:p>
            <a:pPr marL="0" indent="0">
              <a:buNone/>
            </a:pPr>
            <a:r>
              <a:rPr lang="en-IN" dirty="0"/>
              <a:t>void update(struct Student *s) </a:t>
            </a:r>
          </a:p>
          <a:p>
            <a:pPr marL="0" indent="0">
              <a:buNone/>
            </a:pPr>
            <a:r>
              <a:rPr lang="en-IN" dirty="0"/>
              <a:t>{     s-&gt;marks = 95;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s is a </a:t>
            </a:r>
            <a:r>
              <a:rPr lang="en-US" b="1" dirty="0"/>
              <a:t>pointer to structure</a:t>
            </a:r>
            <a:br>
              <a:rPr lang="en-US" dirty="0"/>
            </a:br>
            <a:r>
              <a:rPr lang="en-US" dirty="0"/>
              <a:t>It stores the </a:t>
            </a:r>
            <a:r>
              <a:rPr lang="en-US" b="1" dirty="0"/>
              <a:t>address</a:t>
            </a:r>
            <a:r>
              <a:rPr lang="en-US" dirty="0"/>
              <a:t> of original structure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IN" dirty="0"/>
              <a:t>is the </a:t>
            </a:r>
            <a:r>
              <a:rPr lang="en-IN" b="1" dirty="0"/>
              <a:t>arrow operator</a:t>
            </a:r>
          </a:p>
          <a:p>
            <a:pPr marL="0" indent="0">
              <a:buNone/>
            </a:pPr>
            <a:r>
              <a:rPr lang="en-US" dirty="0"/>
              <a:t>It Directly updates the </a:t>
            </a:r>
            <a:r>
              <a:rPr lang="en-US" b="1" dirty="0"/>
              <a:t>original structure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A74B9-FC80-3E75-2A47-8CF42E8F1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56303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struct Student {    int roll;     float marks; };</a:t>
            </a:r>
          </a:p>
          <a:p>
            <a:pPr marL="0" indent="0">
              <a:buNone/>
            </a:pPr>
            <a:r>
              <a:rPr lang="en-IN" dirty="0"/>
              <a:t>void display(struct Student s)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("Roll: %d\n", </a:t>
            </a:r>
            <a:r>
              <a:rPr lang="en-IN" dirty="0" err="1"/>
              <a:t>s.roll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void update(struct Student *s) {    s-&gt;marks = 95; }</a:t>
            </a:r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struct Student s1 = {1, 80};</a:t>
            </a:r>
          </a:p>
          <a:p>
            <a:pPr marL="0" indent="0">
              <a:buNone/>
            </a:pPr>
            <a:r>
              <a:rPr lang="en-IN" dirty="0"/>
              <a:t>    display(s1);       // pass by value</a:t>
            </a:r>
          </a:p>
          <a:p>
            <a:pPr marL="0" indent="0">
              <a:buNone/>
            </a:pPr>
            <a:r>
              <a:rPr lang="en-IN" dirty="0"/>
              <a:t>    update(&amp;s1);       // pass by reference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("Marks after update: %.2f", s1.marks);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E7E79F-D5F4-5A68-4096-13ECA5088FD9}"/>
              </a:ext>
            </a:extLst>
          </p:cNvPr>
          <p:cNvSpPr txBox="1"/>
          <p:nvPr/>
        </p:nvSpPr>
        <p:spPr>
          <a:xfrm>
            <a:off x="4807975" y="5807388"/>
            <a:ext cx="4572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i="1" dirty="0"/>
              <a:t>Roll: 1</a:t>
            </a:r>
          </a:p>
          <a:p>
            <a:r>
              <a:rPr lang="en-IN" sz="2500" i="1" dirty="0"/>
              <a:t>Marks after update: 95.00</a:t>
            </a:r>
          </a:p>
        </p:txBody>
      </p:sp>
    </p:spTree>
    <p:extLst>
      <p:ext uri="{BB962C8B-B14F-4D97-AF65-F5344CB8AC3E}">
        <p14:creationId xmlns:p14="http://schemas.microsoft.com/office/powerpoint/2010/main" val="14366532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Self-Referential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Pointer to same structure type</a:t>
            </a:r>
            <a:endParaRPr lang="en-US" dirty="0"/>
          </a:p>
          <a:p>
            <a:r>
              <a:rPr lang="en-IN" dirty="0"/>
              <a:t>Each points to next</a:t>
            </a:r>
          </a:p>
          <a:p>
            <a:r>
              <a:rPr lang="en-IN" b="1" dirty="0"/>
              <a:t>Train Compartments</a:t>
            </a:r>
          </a:p>
          <a:p>
            <a:pPr lvl="1"/>
            <a:r>
              <a:rPr lang="en-IN" dirty="0"/>
              <a:t>	Each compartment points to the next.</a:t>
            </a:r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5910" y="1106129"/>
            <a:ext cx="2138516" cy="58477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sz="3200" dirty="0"/>
              <a:t>data | next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A73052-9F6C-AA10-5733-FD3D8C7B31CF}"/>
              </a:ext>
            </a:extLst>
          </p:cNvPr>
          <p:cNvSpPr txBox="1"/>
          <p:nvPr/>
        </p:nvSpPr>
        <p:spPr>
          <a:xfrm>
            <a:off x="6179574" y="1106129"/>
            <a:ext cx="2138516" cy="58477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sz="3200" dirty="0"/>
              <a:t>data | next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0A34FD-11F5-6A07-C1FE-361FD9A8E8D8}"/>
              </a:ext>
            </a:extLst>
          </p:cNvPr>
          <p:cNvSpPr txBox="1"/>
          <p:nvPr/>
        </p:nvSpPr>
        <p:spPr>
          <a:xfrm>
            <a:off x="3502742" y="1125548"/>
            <a:ext cx="2138516" cy="58477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sz="3200" dirty="0"/>
              <a:t>data | next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8BA67D-51B7-E6F7-6E36-B13E672A4715}"/>
              </a:ext>
            </a:extLst>
          </p:cNvPr>
          <p:cNvSpPr txBox="1"/>
          <p:nvPr/>
        </p:nvSpPr>
        <p:spPr>
          <a:xfrm>
            <a:off x="825909" y="2196320"/>
            <a:ext cx="668101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8790" indent="-252095" algn="just">
              <a:buNone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struct Node {</a:t>
            </a:r>
          </a:p>
          <a:p>
            <a:pPr marL="478790" indent="-252095" algn="just">
              <a:buNone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int data;</a:t>
            </a:r>
          </a:p>
          <a:p>
            <a:pPr marL="478790" indent="-252095" algn="just">
              <a:buNone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   struct Node *next;</a:t>
            </a:r>
          </a:p>
          <a:p>
            <a:pPr marL="478790" indent="-252095" algn="just">
              <a:buNone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};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4000" dirty="0"/>
              <a:t>Avoid infinite size</a:t>
            </a:r>
            <a:endParaRPr lang="en-US" sz="4000" dirty="0"/>
          </a:p>
          <a:p>
            <a:r>
              <a:rPr lang="en-IN" dirty="0"/>
              <a:t>Cannot contain variable of same type</a:t>
            </a:r>
          </a:p>
          <a:p>
            <a:r>
              <a:rPr lang="en-IN" dirty="0"/>
              <a:t>Can contain pointer to same type</a:t>
            </a:r>
            <a:endParaRPr lang="en-US" sz="4000" dirty="0"/>
          </a:p>
          <a:p>
            <a:r>
              <a:rPr lang="en-IN" sz="4000" dirty="0"/>
              <a:t>Applications</a:t>
            </a:r>
          </a:p>
          <a:p>
            <a:pPr lvl="1"/>
            <a:r>
              <a:rPr lang="en-IN" sz="3600" dirty="0"/>
              <a:t> Linked list</a:t>
            </a:r>
          </a:p>
          <a:p>
            <a:pPr lvl="1"/>
            <a:r>
              <a:rPr lang="en-IN" sz="3600" dirty="0"/>
              <a:t> Trees</a:t>
            </a:r>
          </a:p>
          <a:p>
            <a:pPr lvl="1"/>
            <a:r>
              <a:rPr lang="en-IN" sz="3600" dirty="0"/>
              <a:t> Dynamic Data structures</a:t>
            </a:r>
          </a:p>
          <a:p>
            <a:endParaRPr sz="4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03B22-457B-1C75-D3A6-4D957BBB6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struct Node {</a:t>
            </a:r>
          </a:p>
          <a:p>
            <a:pPr marL="0" indent="0">
              <a:buNone/>
            </a:pPr>
            <a:r>
              <a:rPr lang="en-US" dirty="0"/>
              <a:t>    int data;</a:t>
            </a:r>
          </a:p>
          <a:p>
            <a:pPr marL="0" indent="0">
              <a:buNone/>
            </a:pPr>
            <a:r>
              <a:rPr lang="en-US" dirty="0"/>
              <a:t>    struct Node *next;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struct Node n1, n2;</a:t>
            </a:r>
          </a:p>
          <a:p>
            <a:pPr marL="0" indent="0">
              <a:buNone/>
            </a:pPr>
            <a:r>
              <a:rPr lang="en-US" dirty="0"/>
              <a:t>    n1.data = 10;</a:t>
            </a:r>
          </a:p>
          <a:p>
            <a:pPr marL="0" indent="0">
              <a:buNone/>
            </a:pPr>
            <a:r>
              <a:rPr lang="en-US" dirty="0"/>
              <a:t>    n1.next = &amp;n2;</a:t>
            </a:r>
          </a:p>
          <a:p>
            <a:pPr marL="0" indent="0">
              <a:buNone/>
            </a:pPr>
            <a:r>
              <a:rPr lang="en-US" dirty="0"/>
              <a:t>    n2.data = 20;</a:t>
            </a:r>
          </a:p>
          <a:p>
            <a:pPr marL="0" indent="0">
              <a:buNone/>
            </a:pPr>
            <a:r>
              <a:rPr lang="en-US" dirty="0"/>
              <a:t>    n2.next = NULL;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("%d -&gt; %d", n1.data, n1.next-&gt;data);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751222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641F9-4209-7B7A-70E3-D53EE3BFD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50" dirty="0"/>
              <a:t>#include &lt;</a:t>
            </a:r>
            <a:r>
              <a:rPr lang="en-IN" sz="2050" dirty="0" err="1"/>
              <a:t>stdio.h</a:t>
            </a:r>
            <a:r>
              <a:rPr lang="en-IN" sz="2050" dirty="0"/>
              <a:t>&gt;     #include &lt;</a:t>
            </a:r>
            <a:r>
              <a:rPr lang="en-IN" sz="2050" dirty="0" err="1"/>
              <a:t>stdlib.h</a:t>
            </a:r>
            <a:r>
              <a:rPr lang="en-IN" sz="2050" dirty="0"/>
              <a:t>&gt;</a:t>
            </a:r>
          </a:p>
          <a:p>
            <a:pPr marL="0" indent="0">
              <a:buNone/>
            </a:pPr>
            <a:r>
              <a:rPr lang="en-IN" sz="2050" dirty="0"/>
              <a:t>struct Node {     int data;       struct Node *next;  };</a:t>
            </a:r>
          </a:p>
          <a:p>
            <a:pPr marL="0" indent="0">
              <a:buNone/>
            </a:pPr>
            <a:r>
              <a:rPr lang="en-IN" sz="2050" dirty="0"/>
              <a:t>int main() {</a:t>
            </a:r>
          </a:p>
          <a:p>
            <a:pPr marL="0" indent="0">
              <a:buNone/>
            </a:pPr>
            <a:r>
              <a:rPr lang="en-IN" sz="2050" dirty="0"/>
              <a:t>    struct Node *head, *second, *third;</a:t>
            </a:r>
          </a:p>
          <a:p>
            <a:pPr marL="0" indent="0">
              <a:buNone/>
            </a:pPr>
            <a:r>
              <a:rPr lang="en-IN" sz="2050" dirty="0"/>
              <a:t>    head = (struct Node *)malloc(</a:t>
            </a:r>
            <a:r>
              <a:rPr lang="en-IN" sz="2050" dirty="0" err="1"/>
              <a:t>sizeof</a:t>
            </a:r>
            <a:r>
              <a:rPr lang="en-IN" sz="2050" dirty="0"/>
              <a:t>(struct Node));</a:t>
            </a:r>
          </a:p>
          <a:p>
            <a:pPr marL="0" indent="0">
              <a:buNone/>
            </a:pPr>
            <a:r>
              <a:rPr lang="en-IN" sz="2050" dirty="0"/>
              <a:t>    second = (struct Node *)malloc(</a:t>
            </a:r>
            <a:r>
              <a:rPr lang="en-IN" sz="2050" dirty="0" err="1"/>
              <a:t>sizeof</a:t>
            </a:r>
            <a:r>
              <a:rPr lang="en-IN" sz="2050" dirty="0"/>
              <a:t>(struct Node));</a:t>
            </a:r>
          </a:p>
          <a:p>
            <a:pPr marL="0" indent="0">
              <a:buNone/>
            </a:pPr>
            <a:r>
              <a:rPr lang="en-IN" sz="2050" dirty="0"/>
              <a:t>    third = (struct Node *)malloc(</a:t>
            </a:r>
            <a:r>
              <a:rPr lang="en-IN" sz="2050" dirty="0" err="1"/>
              <a:t>sizeof</a:t>
            </a:r>
            <a:r>
              <a:rPr lang="en-IN" sz="2050" dirty="0"/>
              <a:t>(struct Node));</a:t>
            </a:r>
          </a:p>
          <a:p>
            <a:pPr marL="0" indent="0">
              <a:buNone/>
            </a:pPr>
            <a:r>
              <a:rPr lang="en-IN" sz="2050" dirty="0"/>
              <a:t>    head-&gt;data = 10;</a:t>
            </a:r>
          </a:p>
          <a:p>
            <a:pPr marL="0" indent="0">
              <a:buNone/>
            </a:pPr>
            <a:r>
              <a:rPr lang="en-IN" sz="2050" dirty="0"/>
              <a:t>    head-&gt;next = second;</a:t>
            </a:r>
          </a:p>
          <a:p>
            <a:pPr marL="0" indent="0">
              <a:buNone/>
            </a:pPr>
            <a:r>
              <a:rPr lang="en-IN" sz="2050" dirty="0"/>
              <a:t>    second-&gt;data = 20;</a:t>
            </a:r>
          </a:p>
          <a:p>
            <a:pPr marL="0" indent="0">
              <a:buNone/>
            </a:pPr>
            <a:r>
              <a:rPr lang="en-IN" sz="2050" dirty="0"/>
              <a:t>    second-&gt;next = third;</a:t>
            </a:r>
          </a:p>
          <a:p>
            <a:pPr marL="0" indent="0">
              <a:buNone/>
            </a:pPr>
            <a:r>
              <a:rPr lang="en-IN" sz="2050" dirty="0"/>
              <a:t>    third-&gt;data = 30;</a:t>
            </a:r>
          </a:p>
          <a:p>
            <a:pPr marL="0" indent="0">
              <a:buNone/>
            </a:pPr>
            <a:r>
              <a:rPr lang="en-IN" sz="2050" dirty="0"/>
              <a:t>    third-&gt;next = NULL;</a:t>
            </a:r>
          </a:p>
          <a:p>
            <a:pPr marL="0" indent="0">
              <a:buNone/>
            </a:pPr>
            <a:r>
              <a:rPr lang="en-IN" sz="2050" dirty="0"/>
              <a:t>    struct Node *temp = head; </a:t>
            </a:r>
          </a:p>
          <a:p>
            <a:pPr marL="0" indent="0">
              <a:buNone/>
            </a:pPr>
            <a:r>
              <a:rPr lang="en-IN" sz="2050" dirty="0"/>
              <a:t>    while (temp != NULL) {  // Traversing the list</a:t>
            </a:r>
          </a:p>
          <a:p>
            <a:pPr marL="0" indent="0">
              <a:buNone/>
            </a:pPr>
            <a:r>
              <a:rPr lang="en-IN" sz="2050" dirty="0"/>
              <a:t>        </a:t>
            </a:r>
            <a:r>
              <a:rPr lang="en-IN" sz="2050" dirty="0" err="1"/>
              <a:t>printf</a:t>
            </a:r>
            <a:r>
              <a:rPr lang="en-IN" sz="2050" dirty="0"/>
              <a:t>("%d -&gt; ", temp-&gt;data);</a:t>
            </a:r>
          </a:p>
          <a:p>
            <a:pPr marL="0" indent="0">
              <a:buNone/>
            </a:pPr>
            <a:r>
              <a:rPr lang="en-IN" sz="2050" dirty="0"/>
              <a:t>        temp = temp-&gt;next;</a:t>
            </a:r>
          </a:p>
          <a:p>
            <a:pPr marL="0" indent="0">
              <a:buNone/>
            </a:pPr>
            <a:r>
              <a:rPr lang="en-IN" sz="2050" dirty="0"/>
              <a:t>    }   return 0;}</a:t>
            </a:r>
          </a:p>
          <a:p>
            <a:pPr marL="0" indent="0">
              <a:buNone/>
            </a:pPr>
            <a:endParaRPr lang="en-IN" sz="2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0E83EF-AFA6-CB6A-DFCB-015B1DB3EB01}"/>
              </a:ext>
            </a:extLst>
          </p:cNvPr>
          <p:cNvSpPr txBox="1"/>
          <p:nvPr/>
        </p:nvSpPr>
        <p:spPr>
          <a:xfrm>
            <a:off x="5029200" y="5854799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i="1" u="sng" dirty="0"/>
              <a:t>Output</a:t>
            </a:r>
          </a:p>
          <a:p>
            <a:r>
              <a:rPr lang="en-IN" sz="2400" i="1" dirty="0"/>
              <a:t>10 -&gt; 20 -&gt; 30 -&gt;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65823A-9678-2CAF-2A7E-6D0406EA0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948" y="2822020"/>
            <a:ext cx="5254575" cy="191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06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96862"/>
            <a:ext cx="8229600" cy="1143000"/>
          </a:xfrm>
        </p:spPr>
        <p:txBody>
          <a:bodyPr/>
          <a:lstStyle/>
          <a:p>
            <a:r>
              <a:rPr dirty="0"/>
              <a:t>Bit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6138"/>
            <a:ext cx="8229600" cy="5280025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Stores data in bits</a:t>
            </a:r>
            <a:endParaRPr lang="en-US" dirty="0"/>
          </a:p>
          <a:p>
            <a:r>
              <a:rPr lang="en-IN" dirty="0"/>
              <a:t>ON = 1, OFF = 0</a:t>
            </a:r>
          </a:p>
          <a:p>
            <a:r>
              <a:rPr lang="en-IN" dirty="0"/>
              <a:t>|1|0|1|0|</a:t>
            </a:r>
          </a:p>
          <a:p>
            <a:r>
              <a:rPr lang="en-IN" dirty="0"/>
              <a:t>Why – Memory Saving</a:t>
            </a:r>
          </a:p>
          <a:p>
            <a:r>
              <a:rPr lang="en-IN" dirty="0"/>
              <a:t>Limitations - No address and Compiler dependent</a:t>
            </a:r>
          </a:p>
          <a:p>
            <a:r>
              <a:rPr lang="en-IN" dirty="0"/>
              <a:t>Where  - Embedded Systems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struct Flags {</a:t>
            </a:r>
          </a:p>
          <a:p>
            <a:pPr marL="0" indent="0">
              <a:buNone/>
            </a:pPr>
            <a:r>
              <a:rPr lang="en-IN" dirty="0"/>
              <a:t>    unsigned int a:1;</a:t>
            </a:r>
          </a:p>
          <a:p>
            <a:pPr marL="0" indent="0">
              <a:buNone/>
            </a:pPr>
            <a:r>
              <a:rPr lang="en-IN" dirty="0"/>
              <a:t>    unsigned int b:1;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E0059-A3D3-3C94-F1A3-0BE422CD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Fields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BD473-51EF-13E9-EE6D-C658EF210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Bit fields</a:t>
            </a:r>
            <a:r>
              <a:rPr lang="en-US" dirty="0"/>
              <a:t> allow you to store data in </a:t>
            </a:r>
            <a:r>
              <a:rPr lang="en-US" b="1" dirty="0"/>
              <a:t>individual bits instead of whole bytes</a:t>
            </a:r>
            <a:r>
              <a:rPr lang="en-US" dirty="0"/>
              <a:t> within a structure.</a:t>
            </a:r>
          </a:p>
          <a:p>
            <a:r>
              <a:rPr lang="en-US" dirty="0"/>
              <a:t>👉 Normally:</a:t>
            </a:r>
          </a:p>
          <a:p>
            <a:r>
              <a:rPr lang="en-US" dirty="0"/>
              <a:t>int → 4 bytes (32 bits)</a:t>
            </a:r>
          </a:p>
          <a:p>
            <a:r>
              <a:rPr lang="en-US" dirty="0"/>
              <a:t>👉 With bit fields:</a:t>
            </a:r>
          </a:p>
          <a:p>
            <a:r>
              <a:rPr lang="en-US" dirty="0"/>
              <a:t>You can use </a:t>
            </a:r>
            <a:r>
              <a:rPr lang="en-US" b="1" dirty="0"/>
              <a:t>only the required number of bits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27108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E6660-9E72-657F-A167-6F018997F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B143F-9B73-BF70-88DF-F38DADED1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🔌 Switch Board</a:t>
            </a:r>
          </a:p>
          <a:p>
            <a:r>
              <a:rPr lang="en-US" dirty="0"/>
              <a:t>Each switch has only </a:t>
            </a:r>
            <a:r>
              <a:rPr lang="en-US" b="1" dirty="0"/>
              <a:t>two states</a:t>
            </a:r>
            <a:r>
              <a:rPr lang="en-US" dirty="0"/>
              <a:t>:</a:t>
            </a:r>
          </a:p>
          <a:p>
            <a:r>
              <a:rPr lang="en-US" dirty="0"/>
              <a:t>ON (1) / OFF (0)</a:t>
            </a:r>
          </a:p>
          <a:p>
            <a:r>
              <a:rPr lang="en-US" dirty="0"/>
              <a:t>Why waste </a:t>
            </a:r>
            <a:r>
              <a:rPr lang="en-US" b="1" dirty="0"/>
              <a:t>4 bytes</a:t>
            </a:r>
            <a:r>
              <a:rPr lang="en-US" dirty="0"/>
              <a:t> for just ON/OFF?</a:t>
            </a:r>
            <a:br>
              <a:rPr lang="en-US" dirty="0"/>
            </a:br>
            <a:r>
              <a:rPr lang="en-US" dirty="0"/>
              <a:t>👉 </a:t>
            </a:r>
            <a:r>
              <a:rPr lang="en-US" b="1" dirty="0"/>
              <a:t>1 bit is enough!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89545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7BAAEF-656B-D997-8D40-DBD493C83FF5}"/>
              </a:ext>
            </a:extLst>
          </p:cNvPr>
          <p:cNvSpPr txBox="1"/>
          <p:nvPr/>
        </p:nvSpPr>
        <p:spPr>
          <a:xfrm>
            <a:off x="619432" y="360091"/>
            <a:ext cx="457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struct Status {</a:t>
            </a:r>
          </a:p>
          <a:p>
            <a:r>
              <a:rPr lang="en-IN" sz="2400" dirty="0"/>
              <a:t>    int power;</a:t>
            </a:r>
          </a:p>
          <a:p>
            <a:r>
              <a:rPr lang="en-IN" sz="2400" dirty="0"/>
              <a:t>    int </a:t>
            </a:r>
            <a:r>
              <a:rPr lang="en-IN" sz="2400" dirty="0" err="1"/>
              <a:t>wifi</a:t>
            </a:r>
            <a:r>
              <a:rPr lang="en-IN" sz="2400" dirty="0"/>
              <a:t>;</a:t>
            </a:r>
          </a:p>
          <a:p>
            <a:r>
              <a:rPr lang="en-IN" sz="2400" dirty="0"/>
              <a:t>    int </a:t>
            </a:r>
            <a:r>
              <a:rPr lang="en-IN" sz="2400" dirty="0" err="1"/>
              <a:t>bluetooth</a:t>
            </a:r>
            <a:r>
              <a:rPr lang="en-IN" sz="2400" dirty="0"/>
              <a:t>;</a:t>
            </a:r>
          </a:p>
          <a:p>
            <a:r>
              <a:rPr lang="en-IN" sz="2400" dirty="0"/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E43EFE-9367-8D51-0B2E-1C6A1A3A4B80}"/>
              </a:ext>
            </a:extLst>
          </p:cNvPr>
          <p:cNvSpPr txBox="1"/>
          <p:nvPr/>
        </p:nvSpPr>
        <p:spPr>
          <a:xfrm>
            <a:off x="3052916" y="3429000"/>
            <a:ext cx="457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IN" sz="2400" dirty="0"/>
              <a:t>struct Status {</a:t>
            </a:r>
          </a:p>
          <a:p>
            <a:pPr lvl="1"/>
            <a:r>
              <a:rPr lang="en-IN" sz="2400" dirty="0"/>
              <a:t>    unsigned int power : 1;</a:t>
            </a:r>
          </a:p>
          <a:p>
            <a:pPr lvl="1"/>
            <a:r>
              <a:rPr lang="en-IN" sz="2400" dirty="0"/>
              <a:t>    unsigned int </a:t>
            </a:r>
            <a:r>
              <a:rPr lang="en-IN" sz="2400" dirty="0" err="1"/>
              <a:t>wifi</a:t>
            </a:r>
            <a:r>
              <a:rPr lang="en-IN" sz="2400" dirty="0"/>
              <a:t>  : 1;</a:t>
            </a:r>
          </a:p>
          <a:p>
            <a:pPr lvl="1"/>
            <a:r>
              <a:rPr lang="en-IN" sz="2400" dirty="0"/>
              <a:t>    unsigned int </a:t>
            </a:r>
            <a:r>
              <a:rPr lang="en-IN" sz="2400" dirty="0" err="1"/>
              <a:t>bluetooth</a:t>
            </a:r>
            <a:r>
              <a:rPr lang="en-IN" sz="2400" dirty="0"/>
              <a:t> : 1;</a:t>
            </a:r>
          </a:p>
          <a:p>
            <a:pPr lvl="1"/>
            <a:r>
              <a:rPr lang="en-IN" sz="2400" dirty="0"/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DC2559-1B8A-BA50-8347-A01B7EAB04C1}"/>
              </a:ext>
            </a:extLst>
          </p:cNvPr>
          <p:cNvSpPr txBox="1"/>
          <p:nvPr/>
        </p:nvSpPr>
        <p:spPr>
          <a:xfrm>
            <a:off x="619432" y="232826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Uses </a:t>
            </a:r>
            <a:r>
              <a:rPr lang="en-US" sz="2400" b="1" dirty="0"/>
              <a:t>12 bytes</a:t>
            </a:r>
            <a:r>
              <a:rPr lang="en-US" sz="2400" dirty="0"/>
              <a:t> (3 integers)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489BFE-816B-C7C8-AD9A-5B4B5DDDDC4E}"/>
              </a:ext>
            </a:extLst>
          </p:cNvPr>
          <p:cNvSpPr txBox="1"/>
          <p:nvPr/>
        </p:nvSpPr>
        <p:spPr>
          <a:xfrm>
            <a:off x="4070555" y="541192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Uses </a:t>
            </a:r>
            <a:r>
              <a:rPr lang="en-IN" sz="2400" b="1" dirty="0"/>
              <a:t>only 3 bits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635713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4730E-7813-B577-4645-DB1B9FB4C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Fields -Rules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3091B-73F8-B022-19B3-AD89BF2FC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✔ Only </a:t>
            </a:r>
            <a:r>
              <a:rPr lang="en-US" b="1" dirty="0"/>
              <a:t>integer types</a:t>
            </a:r>
            <a:r>
              <a:rPr lang="en-US" dirty="0"/>
              <a:t> (int, unsigned int)</a:t>
            </a:r>
            <a:br>
              <a:rPr lang="en-US" dirty="0"/>
            </a:br>
            <a:r>
              <a:rPr lang="en-US" dirty="0"/>
              <a:t>✔ Cannot take address of bit-field</a:t>
            </a:r>
            <a:br>
              <a:rPr lang="en-US" dirty="0"/>
            </a:br>
            <a:r>
              <a:rPr lang="en-US" dirty="0"/>
              <a:t>✔ Size depends on compiler</a:t>
            </a:r>
            <a:br>
              <a:rPr lang="en-US" dirty="0"/>
            </a:br>
            <a:r>
              <a:rPr lang="en-US" dirty="0"/>
              <a:t>✔ Used mainly in </a:t>
            </a:r>
            <a:r>
              <a:rPr lang="en-US" b="1" dirty="0"/>
              <a:t>embedded systems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45688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6EB0E-FF31-98A6-A34E-954CAD0C5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988"/>
            <a:ext cx="8229600" cy="659252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struct Status {</a:t>
            </a:r>
          </a:p>
          <a:p>
            <a:pPr marL="0" indent="0">
              <a:buNone/>
            </a:pPr>
            <a:r>
              <a:rPr lang="en-IN" dirty="0"/>
              <a:t>    unsigned int power : 1;</a:t>
            </a:r>
          </a:p>
          <a:p>
            <a:pPr marL="0" indent="0">
              <a:buNone/>
            </a:pPr>
            <a:r>
              <a:rPr lang="en-IN" dirty="0"/>
              <a:t>    unsigned int </a:t>
            </a:r>
            <a:r>
              <a:rPr lang="en-IN" dirty="0" err="1"/>
              <a:t>wifi</a:t>
            </a:r>
            <a:r>
              <a:rPr lang="en-IN" dirty="0"/>
              <a:t>  : 1;</a:t>
            </a:r>
          </a:p>
          <a:p>
            <a:pPr marL="0" indent="0">
              <a:buNone/>
            </a:pPr>
            <a:r>
              <a:rPr lang="en-IN" dirty="0"/>
              <a:t>    unsigned int </a:t>
            </a:r>
            <a:r>
              <a:rPr lang="en-IN" dirty="0" err="1"/>
              <a:t>bluetooth</a:t>
            </a:r>
            <a:r>
              <a:rPr lang="en-IN" dirty="0"/>
              <a:t> : 1;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struct Status s;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s.power</a:t>
            </a:r>
            <a:r>
              <a:rPr lang="en-IN" dirty="0"/>
              <a:t> = 1;      // ON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s.wifi</a:t>
            </a:r>
            <a:r>
              <a:rPr lang="en-IN" dirty="0"/>
              <a:t> = 0;       // OFF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s.bluetooth</a:t>
            </a:r>
            <a:r>
              <a:rPr lang="en-IN" dirty="0"/>
              <a:t> = 1;  // ON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("Power: %u\n", </a:t>
            </a:r>
            <a:r>
              <a:rPr lang="en-IN" dirty="0" err="1"/>
              <a:t>s.power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</a:t>
            </a:r>
            <a:r>
              <a:rPr lang="en-IN" dirty="0" err="1"/>
              <a:t>WiFi</a:t>
            </a:r>
            <a:r>
              <a:rPr lang="en-IN" dirty="0"/>
              <a:t>: %u\n", </a:t>
            </a:r>
            <a:r>
              <a:rPr lang="en-IN" dirty="0" err="1"/>
              <a:t>s.wifi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("Bluetooth: %u\n", </a:t>
            </a:r>
            <a:r>
              <a:rPr lang="en-IN" dirty="0" err="1"/>
              <a:t>s.bluetooth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727066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5B1F-411E-8813-2308-18196EF88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2541"/>
            <a:ext cx="8229600" cy="1143000"/>
          </a:xfrm>
        </p:spPr>
        <p:txBody>
          <a:bodyPr/>
          <a:lstStyle/>
          <a:p>
            <a:r>
              <a:rPr lang="en-IN" dirty="0"/>
              <a:t>UNIONS IN C</a:t>
            </a:r>
          </a:p>
        </p:txBody>
      </p:sp>
    </p:spTree>
    <p:extLst>
      <p:ext uri="{BB962C8B-B14F-4D97-AF65-F5344CB8AC3E}">
        <p14:creationId xmlns:p14="http://schemas.microsoft.com/office/powerpoint/2010/main" val="41323373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7D5F5-FE2C-8666-77D6-6BB60D790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UNIONS IN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BF909-D8D3-129B-2172-BE47D8BB1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is a Union?</a:t>
            </a:r>
          </a:p>
          <a:p>
            <a:r>
              <a:rPr lang="en-US" dirty="0"/>
              <a:t>A </a:t>
            </a:r>
            <a:r>
              <a:rPr lang="en-US" b="1" dirty="0"/>
              <a:t>union</a:t>
            </a:r>
            <a:r>
              <a:rPr lang="en-US" dirty="0"/>
              <a:t> is a user-defined data type</a:t>
            </a:r>
          </a:p>
          <a:p>
            <a:r>
              <a:rPr lang="en-US" dirty="0"/>
              <a:t>Allows storing </a:t>
            </a:r>
            <a:r>
              <a:rPr lang="en-US" b="1" dirty="0"/>
              <a:t>different data types</a:t>
            </a:r>
            <a:endParaRPr lang="en-US" dirty="0"/>
          </a:p>
          <a:p>
            <a:r>
              <a:rPr lang="en-US" dirty="0"/>
              <a:t>But </a:t>
            </a:r>
            <a:r>
              <a:rPr lang="en-US" b="1" dirty="0"/>
              <a:t>only one member can store a value at a time</a:t>
            </a:r>
            <a:endParaRPr lang="en-US" dirty="0"/>
          </a:p>
          <a:p>
            <a:r>
              <a:rPr lang="en-US" dirty="0"/>
              <a:t>📌 Similar to structure, but </a:t>
            </a:r>
            <a:r>
              <a:rPr lang="en-US" b="1" dirty="0"/>
              <a:t>memory sharing is the key difference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10862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67997-2E57-E0C0-D375-F4530EF0B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Real-World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CCCFA-4F61-202B-0297-65F1734AB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KYC Process</a:t>
            </a:r>
          </a:p>
          <a:p>
            <a:r>
              <a:rPr lang="en-US" dirty="0"/>
              <a:t>Few KYC can be completed by:</a:t>
            </a:r>
          </a:p>
          <a:p>
            <a:pPr lvl="1"/>
            <a:r>
              <a:rPr lang="en-US" dirty="0"/>
              <a:t>Aadhar Card </a:t>
            </a:r>
            <a:r>
              <a:rPr lang="en-US" b="1" dirty="0"/>
              <a:t>OR</a:t>
            </a:r>
            <a:endParaRPr lang="en-US" dirty="0"/>
          </a:p>
          <a:p>
            <a:pPr lvl="1"/>
            <a:r>
              <a:rPr lang="en-US" dirty="0"/>
              <a:t>PAN Card </a:t>
            </a:r>
            <a:r>
              <a:rPr lang="en-US" b="1" dirty="0"/>
              <a:t>OR</a:t>
            </a:r>
            <a:endParaRPr lang="en-US" dirty="0"/>
          </a:p>
          <a:p>
            <a:pPr lvl="1"/>
            <a:r>
              <a:rPr lang="en-US" dirty="0"/>
              <a:t>Passport OR</a:t>
            </a:r>
          </a:p>
          <a:p>
            <a:pPr lvl="1"/>
            <a:r>
              <a:rPr lang="en-US" dirty="0"/>
              <a:t>Voter ID</a:t>
            </a:r>
          </a:p>
          <a:p>
            <a:r>
              <a:rPr lang="en-US" dirty="0"/>
              <a:t>👉 Only </a:t>
            </a:r>
            <a:r>
              <a:rPr lang="en-US" b="1" dirty="0"/>
              <a:t>one ID is active at a time</a:t>
            </a:r>
            <a:endParaRPr lang="en-US" dirty="0"/>
          </a:p>
          <a:p>
            <a:r>
              <a:rPr lang="en-US" dirty="0"/>
              <a:t>🧠 </a:t>
            </a:r>
            <a:r>
              <a:rPr lang="en-US" b="1" dirty="0"/>
              <a:t>Union behaves the same way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6509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F9E9A6-ADED-447C-7AC6-32448CFB4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740301"/>
            <a:ext cx="3462337" cy="33935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6C4031-E38F-C792-600F-588198FD27DC}"/>
              </a:ext>
            </a:extLst>
          </p:cNvPr>
          <p:cNvSpPr txBox="1"/>
          <p:nvPr/>
        </p:nvSpPr>
        <p:spPr>
          <a:xfrm>
            <a:off x="604684" y="4719173"/>
            <a:ext cx="790513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All members </a:t>
            </a:r>
            <a:r>
              <a:rPr lang="en-US" sz="2400" b="1" dirty="0"/>
              <a:t>share the same memory location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union</a:t>
            </a:r>
            <a:r>
              <a:rPr lang="en-US" sz="2400" dirty="0"/>
              <a:t> is a user-defined data type in C that allows different data types to share the </a:t>
            </a:r>
            <a:r>
              <a:rPr lang="en-US" sz="2400" b="1" dirty="0"/>
              <a:t>same memory location</a:t>
            </a:r>
            <a:r>
              <a:rPr lang="en-US" sz="2400" dirty="0"/>
              <a:t>, but </a:t>
            </a:r>
            <a:r>
              <a:rPr lang="en-US" sz="2400" b="1" dirty="0"/>
              <a:t>only one member can be used at a time</a:t>
            </a:r>
            <a:r>
              <a:rPr lang="en-US" sz="2400" dirty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514309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4466D-92F2-C3DC-2EED-D5994332D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714DD-C619-FF00-77D1-F2DD9787B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union Data {</a:t>
            </a:r>
          </a:p>
          <a:p>
            <a:pPr marL="0" indent="0">
              <a:buNone/>
            </a:pPr>
            <a:r>
              <a:rPr lang="en-US" dirty="0"/>
              <a:t>    int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float f;</a:t>
            </a:r>
          </a:p>
          <a:p>
            <a:pPr marL="0" indent="0">
              <a:buNone/>
            </a:pPr>
            <a:r>
              <a:rPr lang="en-US" dirty="0"/>
              <a:t>    char c;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FB5907-EC1E-71AB-9EFF-322B47A61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286363"/>
            <a:ext cx="3708066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Members → share memory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union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keyword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Data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union name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A29663-9A68-621E-61AA-2EECF87885A6}"/>
              </a:ext>
            </a:extLst>
          </p:cNvPr>
          <p:cNvSpPr txBox="1"/>
          <p:nvPr/>
        </p:nvSpPr>
        <p:spPr>
          <a:xfrm>
            <a:off x="3583858" y="2028617"/>
            <a:ext cx="623856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u="sng" dirty="0"/>
              <a:t>Declaration</a:t>
            </a:r>
          </a:p>
          <a:p>
            <a:r>
              <a:rPr lang="en-IN" sz="2800" dirty="0"/>
              <a:t>union Data d;</a:t>
            </a:r>
          </a:p>
          <a:p>
            <a:endParaRPr lang="en-IN" sz="2800" dirty="0"/>
          </a:p>
          <a:p>
            <a:r>
              <a:rPr lang="en-US" sz="2800" dirty="0"/>
              <a:t>Memory allocated = </a:t>
            </a:r>
            <a:r>
              <a:rPr lang="en-US" sz="2800" b="1" dirty="0"/>
              <a:t>size of largest member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4587945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1883F-21E7-9181-3F98-EDB7374E2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3239"/>
            <a:ext cx="8229600" cy="66220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union Data {</a:t>
            </a:r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float f;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union Data d;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d.i</a:t>
            </a:r>
            <a:r>
              <a:rPr lang="en-IN" dirty="0"/>
              <a:t> = 10;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("Integer: %d\n", </a:t>
            </a:r>
            <a:r>
              <a:rPr lang="en-IN" dirty="0" err="1"/>
              <a:t>d.i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d.f</a:t>
            </a:r>
            <a:r>
              <a:rPr lang="en-IN" dirty="0"/>
              <a:t> = 3.14;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("Float: %.2f\n", </a:t>
            </a:r>
            <a:r>
              <a:rPr lang="en-IN" dirty="0" err="1"/>
              <a:t>d.f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F70CB1-4E77-CC61-1D08-F29447396409}"/>
              </a:ext>
            </a:extLst>
          </p:cNvPr>
          <p:cNvSpPr txBox="1"/>
          <p:nvPr/>
        </p:nvSpPr>
        <p:spPr>
          <a:xfrm>
            <a:off x="4999703" y="1449863"/>
            <a:ext cx="50144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When </a:t>
            </a:r>
            <a:r>
              <a:rPr lang="en-US" sz="2400" dirty="0" err="1">
                <a:latin typeface="Courier New" panose="02070309020205020404" pitchFamily="49" charset="0"/>
              </a:rPr>
              <a:t>d.f</a:t>
            </a:r>
            <a:r>
              <a:rPr lang="en-US" sz="2400" dirty="0"/>
              <a:t> is assigned: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value of </a:t>
            </a:r>
            <a:r>
              <a:rPr lang="en-US" sz="2400" dirty="0" err="1">
                <a:latin typeface="Courier New" panose="02070309020205020404" pitchFamily="49" charset="0"/>
              </a:rPr>
              <a:t>d.i</a:t>
            </a:r>
            <a:r>
              <a:rPr lang="en-US" sz="2400" dirty="0"/>
              <a:t> is </a:t>
            </a:r>
            <a:r>
              <a:rPr lang="en-US" sz="2400" b="1" dirty="0"/>
              <a:t>lost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Because:</a:t>
            </a:r>
            <a:br>
              <a:rPr lang="en-US" sz="2400" dirty="0"/>
            </a:br>
            <a:r>
              <a:rPr lang="en-US" sz="2400" b="1" dirty="0"/>
              <a:t>Same memory is reused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97773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870E7-F2F0-ABFA-3265-28482DA82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47136"/>
            <a:ext cx="8229600" cy="5079028"/>
          </a:xfrm>
        </p:spPr>
        <p:txBody>
          <a:bodyPr>
            <a:normAutofit/>
          </a:bodyPr>
          <a:lstStyle/>
          <a:p>
            <a:r>
              <a:rPr lang="en-US" b="1" dirty="0"/>
              <a:t>Why Use Unions?</a:t>
            </a:r>
          </a:p>
          <a:p>
            <a:pPr lvl="1"/>
            <a:r>
              <a:rPr lang="en-US" dirty="0"/>
              <a:t>Memory optimization</a:t>
            </a:r>
          </a:p>
          <a:p>
            <a:pPr lvl="1"/>
            <a:r>
              <a:rPr lang="en-US" dirty="0"/>
              <a:t>Useful when only one value is needed at a time</a:t>
            </a:r>
          </a:p>
          <a:p>
            <a:pPr lvl="1"/>
            <a:r>
              <a:rPr lang="en-US" dirty="0"/>
              <a:t>Embedded systems</a:t>
            </a:r>
          </a:p>
          <a:p>
            <a:pPr lvl="1"/>
            <a:r>
              <a:rPr lang="en-US" dirty="0"/>
              <a:t>Low-level programming</a:t>
            </a:r>
          </a:p>
          <a:p>
            <a:r>
              <a:rPr lang="en-US" b="1" dirty="0"/>
              <a:t>Limitations of Unions</a:t>
            </a:r>
          </a:p>
          <a:p>
            <a:pPr lvl="1"/>
            <a:r>
              <a:rPr lang="en-US" dirty="0"/>
              <a:t>Only one member usable at a time</a:t>
            </a:r>
          </a:p>
          <a:p>
            <a:pPr lvl="1"/>
            <a:r>
              <a:rPr lang="en-US" dirty="0"/>
              <a:t>Complex to track active member</a:t>
            </a:r>
          </a:p>
          <a:p>
            <a:pPr lvl="1"/>
            <a:r>
              <a:rPr lang="en-US" dirty="0"/>
              <a:t>Risk of data corruption if misused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538442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EA16E-7104-2351-711C-6155D4A79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STRUCTURES vs UNIONS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2796CA-7FA1-018B-31B6-49013F508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9" y="1600200"/>
            <a:ext cx="4337715" cy="31691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FB46F1-E8D1-F31B-9D62-C4FC98D1C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087" y="4598578"/>
            <a:ext cx="4337714" cy="198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16528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0E6F0B-9908-B8A6-4D2A-3DD811A49F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6935343"/>
              </p:ext>
            </p:extLst>
          </p:nvPr>
        </p:nvGraphicFramePr>
        <p:xfrm>
          <a:off x="0" y="0"/>
          <a:ext cx="8406582" cy="3429001"/>
        </p:xfrm>
        <a:graphic>
          <a:graphicData uri="http://schemas.openxmlformats.org/drawingml/2006/table">
            <a:tbl>
              <a:tblPr/>
              <a:tblGrid>
                <a:gridCol w="1622323">
                  <a:extLst>
                    <a:ext uri="{9D8B030D-6E8A-4147-A177-3AD203B41FA5}">
                      <a16:colId xmlns:a16="http://schemas.microsoft.com/office/drawing/2014/main" val="3906781290"/>
                    </a:ext>
                  </a:extLst>
                </a:gridCol>
                <a:gridCol w="3982065">
                  <a:extLst>
                    <a:ext uri="{9D8B030D-6E8A-4147-A177-3AD203B41FA5}">
                      <a16:colId xmlns:a16="http://schemas.microsoft.com/office/drawing/2014/main" val="61071771"/>
                    </a:ext>
                  </a:extLst>
                </a:gridCol>
                <a:gridCol w="2802194">
                  <a:extLst>
                    <a:ext uri="{9D8B030D-6E8A-4147-A177-3AD203B41FA5}">
                      <a16:colId xmlns:a16="http://schemas.microsoft.com/office/drawing/2014/main" val="274305986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Union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424715"/>
                  </a:ext>
                </a:extLst>
              </a:tr>
              <a:tr h="889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Separate memory for each member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Shared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47054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Sum of all members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Size of largest member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07843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All members used together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One member at a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15021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Data safety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Safe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Risky if misused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83519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Keyword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Courier New" panose="02070309020205020404" pitchFamily="49" charset="0"/>
                        </a:rPr>
                        <a:t>struct</a:t>
                      </a:r>
                      <a:endParaRPr lang="en-IN" sz="2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Courier New" panose="02070309020205020404" pitchFamily="49" charset="0"/>
                        </a:rPr>
                        <a:t>union</a:t>
                      </a:r>
                      <a:endParaRPr lang="en-IN" sz="2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92545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0999858-C2F6-93DD-AB18-2331ED6D077C}"/>
              </a:ext>
            </a:extLst>
          </p:cNvPr>
          <p:cNvSpPr txBox="1"/>
          <p:nvPr/>
        </p:nvSpPr>
        <p:spPr>
          <a:xfrm>
            <a:off x="560438" y="3768212"/>
            <a:ext cx="78461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Use Structure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All data is required together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Safety is important</a:t>
            </a:r>
          </a:p>
          <a:p>
            <a:pPr>
              <a:buNone/>
            </a:pPr>
            <a:r>
              <a:rPr lang="en-US" sz="2800" b="1" dirty="0"/>
              <a:t>Use Union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Only one value is active at a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Memory optimization is needed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2CFD08-729C-79B3-FA98-5C29DD56519E}"/>
              </a:ext>
            </a:extLst>
          </p:cNvPr>
          <p:cNvCxnSpPr/>
          <p:nvPr/>
        </p:nvCxnSpPr>
        <p:spPr>
          <a:xfrm flipV="1">
            <a:off x="560438" y="3517488"/>
            <a:ext cx="8023123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96639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D1CEA-74A9-1F90-052F-BD04B70BA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6982"/>
            <a:ext cx="4350774" cy="59491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800" dirty="0"/>
              <a:t>#include &lt;</a:t>
            </a:r>
            <a:r>
              <a:rPr lang="en-IN" sz="2800" dirty="0" err="1"/>
              <a:t>stdio.h</a:t>
            </a:r>
            <a:r>
              <a:rPr lang="en-IN" sz="2800" dirty="0"/>
              <a:t>&gt;</a:t>
            </a:r>
          </a:p>
          <a:p>
            <a:pPr marL="0" indent="0">
              <a:buNone/>
            </a:pPr>
            <a:r>
              <a:rPr lang="en-IN" sz="2800" dirty="0"/>
              <a:t>struct Data {</a:t>
            </a:r>
          </a:p>
          <a:p>
            <a:pPr marL="0" indent="0">
              <a:buNone/>
            </a:pPr>
            <a:r>
              <a:rPr lang="en-IN" sz="2800" dirty="0"/>
              <a:t>    int </a:t>
            </a:r>
            <a:r>
              <a:rPr lang="en-IN" sz="2800" dirty="0" err="1"/>
              <a:t>i</a:t>
            </a:r>
            <a:r>
              <a:rPr lang="en-IN" sz="2800" dirty="0"/>
              <a:t>;</a:t>
            </a:r>
          </a:p>
          <a:p>
            <a:pPr marL="0" indent="0">
              <a:buNone/>
            </a:pPr>
            <a:r>
              <a:rPr lang="en-IN" sz="2800" dirty="0"/>
              <a:t>    float f;</a:t>
            </a:r>
          </a:p>
          <a:p>
            <a:pPr marL="0" indent="0">
              <a:buNone/>
            </a:pPr>
            <a:r>
              <a:rPr lang="en-IN" sz="2800" dirty="0"/>
              <a:t>};</a:t>
            </a:r>
          </a:p>
          <a:p>
            <a:pPr marL="0" indent="0">
              <a:buNone/>
            </a:pPr>
            <a:r>
              <a:rPr lang="en-IN" sz="2800" dirty="0"/>
              <a:t>int main() {</a:t>
            </a:r>
          </a:p>
          <a:p>
            <a:pPr marL="0" indent="0">
              <a:buNone/>
            </a:pPr>
            <a:r>
              <a:rPr lang="en-IN" sz="2800" dirty="0"/>
              <a:t>    struct Data d;</a:t>
            </a:r>
          </a:p>
          <a:p>
            <a:pPr marL="0" indent="0">
              <a:buNone/>
            </a:pPr>
            <a:r>
              <a:rPr lang="en-IN" sz="2800" dirty="0"/>
              <a:t>    </a:t>
            </a:r>
            <a:r>
              <a:rPr lang="en-IN" sz="2800" dirty="0" err="1"/>
              <a:t>d.i</a:t>
            </a:r>
            <a:r>
              <a:rPr lang="en-IN" sz="2800" dirty="0"/>
              <a:t> = 10;</a:t>
            </a:r>
          </a:p>
          <a:p>
            <a:pPr marL="0" indent="0">
              <a:buNone/>
            </a:pPr>
            <a:r>
              <a:rPr lang="en-IN" sz="2800" dirty="0"/>
              <a:t>    </a:t>
            </a:r>
            <a:r>
              <a:rPr lang="en-IN" sz="2800" dirty="0" err="1"/>
              <a:t>d.f</a:t>
            </a:r>
            <a:r>
              <a:rPr lang="en-IN" sz="2800" dirty="0"/>
              <a:t> = 3.14;</a:t>
            </a:r>
          </a:p>
          <a:p>
            <a:pPr marL="0" indent="0">
              <a:buNone/>
            </a:pPr>
            <a:r>
              <a:rPr lang="en-IN" sz="2800" dirty="0"/>
              <a:t>    </a:t>
            </a:r>
            <a:r>
              <a:rPr lang="en-IN" sz="2800" dirty="0" err="1"/>
              <a:t>printf</a:t>
            </a:r>
            <a:r>
              <a:rPr lang="en-IN" sz="2800" dirty="0"/>
              <a:t>("%d %.2f", </a:t>
            </a:r>
            <a:r>
              <a:rPr lang="en-IN" sz="2800" dirty="0" err="1"/>
              <a:t>d.i</a:t>
            </a:r>
            <a:r>
              <a:rPr lang="en-IN" sz="2800" dirty="0"/>
              <a:t>, </a:t>
            </a:r>
            <a:r>
              <a:rPr lang="en-IN" sz="2800" dirty="0" err="1"/>
              <a:t>d.f</a:t>
            </a:r>
            <a:r>
              <a:rPr lang="en-IN" sz="2800" dirty="0"/>
              <a:t>);</a:t>
            </a:r>
          </a:p>
          <a:p>
            <a:pPr marL="0" indent="0">
              <a:buNone/>
            </a:pPr>
            <a:r>
              <a:rPr lang="en-IN" sz="2800" dirty="0"/>
              <a:t>    return 0;</a:t>
            </a:r>
          </a:p>
          <a:p>
            <a:pPr marL="0" indent="0">
              <a:buNone/>
            </a:pPr>
            <a:r>
              <a:rPr lang="en-IN" sz="2800" dirty="0"/>
              <a:t>}</a:t>
            </a:r>
          </a:p>
          <a:p>
            <a:endParaRPr lang="en-IN" sz="2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43D4F2B-B252-30E0-79D9-A6439864ED2E}"/>
              </a:ext>
            </a:extLst>
          </p:cNvPr>
          <p:cNvSpPr txBox="1">
            <a:spLocks/>
          </p:cNvSpPr>
          <p:nvPr/>
        </p:nvSpPr>
        <p:spPr>
          <a:xfrm>
            <a:off x="4807974" y="176982"/>
            <a:ext cx="4350774" cy="59491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800" dirty="0"/>
              <a:t>#include &lt;</a:t>
            </a:r>
            <a:r>
              <a:rPr lang="en-IN" sz="2800" dirty="0" err="1"/>
              <a:t>stdio.h</a:t>
            </a:r>
            <a:r>
              <a:rPr lang="en-IN" sz="2800" dirty="0"/>
              <a:t>&gt;</a:t>
            </a:r>
          </a:p>
          <a:p>
            <a:pPr marL="0" indent="0">
              <a:buNone/>
            </a:pPr>
            <a:r>
              <a:rPr lang="en-IN" sz="2800" dirty="0"/>
              <a:t>union Data {</a:t>
            </a:r>
          </a:p>
          <a:p>
            <a:pPr marL="0" indent="0">
              <a:buNone/>
            </a:pPr>
            <a:r>
              <a:rPr lang="en-IN" sz="2800" dirty="0"/>
              <a:t>    int </a:t>
            </a:r>
            <a:r>
              <a:rPr lang="en-IN" sz="2800" dirty="0" err="1"/>
              <a:t>i</a:t>
            </a:r>
            <a:r>
              <a:rPr lang="en-IN" sz="2800" dirty="0"/>
              <a:t>;</a:t>
            </a:r>
          </a:p>
          <a:p>
            <a:pPr marL="0" indent="0">
              <a:buNone/>
            </a:pPr>
            <a:r>
              <a:rPr lang="en-IN" sz="2800" dirty="0"/>
              <a:t>    float f;</a:t>
            </a:r>
          </a:p>
          <a:p>
            <a:pPr marL="0" indent="0">
              <a:buNone/>
            </a:pPr>
            <a:r>
              <a:rPr lang="en-IN" sz="2800" dirty="0"/>
              <a:t>};</a:t>
            </a:r>
          </a:p>
          <a:p>
            <a:pPr marL="0" indent="0">
              <a:buNone/>
            </a:pPr>
            <a:r>
              <a:rPr lang="en-IN" sz="2800" dirty="0"/>
              <a:t>int main() {</a:t>
            </a:r>
          </a:p>
          <a:p>
            <a:pPr marL="0" indent="0">
              <a:buNone/>
            </a:pPr>
            <a:r>
              <a:rPr lang="en-IN" sz="2800" dirty="0"/>
              <a:t>    union Data d;</a:t>
            </a:r>
          </a:p>
          <a:p>
            <a:pPr marL="0" indent="0">
              <a:buNone/>
            </a:pPr>
            <a:r>
              <a:rPr lang="en-IN" sz="2800" dirty="0"/>
              <a:t>    </a:t>
            </a:r>
            <a:r>
              <a:rPr lang="en-IN" sz="2800" dirty="0" err="1"/>
              <a:t>d.i</a:t>
            </a:r>
            <a:r>
              <a:rPr lang="en-IN" sz="2800" dirty="0"/>
              <a:t> = 10;</a:t>
            </a:r>
          </a:p>
          <a:p>
            <a:pPr marL="0" indent="0">
              <a:buNone/>
            </a:pPr>
            <a:r>
              <a:rPr lang="en-IN" sz="2800" dirty="0"/>
              <a:t>    </a:t>
            </a:r>
            <a:r>
              <a:rPr lang="en-IN" sz="2800" dirty="0" err="1"/>
              <a:t>d.f</a:t>
            </a:r>
            <a:r>
              <a:rPr lang="en-IN" sz="2800" dirty="0"/>
              <a:t> = 3.14;</a:t>
            </a:r>
          </a:p>
          <a:p>
            <a:pPr marL="0" indent="0">
              <a:buNone/>
            </a:pPr>
            <a:r>
              <a:rPr lang="en-IN" sz="2800" dirty="0"/>
              <a:t>    </a:t>
            </a:r>
            <a:r>
              <a:rPr lang="en-IN" sz="2800" dirty="0" err="1"/>
              <a:t>printf</a:t>
            </a:r>
            <a:r>
              <a:rPr lang="en-IN" sz="2800" dirty="0"/>
              <a:t>("%.2f", </a:t>
            </a:r>
            <a:r>
              <a:rPr lang="en-IN" sz="2800" dirty="0" err="1"/>
              <a:t>d.f</a:t>
            </a:r>
            <a:r>
              <a:rPr lang="en-IN" sz="2800" dirty="0"/>
              <a:t>);</a:t>
            </a:r>
          </a:p>
          <a:p>
            <a:pPr marL="0" indent="0">
              <a:buNone/>
            </a:pPr>
            <a:r>
              <a:rPr lang="en-IN" sz="2800" dirty="0"/>
              <a:t>    return 0;</a:t>
            </a:r>
          </a:p>
          <a:p>
            <a:pPr marL="0" indent="0">
              <a:buNone/>
            </a:pPr>
            <a:r>
              <a:rPr lang="en-IN" sz="2800" dirty="0"/>
              <a:t>}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7BB637-550D-06E0-5217-0D5E867C6CB2}"/>
              </a:ext>
            </a:extLst>
          </p:cNvPr>
          <p:cNvCxnSpPr/>
          <p:nvPr/>
        </p:nvCxnSpPr>
        <p:spPr>
          <a:xfrm>
            <a:off x="4572000" y="176982"/>
            <a:ext cx="0" cy="61648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67444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9BA1D-4A66-2EDE-2C77-653BB6B6B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83" y="3003090"/>
            <a:ext cx="8229600" cy="1143000"/>
          </a:xfrm>
        </p:spPr>
        <p:txBody>
          <a:bodyPr/>
          <a:lstStyle/>
          <a:p>
            <a:r>
              <a:rPr lang="en-IN" dirty="0"/>
              <a:t>File Handling in C</a:t>
            </a:r>
          </a:p>
        </p:txBody>
      </p:sp>
    </p:spTree>
    <p:extLst>
      <p:ext uri="{BB962C8B-B14F-4D97-AF65-F5344CB8AC3E}">
        <p14:creationId xmlns:p14="http://schemas.microsoft.com/office/powerpoint/2010/main" val="418688140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2F45D-90CB-BBDA-6C27-DC2C14DE3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FILE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68BDE-916B-29BE-783A-ADC0B4163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Why File Handling?</a:t>
            </a:r>
          </a:p>
          <a:p>
            <a:pPr lvl="1"/>
            <a:r>
              <a:rPr lang="en-US" dirty="0"/>
              <a:t>Variables → temporary (lost after program ends)</a:t>
            </a:r>
          </a:p>
          <a:p>
            <a:pPr lvl="1"/>
            <a:r>
              <a:rPr lang="en-US" dirty="0"/>
              <a:t>Files → </a:t>
            </a:r>
            <a:r>
              <a:rPr lang="en-US" b="1" dirty="0"/>
              <a:t>permanent storage</a:t>
            </a:r>
          </a:p>
          <a:p>
            <a:pPr lvl="1"/>
            <a:r>
              <a:rPr lang="en-IN" dirty="0"/>
              <a:t> </a:t>
            </a:r>
            <a:r>
              <a:rPr lang="en-IN" b="1" dirty="0"/>
              <a:t>Notebook vs Blackboard</a:t>
            </a:r>
            <a:endParaRPr lang="en-IN" dirty="0"/>
          </a:p>
          <a:p>
            <a:pPr lvl="2"/>
            <a:r>
              <a:rPr lang="en-IN" dirty="0"/>
              <a:t>Blackboard → data erased after class (variables)</a:t>
            </a:r>
          </a:p>
          <a:p>
            <a:pPr lvl="2"/>
            <a:r>
              <a:rPr lang="en-IN" dirty="0"/>
              <a:t>Notebook → data saved permanently (files)</a:t>
            </a:r>
          </a:p>
          <a:p>
            <a:pPr lvl="1"/>
            <a:r>
              <a:rPr lang="en-US" dirty="0"/>
              <a:t>Files are used to:</a:t>
            </a:r>
          </a:p>
          <a:p>
            <a:pPr lvl="2"/>
            <a:r>
              <a:rPr lang="en-US" dirty="0"/>
              <a:t>Store large data</a:t>
            </a:r>
          </a:p>
          <a:p>
            <a:pPr lvl="2"/>
            <a:r>
              <a:rPr lang="en-US" dirty="0"/>
              <a:t>Maintain records</a:t>
            </a:r>
          </a:p>
          <a:p>
            <a:pPr lvl="2"/>
            <a:r>
              <a:rPr lang="en-US" dirty="0"/>
              <a:t>Share data between programs</a:t>
            </a:r>
          </a:p>
          <a:p>
            <a:pPr lvl="2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671167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4E45B-6E02-AA2F-586F-0EB528EF0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DF477-4859-B0BA-8508-34F707807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FILE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9F7ED-821D-B08C-A7E0-2683A1558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a File in C?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file</a:t>
            </a:r>
            <a:r>
              <a:rPr lang="en-US" dirty="0"/>
              <a:t> is a collection of data stored on disk</a:t>
            </a:r>
          </a:p>
          <a:p>
            <a:r>
              <a:rPr lang="en-US" dirty="0"/>
              <a:t>C treats files as </a:t>
            </a:r>
            <a:r>
              <a:rPr lang="en-US" b="1" dirty="0"/>
              <a:t>streams of bytes</a:t>
            </a:r>
            <a:endParaRPr lang="en-US" dirty="0"/>
          </a:p>
          <a:p>
            <a:r>
              <a:rPr lang="en-US" dirty="0"/>
              <a:t>Two types:</a:t>
            </a:r>
          </a:p>
          <a:p>
            <a:pPr lvl="1"/>
            <a:r>
              <a:rPr lang="en-US" b="1" dirty="0"/>
              <a:t>Text files</a:t>
            </a:r>
            <a:endParaRPr lang="en-US" dirty="0"/>
          </a:p>
          <a:p>
            <a:pPr lvl="1"/>
            <a:r>
              <a:rPr lang="en-US" b="1" dirty="0"/>
              <a:t>Binary files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61225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AC145-13FF-96B3-9930-FAC9FF523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2189A-EDEF-F898-13D5-CA4DE1D2C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FILE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D773D-E5FE-E3F2-14D2-018670CEE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*</a:t>
            </a:r>
            <a:r>
              <a:rPr lang="en-US" dirty="0" err="1"/>
              <a:t>fp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FILE is a predefined structure type defined in </a:t>
            </a:r>
            <a:r>
              <a:rPr lang="en-US" dirty="0" err="1"/>
              <a:t>stdio.h</a:t>
            </a:r>
            <a:endParaRPr lang="en-US" dirty="0"/>
          </a:p>
          <a:p>
            <a:pPr lvl="1"/>
            <a:r>
              <a:rPr lang="en-US" dirty="0" err="1"/>
              <a:t>fp</a:t>
            </a:r>
            <a:r>
              <a:rPr lang="en-US" dirty="0"/>
              <a:t> points to file stream</a:t>
            </a:r>
          </a:p>
          <a:p>
            <a:pPr lvl="1"/>
            <a:r>
              <a:rPr lang="en-US" dirty="0"/>
              <a:t>Almost all operations happen via FILE*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494516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1996A-48EE-01ED-47EB-1F852FD9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BF7C4-E2A5-B213-A456-603493534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File Opening &amp; Closing</a:t>
            </a:r>
          </a:p>
          <a:p>
            <a:pPr lvl="1"/>
            <a:r>
              <a:rPr lang="en-IN" dirty="0" err="1"/>
              <a:t>fp</a:t>
            </a:r>
            <a:r>
              <a:rPr lang="en-IN" dirty="0"/>
              <a:t> = </a:t>
            </a:r>
            <a:r>
              <a:rPr lang="en-IN" dirty="0" err="1"/>
              <a:t>fopen</a:t>
            </a:r>
            <a:r>
              <a:rPr lang="en-IN" dirty="0"/>
              <a:t>("data.txt", “r");</a:t>
            </a:r>
          </a:p>
          <a:p>
            <a:pPr marL="457200" lvl="1" indent="0">
              <a:buNone/>
            </a:pPr>
            <a:r>
              <a:rPr lang="en-US" dirty="0"/>
              <a:t>   if (</a:t>
            </a:r>
            <a:r>
              <a:rPr lang="en-US" dirty="0" err="1"/>
              <a:t>fp</a:t>
            </a:r>
            <a:r>
              <a:rPr lang="en-US" dirty="0"/>
              <a:t> == NULL) {</a:t>
            </a:r>
          </a:p>
          <a:p>
            <a:pPr marL="457200" lvl="1" indent="0">
              <a:buNone/>
            </a:pPr>
            <a:r>
              <a:rPr lang="en-US" dirty="0"/>
              <a:t>     </a:t>
            </a:r>
            <a:r>
              <a:rPr lang="en-US" dirty="0" err="1"/>
              <a:t>printf</a:t>
            </a:r>
            <a:r>
              <a:rPr lang="en-US" dirty="0"/>
              <a:t>("File cannot be opened!\n");</a:t>
            </a:r>
          </a:p>
          <a:p>
            <a:pPr marL="457200" lvl="1" indent="0">
              <a:buNone/>
            </a:pPr>
            <a:r>
              <a:rPr lang="en-US" dirty="0"/>
              <a:t>     return 1;}</a:t>
            </a:r>
          </a:p>
          <a:p>
            <a:pPr lvl="1"/>
            <a:r>
              <a:rPr lang="en-IN" dirty="0" err="1"/>
              <a:t>fclose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127146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FDEA0-5995-5735-58ED-287FF9FAF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232"/>
            <a:ext cx="8229600" cy="5963931"/>
          </a:xfrm>
        </p:spPr>
        <p:txBody>
          <a:bodyPr>
            <a:normAutofit/>
          </a:bodyPr>
          <a:lstStyle/>
          <a:p>
            <a:r>
              <a:rPr lang="en-US" b="1" dirty="0"/>
              <a:t>Read &amp; Write Operations</a:t>
            </a:r>
          </a:p>
          <a:p>
            <a:r>
              <a:rPr lang="en-US" b="1" dirty="0"/>
              <a:t>Text file operations:</a:t>
            </a:r>
          </a:p>
          <a:p>
            <a:pPr lvl="1"/>
            <a:r>
              <a:rPr lang="en-US" dirty="0" err="1"/>
              <a:t>fgetc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fputc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fprintf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fscanf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fgets</a:t>
            </a:r>
            <a:r>
              <a:rPr lang="en-US" dirty="0"/>
              <a:t>() - </a:t>
            </a:r>
            <a:r>
              <a:rPr lang="en-US" dirty="0" err="1"/>
              <a:t>linebased</a:t>
            </a:r>
            <a:endParaRPr lang="en-US" dirty="0"/>
          </a:p>
          <a:p>
            <a:pPr lvl="1"/>
            <a:r>
              <a:rPr lang="en-US" dirty="0" err="1"/>
              <a:t>fputs</a:t>
            </a:r>
            <a:r>
              <a:rPr lang="en-US" dirty="0"/>
              <a:t>() - </a:t>
            </a:r>
            <a:r>
              <a:rPr lang="en-US" dirty="0" err="1"/>
              <a:t>linebased</a:t>
            </a:r>
            <a:endParaRPr lang="en-US" dirty="0"/>
          </a:p>
          <a:p>
            <a:r>
              <a:rPr lang="en-US" b="1" dirty="0"/>
              <a:t>Binary file operations:</a:t>
            </a:r>
          </a:p>
          <a:p>
            <a:pPr lvl="1"/>
            <a:r>
              <a:rPr lang="en-US" dirty="0" err="1"/>
              <a:t>fread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fwrite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165101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8E040DA-59C3-05AD-D3DE-1395532104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0220" y="0"/>
            <a:ext cx="506581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Character Based  Functions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fgetc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→ reads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one character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fputc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→ writes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one character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b="1" dirty="0">
              <a:latin typeface="+mj-l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+mj-lt"/>
              </a:rPr>
              <a:t>char </a:t>
            </a:r>
            <a:r>
              <a:rPr lang="en-US" altLang="en-US" sz="2400" dirty="0" err="1">
                <a:latin typeface="+mj-lt"/>
              </a:rPr>
              <a:t>ch</a:t>
            </a:r>
            <a:r>
              <a:rPr lang="en-US" altLang="en-US" sz="2400" dirty="0">
                <a:latin typeface="+mj-lt"/>
              </a:rPr>
              <a:t> = </a:t>
            </a:r>
            <a:r>
              <a:rPr lang="en-US" altLang="en-US" sz="2400" dirty="0" err="1">
                <a:latin typeface="+mj-lt"/>
              </a:rPr>
              <a:t>fgetc</a:t>
            </a:r>
            <a:r>
              <a:rPr lang="en-US" altLang="en-US" sz="2400" dirty="0">
                <a:latin typeface="+mj-lt"/>
              </a:rPr>
              <a:t>(</a:t>
            </a:r>
            <a:r>
              <a:rPr lang="en-US" altLang="en-US" sz="2400" dirty="0" err="1">
                <a:latin typeface="+mj-lt"/>
              </a:rPr>
              <a:t>fp</a:t>
            </a:r>
            <a:r>
              <a:rPr lang="en-US" altLang="en-US" sz="2400" dirty="0">
                <a:latin typeface="+mj-lt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51E205F-AD5C-9BFF-A71B-B721A3763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816" y="2579060"/>
            <a:ext cx="1443609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/>
              <a:t>Formatted I/O functions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IN" sz="2400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err="1">
                <a:latin typeface="Arial Unicode MS" panose="020B0604020202020204" pitchFamily="34" charset="-128"/>
              </a:rPr>
              <a:t>fprintf</a:t>
            </a:r>
            <a:r>
              <a:rPr lang="en-US" altLang="en-US" sz="2400" dirty="0">
                <a:latin typeface="Arial Unicode MS" panose="020B0604020202020204" pitchFamily="34" charset="-128"/>
              </a:rPr>
              <a:t>(</a:t>
            </a:r>
            <a:r>
              <a:rPr lang="en-US" altLang="en-US" sz="2400" dirty="0" err="1">
                <a:latin typeface="Arial Unicode MS" panose="020B0604020202020204" pitchFamily="34" charset="-128"/>
              </a:rPr>
              <a:t>fp</a:t>
            </a:r>
            <a:r>
              <a:rPr lang="en-US" altLang="en-US" sz="2400" dirty="0">
                <a:latin typeface="Arial Unicode MS" panose="020B0604020202020204" pitchFamily="34" charset="-128"/>
              </a:rPr>
              <a:t>, "format", values)</a:t>
            </a:r>
            <a:endParaRPr lang="en-US" altLang="en-US" sz="2400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err="1">
                <a:latin typeface="Arial Unicode MS" panose="020B0604020202020204" pitchFamily="34" charset="-128"/>
              </a:rPr>
              <a:t>fscanf</a:t>
            </a:r>
            <a:r>
              <a:rPr lang="en-US" altLang="en-US" sz="2400" dirty="0">
                <a:latin typeface="Arial Unicode MS" panose="020B0604020202020204" pitchFamily="34" charset="-128"/>
              </a:rPr>
              <a:t>(</a:t>
            </a:r>
            <a:r>
              <a:rPr lang="en-US" altLang="en-US" sz="2400" dirty="0" err="1">
                <a:latin typeface="Arial Unicode MS" panose="020B0604020202020204" pitchFamily="34" charset="-128"/>
              </a:rPr>
              <a:t>fp</a:t>
            </a:r>
            <a:r>
              <a:rPr lang="en-US" altLang="en-US" sz="2400" dirty="0">
                <a:latin typeface="Arial Unicode MS" panose="020B0604020202020204" pitchFamily="34" charset="-128"/>
              </a:rPr>
              <a:t>, "format", &amp;values)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IN" sz="2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 err="1"/>
              <a:t>fprintf</a:t>
            </a:r>
            <a:r>
              <a:rPr lang="en-IN" sz="2400" dirty="0"/>
              <a:t>(</a:t>
            </a:r>
            <a:r>
              <a:rPr lang="en-IN" sz="2400" dirty="0" err="1"/>
              <a:t>fp</a:t>
            </a:r>
            <a:r>
              <a:rPr lang="en-IN" sz="2400" dirty="0"/>
              <a:t>, "%d %f", id, marks);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IN" sz="2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 err="1"/>
              <a:t>fscanf</a:t>
            </a:r>
            <a:r>
              <a:rPr lang="en-US" sz="2400" dirty="0"/>
              <a:t>() is </a:t>
            </a:r>
            <a:r>
              <a:rPr lang="en-US" sz="2400" b="1" dirty="0"/>
              <a:t>not safe for strings</a:t>
            </a:r>
            <a:r>
              <a:rPr lang="en-US" sz="2400" dirty="0"/>
              <a:t> because it stops at spaces.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/>
              <a:t>For text lines, prefer </a:t>
            </a:r>
            <a:r>
              <a:rPr lang="en-US" sz="2400" dirty="0" err="1"/>
              <a:t>fgets</a:t>
            </a:r>
            <a:r>
              <a:rPr lang="en-US" sz="2400" dirty="0"/>
              <a:t>().</a:t>
            </a:r>
            <a:endParaRPr lang="en-IN" altLang="en-US" sz="2400" dirty="0">
              <a:latin typeface="+mj-lt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6512082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4081EA-26E2-9378-DD5B-D0470D93D3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2431085"/>
              </p:ext>
            </p:extLst>
          </p:nvPr>
        </p:nvGraphicFramePr>
        <p:xfrm>
          <a:off x="4572000" y="3759942"/>
          <a:ext cx="4601498" cy="1828800"/>
        </p:xfrm>
        <a:graphic>
          <a:graphicData uri="http://schemas.openxmlformats.org/drawingml/2006/table">
            <a:tbl>
              <a:tblPr/>
              <a:tblGrid>
                <a:gridCol w="2300749">
                  <a:extLst>
                    <a:ext uri="{9D8B030D-6E8A-4147-A177-3AD203B41FA5}">
                      <a16:colId xmlns:a16="http://schemas.microsoft.com/office/drawing/2014/main" val="2679084600"/>
                    </a:ext>
                  </a:extLst>
                </a:gridCol>
                <a:gridCol w="2300749">
                  <a:extLst>
                    <a:ext uri="{9D8B030D-6E8A-4147-A177-3AD203B41FA5}">
                      <a16:colId xmlns:a16="http://schemas.microsoft.com/office/drawing/2014/main" val="34809261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Text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Binary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87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Human readable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human readable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160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203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 space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900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Character 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Byte/block 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87062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2F30259D-C872-9548-EA11-936A4B89F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185" y="243512"/>
            <a:ext cx="4543231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Binary File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fread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and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fwrite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to read/write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blocks of bytes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fwrite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(address, size, count,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fread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(address, size, count,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fwrite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(&amp;s,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(s), 1,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block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block is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(s) bytes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Starting from address &amp;s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27E633-397D-1FFB-3BD6-3B10B3D87571}"/>
              </a:ext>
            </a:extLst>
          </p:cNvPr>
          <p:cNvCxnSpPr/>
          <p:nvPr/>
        </p:nvCxnSpPr>
        <p:spPr>
          <a:xfrm>
            <a:off x="4468761" y="3759942"/>
            <a:ext cx="0" cy="19624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416312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E33A2-1624-19A5-E03D-764F7A34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Movement - Accessing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05D9C-B100-17E4-DAEA-1F6C8E57E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File Pointer Movement (Seek)</a:t>
            </a:r>
          </a:p>
          <a:p>
            <a:r>
              <a:rPr lang="en-US" dirty="0" err="1"/>
              <a:t>fseek</a:t>
            </a:r>
            <a:r>
              <a:rPr lang="en-US" dirty="0"/>
              <a:t>()</a:t>
            </a:r>
          </a:p>
          <a:p>
            <a:r>
              <a:rPr lang="en-US" dirty="0"/>
              <a:t>SEEK_SET</a:t>
            </a:r>
          </a:p>
          <a:p>
            <a:r>
              <a:rPr lang="en-US" dirty="0"/>
              <a:t>SEEK_CUR</a:t>
            </a:r>
          </a:p>
          <a:p>
            <a:r>
              <a:rPr lang="en-US" dirty="0"/>
              <a:t>SEEK_END</a:t>
            </a:r>
          </a:p>
          <a:p>
            <a:r>
              <a:rPr lang="en-US" dirty="0"/>
              <a:t>➡️ This satisfies the </a:t>
            </a:r>
            <a:r>
              <a:rPr lang="en-US" b="1" dirty="0"/>
              <a:t>“seek”</a:t>
            </a:r>
            <a:r>
              <a:rPr lang="en-US" dirty="0"/>
              <a:t> part of:</a:t>
            </a:r>
          </a:p>
          <a:p>
            <a:r>
              <a:rPr lang="en-US" i="1" dirty="0"/>
              <a:t>read – write – seek</a:t>
            </a:r>
          </a:p>
          <a:p>
            <a:r>
              <a:rPr lang="en-US" dirty="0" err="1"/>
              <a:t>ftell</a:t>
            </a:r>
            <a:r>
              <a:rPr lang="en-US" dirty="0"/>
              <a:t>() gives current position</a:t>
            </a:r>
          </a:p>
          <a:p>
            <a:r>
              <a:rPr lang="en-US" dirty="0"/>
              <a:t>rewind() resets to start.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21200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4C7D2-C35E-7F78-35A9-2A1E00DF4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fseek</a:t>
            </a:r>
            <a:r>
              <a:rPr lang="en-US" dirty="0"/>
              <a:t>() Function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Syntax:</a:t>
            </a:r>
          </a:p>
          <a:p>
            <a:pPr marL="0" indent="0">
              <a:buNone/>
            </a:pPr>
            <a:r>
              <a:rPr lang="en-US" dirty="0" err="1"/>
              <a:t>fseek</a:t>
            </a:r>
            <a:r>
              <a:rPr lang="en-US" dirty="0"/>
              <a:t>(</a:t>
            </a:r>
            <a:r>
              <a:rPr lang="en-US" dirty="0" err="1"/>
              <a:t>fp</a:t>
            </a:r>
            <a:r>
              <a:rPr lang="en-US" dirty="0"/>
              <a:t>, offset, position);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fp</a:t>
            </a:r>
            <a:r>
              <a:rPr lang="en-US" dirty="0"/>
              <a:t> → file pointer</a:t>
            </a:r>
          </a:p>
          <a:p>
            <a:pPr marL="0" indent="0">
              <a:buNone/>
            </a:pPr>
            <a:r>
              <a:rPr lang="en-US" dirty="0"/>
              <a:t>offset → number of bytes to move</a:t>
            </a:r>
          </a:p>
          <a:p>
            <a:pPr marL="0" indent="0">
              <a:buNone/>
            </a:pPr>
            <a:r>
              <a:rPr lang="en-US" dirty="0"/>
              <a:t>position → reference point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548929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BEEC2-B5F4-88CD-9973-5F1447109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🔹 Position constants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SEEK_SET → beginning of file</a:t>
            </a:r>
          </a:p>
          <a:p>
            <a:pPr marL="0" indent="0">
              <a:buNone/>
            </a:pPr>
            <a:r>
              <a:rPr lang="en-US" sz="2400" dirty="0"/>
              <a:t>SEEK_CUR → current position</a:t>
            </a:r>
          </a:p>
          <a:p>
            <a:pPr marL="0" indent="0">
              <a:buNone/>
            </a:pPr>
            <a:r>
              <a:rPr lang="en-US" sz="2400" dirty="0"/>
              <a:t>SEEK_END → end of file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fseek</a:t>
            </a:r>
            <a:r>
              <a:rPr lang="en-US" sz="2400" dirty="0"/>
              <a:t>(</a:t>
            </a:r>
            <a:r>
              <a:rPr lang="en-US" sz="2400" dirty="0" err="1"/>
              <a:t>fp</a:t>
            </a:r>
            <a:r>
              <a:rPr lang="en-US" sz="2400" dirty="0"/>
              <a:t>, 0, SEEK_SET);</a:t>
            </a:r>
          </a:p>
          <a:p>
            <a:pPr marL="0" indent="0">
              <a:buNone/>
            </a:pPr>
            <a:r>
              <a:rPr lang="en-US" sz="2400" dirty="0"/>
              <a:t>➡ Go to beginning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fseek</a:t>
            </a:r>
            <a:r>
              <a:rPr lang="en-US" sz="2400" dirty="0"/>
              <a:t>(</a:t>
            </a:r>
            <a:r>
              <a:rPr lang="en-US" sz="2400" dirty="0" err="1"/>
              <a:t>fp</a:t>
            </a:r>
            <a:r>
              <a:rPr lang="en-US" sz="2400" dirty="0"/>
              <a:t>, -10, SEEK_END);</a:t>
            </a:r>
          </a:p>
          <a:p>
            <a:pPr marL="0" indent="0">
              <a:buNone/>
            </a:pPr>
            <a:r>
              <a:rPr lang="en-US" sz="2400" dirty="0"/>
              <a:t>➡ Go 10 bytes before end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Every read or write automatically moves the file pointer forward.</a:t>
            </a:r>
          </a:p>
          <a:p>
            <a:pPr marL="0" indent="0">
              <a:buNone/>
            </a:pPr>
            <a:r>
              <a:rPr lang="en-US" sz="2400" dirty="0" err="1"/>
              <a:t>fseek</a:t>
            </a:r>
            <a:r>
              <a:rPr lang="en-US" sz="2400" dirty="0"/>
              <a:t>() allows us to manually reposition it.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8313974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782C2-1AD0-E248-5AD1-C1AE480A8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86698"/>
            <a:ext cx="8686800" cy="563946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FILE *</a:t>
            </a:r>
            <a:r>
              <a:rPr lang="en-IN" dirty="0" err="1"/>
              <a:t>fp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fp</a:t>
            </a:r>
            <a:r>
              <a:rPr lang="en-IN" dirty="0"/>
              <a:t> = </a:t>
            </a:r>
            <a:r>
              <a:rPr lang="en-IN" dirty="0" err="1"/>
              <a:t>fopen</a:t>
            </a:r>
            <a:r>
              <a:rPr lang="en-IN" dirty="0"/>
              <a:t>("data.txt", "r");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US" dirty="0"/>
              <a:t>if(</a:t>
            </a:r>
            <a:r>
              <a:rPr lang="en-US" dirty="0" err="1"/>
              <a:t>fp</a:t>
            </a:r>
            <a:r>
              <a:rPr lang="en-US" dirty="0"/>
              <a:t> == NULL){ </a:t>
            </a:r>
            <a:r>
              <a:rPr lang="en-US" dirty="0" err="1"/>
              <a:t>perror</a:t>
            </a:r>
            <a:r>
              <a:rPr lang="en-US" dirty="0"/>
              <a:t>("File open failed"); return 1; }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fseek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, 5, SEEK_SET);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("%c", </a:t>
            </a:r>
            <a:r>
              <a:rPr lang="en-IN" dirty="0" err="1"/>
              <a:t>fgetc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));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fclose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043923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F88FB-EC73-5045-37FE-CB5987DEE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98577-2510-2691-C89E-1C400F5A5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r>
              <a:rPr lang="en-IN" dirty="0"/>
              <a:t>TEXT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E015C-E4A0-8CF9-1C0C-50035CC32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219" y="952752"/>
            <a:ext cx="8229600" cy="4525963"/>
          </a:xfrm>
        </p:spPr>
        <p:txBody>
          <a:bodyPr/>
          <a:lstStyle/>
          <a:p>
            <a:r>
              <a:rPr lang="en-US" b="1" dirty="0"/>
              <a:t>What is a Text File?</a:t>
            </a:r>
          </a:p>
          <a:p>
            <a:pPr lvl="1"/>
            <a:r>
              <a:rPr lang="en-US" dirty="0"/>
              <a:t>Data stored in </a:t>
            </a:r>
            <a:r>
              <a:rPr lang="en-US" b="1" dirty="0"/>
              <a:t>human-readable form</a:t>
            </a:r>
            <a:endParaRPr lang="en-US" dirty="0"/>
          </a:p>
          <a:p>
            <a:pPr lvl="1"/>
            <a:r>
              <a:rPr lang="en-US" dirty="0"/>
              <a:t>.txt, .csv</a:t>
            </a:r>
          </a:p>
          <a:p>
            <a:r>
              <a:rPr lang="en-US" dirty="0"/>
              <a:t>Each character stored as ASCII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DC886-2A1A-D11E-C175-C4DFF0BD11E6}"/>
              </a:ext>
            </a:extLst>
          </p:cNvPr>
          <p:cNvSpPr txBox="1"/>
          <p:nvPr/>
        </p:nvSpPr>
        <p:spPr>
          <a:xfrm>
            <a:off x="634181" y="3215733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fp</a:t>
            </a:r>
            <a:r>
              <a:rPr lang="en-IN" sz="2800" dirty="0"/>
              <a:t> = </a:t>
            </a:r>
            <a:r>
              <a:rPr lang="en-IN" sz="2800" dirty="0" err="1"/>
              <a:t>fopen</a:t>
            </a:r>
            <a:r>
              <a:rPr lang="en-IN" sz="2800" dirty="0"/>
              <a:t>("data.txt", "w");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73ACCD-F86C-8F91-705D-3981B3D71210}"/>
              </a:ext>
            </a:extLst>
          </p:cNvPr>
          <p:cNvSpPr txBox="1"/>
          <p:nvPr/>
        </p:nvSpPr>
        <p:spPr>
          <a:xfrm>
            <a:off x="435079" y="3914798"/>
            <a:ext cx="8229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Numbers are stored as characters, not numeric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123</a:t>
            </a:r>
            <a:r>
              <a:rPr lang="en-US" sz="2400" dirty="0"/>
              <a:t> uses </a:t>
            </a:r>
            <a:r>
              <a:rPr lang="en-US" sz="2400" b="1" dirty="0"/>
              <a:t>3 bytes</a:t>
            </a:r>
            <a:r>
              <a:rPr lang="en-US" sz="2400" dirty="0"/>
              <a:t>, not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Platform independent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Used for reports, logs, configuration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Larger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Slower compared to binary files</a:t>
            </a:r>
          </a:p>
        </p:txBody>
      </p:sp>
    </p:spTree>
    <p:extLst>
      <p:ext uri="{BB962C8B-B14F-4D97-AF65-F5344CB8AC3E}">
        <p14:creationId xmlns:p14="http://schemas.microsoft.com/office/powerpoint/2010/main" val="169010608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0A9FA-25BD-97C4-C0D5-EF49652C5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1F5FC-C78D-ACD9-5338-4F178901A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9696"/>
            <a:ext cx="8229600" cy="4525963"/>
          </a:xfrm>
        </p:spPr>
        <p:txBody>
          <a:bodyPr/>
          <a:lstStyle/>
          <a:p>
            <a:r>
              <a:rPr lang="nl-NL" dirty="0"/>
              <a:t>fp = fopen("data.txt", "w");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D1725E-BCDD-7F64-2C26-09461F8B2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128779"/>
              </p:ext>
            </p:extLst>
          </p:nvPr>
        </p:nvGraphicFramePr>
        <p:xfrm>
          <a:off x="491612" y="2329278"/>
          <a:ext cx="8568814" cy="3364598"/>
        </p:xfrm>
        <a:graphic>
          <a:graphicData uri="http://schemas.openxmlformats.org/drawingml/2006/table">
            <a:tbl>
              <a:tblPr/>
              <a:tblGrid>
                <a:gridCol w="1730243">
                  <a:extLst>
                    <a:ext uri="{9D8B030D-6E8A-4147-A177-3AD203B41FA5}">
                      <a16:colId xmlns:a16="http://schemas.microsoft.com/office/drawing/2014/main" val="2780029335"/>
                    </a:ext>
                  </a:extLst>
                </a:gridCol>
                <a:gridCol w="6838571">
                  <a:extLst>
                    <a:ext uri="{9D8B030D-6E8A-4147-A177-3AD203B41FA5}">
                      <a16:colId xmlns:a16="http://schemas.microsoft.com/office/drawing/2014/main" val="1364679033"/>
                    </a:ext>
                  </a:extLst>
                </a:gridCol>
              </a:tblGrid>
              <a:tr h="737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Mode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367306"/>
                  </a:ext>
                </a:extLst>
              </a:tr>
              <a:tr h="737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latin typeface="Courier New" panose="02070309020205020404" pitchFamily="49" charset="0"/>
                        </a:rPr>
                        <a:t>"r"</a:t>
                      </a:r>
                      <a:endParaRPr lang="en-IN" sz="2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Read   - </a:t>
                      </a:r>
                      <a:r>
                        <a:rPr lang="en-IN" sz="2800" dirty="0"/>
                        <a:t>Cursor at beginning</a:t>
                      </a:r>
                      <a:endParaRPr lang="en-IN" sz="2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28411"/>
                  </a:ext>
                </a:extLst>
              </a:tr>
              <a:tr h="737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urier New" panose="02070309020205020404" pitchFamily="49" charset="0"/>
                        </a:rPr>
                        <a:t>"w"</a:t>
                      </a:r>
                      <a:endParaRPr lang="en-IN" sz="2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Write - </a:t>
                      </a:r>
                      <a:r>
                        <a:rPr lang="en-IN" sz="2800" dirty="0"/>
                        <a:t>Cursor at beginning, Overwrite, </a:t>
                      </a:r>
                      <a:r>
                        <a:rPr lang="en-US" sz="2800" dirty="0"/>
                        <a:t>Creates new file if not exists</a:t>
                      </a:r>
                      <a:endParaRPr lang="en-IN" sz="2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418961"/>
                  </a:ext>
                </a:extLst>
              </a:tr>
              <a:tr h="737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Courier New" panose="02070309020205020404" pitchFamily="49" charset="0"/>
                        </a:rPr>
                        <a:t>"a"</a:t>
                      </a:r>
                      <a:endParaRPr lang="en-IN" sz="2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Append - </a:t>
                      </a:r>
                      <a:r>
                        <a:rPr lang="en-US" sz="2400" dirty="0"/>
                        <a:t>Creates new file if not exists, </a:t>
                      </a:r>
                      <a:r>
                        <a:rPr lang="en-US" sz="2800" dirty="0"/>
                        <a:t>Writes only at the end</a:t>
                      </a:r>
                      <a:endParaRPr lang="en-IN" sz="2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2323821"/>
                  </a:ext>
                </a:extLst>
              </a:tr>
            </a:tbl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551502D2-9768-17FB-5211-AD36F6500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9296ED-8D90-0D23-7606-BE7F74E20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500901"/>
              </p:ext>
            </p:extLst>
          </p:nvPr>
        </p:nvGraphicFramePr>
        <p:xfrm>
          <a:off x="609600" y="5799905"/>
          <a:ext cx="4247536" cy="2949676"/>
        </p:xfrm>
        <a:graphic>
          <a:graphicData uri="http://schemas.openxmlformats.org/drawingml/2006/table">
            <a:tbl>
              <a:tblPr/>
              <a:tblGrid>
                <a:gridCol w="2123768">
                  <a:extLst>
                    <a:ext uri="{9D8B030D-6E8A-4147-A177-3AD203B41FA5}">
                      <a16:colId xmlns:a16="http://schemas.microsoft.com/office/drawing/2014/main" val="2780029335"/>
                    </a:ext>
                  </a:extLst>
                </a:gridCol>
                <a:gridCol w="2123768">
                  <a:extLst>
                    <a:ext uri="{9D8B030D-6E8A-4147-A177-3AD203B41FA5}">
                      <a16:colId xmlns:a16="http://schemas.microsoft.com/office/drawing/2014/main" val="1364679033"/>
                    </a:ext>
                  </a:extLst>
                </a:gridCol>
              </a:tblGrid>
              <a:tr h="737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r+, w+, a+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367306"/>
                  </a:ext>
                </a:extLst>
              </a:tr>
              <a:tr h="73741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28411"/>
                  </a:ext>
                </a:extLst>
              </a:tr>
              <a:tr h="73741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418961"/>
                  </a:ext>
                </a:extLst>
              </a:tr>
              <a:tr h="73741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2323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06366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99A68A-7661-BABB-4D0F-6575EEAB35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3172639"/>
              </p:ext>
            </p:extLst>
          </p:nvPr>
        </p:nvGraphicFramePr>
        <p:xfrm>
          <a:off x="457200" y="1507863"/>
          <a:ext cx="8229599" cy="28346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58645">
                  <a:extLst>
                    <a:ext uri="{9D8B030D-6E8A-4147-A177-3AD203B41FA5}">
                      <a16:colId xmlns:a16="http://schemas.microsoft.com/office/drawing/2014/main" val="1798786912"/>
                    </a:ext>
                  </a:extLst>
                </a:gridCol>
                <a:gridCol w="1150374">
                  <a:extLst>
                    <a:ext uri="{9D8B030D-6E8A-4147-A177-3AD203B41FA5}">
                      <a16:colId xmlns:a16="http://schemas.microsoft.com/office/drawing/2014/main" val="425216838"/>
                    </a:ext>
                  </a:extLst>
                </a:gridCol>
                <a:gridCol w="1417952">
                  <a:extLst>
                    <a:ext uri="{9D8B030D-6E8A-4147-A177-3AD203B41FA5}">
                      <a16:colId xmlns:a16="http://schemas.microsoft.com/office/drawing/2014/main" val="2564894586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386737438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738109419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023371707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5696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File must exist?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Old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Write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Write position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Initial file pointer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1967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Preserved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Beginning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72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Deleted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Beginning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Beginning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846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Preserved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End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8619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Preserved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Anywhere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Beginning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7138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Deleted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Anywhere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Beginning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555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Preserved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End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03130"/>
                  </a:ext>
                </a:extLst>
              </a:tr>
            </a:tbl>
          </a:graphicData>
        </a:graphic>
      </p:graphicFrame>
      <p:sp>
        <p:nvSpPr>
          <p:cNvPr id="5" name="Title 5">
            <a:extLst>
              <a:ext uri="{FF2B5EF4-FFF2-40B4-BE49-F238E27FC236}">
                <a16:creationId xmlns:a16="http://schemas.microsoft.com/office/drawing/2014/main" id="{D4CCCBD6-EC45-7448-17B4-0A52409D9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IN" dirty="0"/>
              <a:t>Different Modes</a:t>
            </a:r>
          </a:p>
        </p:txBody>
      </p:sp>
    </p:spTree>
    <p:extLst>
      <p:ext uri="{BB962C8B-B14F-4D97-AF65-F5344CB8AC3E}">
        <p14:creationId xmlns:p14="http://schemas.microsoft.com/office/powerpoint/2010/main" val="115014688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4585C-BE8A-7C12-8DF4-F10A0D781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AD173-3CB9-DB50-9BAC-D55D021D3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33" y="147484"/>
            <a:ext cx="4409768" cy="59786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dirty="0"/>
              <a:t>#include &lt;</a:t>
            </a:r>
            <a:r>
              <a:rPr lang="en-IN" sz="2600" dirty="0" err="1"/>
              <a:t>stdio.h</a:t>
            </a:r>
            <a:r>
              <a:rPr lang="en-IN" sz="2600" dirty="0"/>
              <a:t>&gt;</a:t>
            </a:r>
          </a:p>
          <a:p>
            <a:pPr marL="0" indent="0">
              <a:buNone/>
            </a:pPr>
            <a:r>
              <a:rPr lang="en-IN" sz="2600" dirty="0"/>
              <a:t>int main() {</a:t>
            </a:r>
          </a:p>
          <a:p>
            <a:pPr marL="0" indent="0">
              <a:buNone/>
            </a:pPr>
            <a:r>
              <a:rPr lang="en-IN" sz="2600" dirty="0"/>
              <a:t>    FILE *</a:t>
            </a:r>
            <a:r>
              <a:rPr lang="en-IN" sz="2600" dirty="0" err="1"/>
              <a:t>fp</a:t>
            </a:r>
            <a:r>
              <a:rPr lang="en-IN" sz="2600" dirty="0"/>
              <a:t>;</a:t>
            </a:r>
          </a:p>
          <a:p>
            <a:pPr marL="0" indent="0">
              <a:buNone/>
            </a:pPr>
            <a:r>
              <a:rPr lang="en-IN" sz="2600" dirty="0"/>
              <a:t>    </a:t>
            </a:r>
            <a:r>
              <a:rPr lang="en-IN" sz="2600" dirty="0" err="1"/>
              <a:t>fp</a:t>
            </a:r>
            <a:r>
              <a:rPr lang="en-IN" sz="2600" dirty="0"/>
              <a:t> = </a:t>
            </a:r>
            <a:r>
              <a:rPr lang="en-IN" sz="2600" dirty="0" err="1"/>
              <a:t>fopen</a:t>
            </a:r>
            <a:r>
              <a:rPr lang="en-IN" sz="2600" dirty="0"/>
              <a:t>("data.txt", "w");</a:t>
            </a:r>
          </a:p>
          <a:p>
            <a:pPr marL="0" indent="0">
              <a:buNone/>
            </a:pPr>
            <a:r>
              <a:rPr lang="en-IN" sz="2600" dirty="0"/>
              <a:t>	</a:t>
            </a:r>
            <a:r>
              <a:rPr lang="en-US" sz="2600" dirty="0"/>
              <a:t>if(</a:t>
            </a:r>
            <a:r>
              <a:rPr lang="en-US" sz="2600" dirty="0" err="1"/>
              <a:t>fp</a:t>
            </a:r>
            <a:r>
              <a:rPr lang="en-US" sz="2600" dirty="0"/>
              <a:t> == NULL){</a:t>
            </a:r>
          </a:p>
          <a:p>
            <a:pPr marL="0" indent="0">
              <a:buNone/>
            </a:pPr>
            <a:r>
              <a:rPr lang="en-US" sz="2600" dirty="0"/>
              <a:t> 	   </a:t>
            </a:r>
            <a:r>
              <a:rPr lang="en-US" sz="2600" dirty="0" err="1"/>
              <a:t>perror</a:t>
            </a:r>
            <a:r>
              <a:rPr lang="en-US" sz="2600" dirty="0"/>
              <a:t>("File open failed");</a:t>
            </a:r>
          </a:p>
          <a:p>
            <a:pPr marL="0" indent="0">
              <a:buNone/>
            </a:pPr>
            <a:r>
              <a:rPr lang="en-US" sz="2600" dirty="0"/>
              <a:t>    		return 1; }</a:t>
            </a:r>
            <a:endParaRPr lang="en-IN" sz="2600" dirty="0"/>
          </a:p>
          <a:p>
            <a:pPr marL="0" indent="0">
              <a:buNone/>
            </a:pPr>
            <a:r>
              <a:rPr lang="en-IN" sz="2600" dirty="0"/>
              <a:t>    </a:t>
            </a:r>
            <a:r>
              <a:rPr lang="en-IN" sz="2600" dirty="0" err="1"/>
              <a:t>fprintf</a:t>
            </a:r>
            <a:r>
              <a:rPr lang="en-IN" sz="2600" dirty="0"/>
              <a:t>(</a:t>
            </a:r>
            <a:r>
              <a:rPr lang="en-IN" sz="2600" dirty="0" err="1"/>
              <a:t>fp</a:t>
            </a:r>
            <a:r>
              <a:rPr lang="en-IN" sz="2600" dirty="0"/>
              <a:t>, "Hello World");</a:t>
            </a:r>
          </a:p>
          <a:p>
            <a:pPr marL="0" indent="0">
              <a:buNone/>
            </a:pPr>
            <a:r>
              <a:rPr lang="en-IN" sz="2600" dirty="0"/>
              <a:t>    </a:t>
            </a:r>
            <a:r>
              <a:rPr lang="en-IN" sz="2600" dirty="0" err="1"/>
              <a:t>fclose</a:t>
            </a:r>
            <a:r>
              <a:rPr lang="en-IN" sz="2600" dirty="0"/>
              <a:t>(</a:t>
            </a:r>
            <a:r>
              <a:rPr lang="en-IN" sz="2600" dirty="0" err="1"/>
              <a:t>fp</a:t>
            </a:r>
            <a:r>
              <a:rPr lang="en-IN" sz="2600" dirty="0"/>
              <a:t>);</a:t>
            </a:r>
          </a:p>
          <a:p>
            <a:pPr marL="0" indent="0">
              <a:buNone/>
            </a:pPr>
            <a:r>
              <a:rPr lang="en-IN" sz="2600" dirty="0"/>
              <a:t>    return 0;</a:t>
            </a:r>
          </a:p>
          <a:p>
            <a:pPr marL="0" indent="0">
              <a:buNone/>
            </a:pPr>
            <a:r>
              <a:rPr lang="en-IN" sz="2600" dirty="0"/>
              <a:t>}</a:t>
            </a:r>
          </a:p>
          <a:p>
            <a:endParaRPr lang="en-IN" sz="26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57F9F7-21E2-04D0-5882-4B1F3BE950D5}"/>
              </a:ext>
            </a:extLst>
          </p:cNvPr>
          <p:cNvSpPr txBox="1">
            <a:spLocks/>
          </p:cNvSpPr>
          <p:nvPr/>
        </p:nvSpPr>
        <p:spPr>
          <a:xfrm>
            <a:off x="4572001" y="147484"/>
            <a:ext cx="5073445" cy="59786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800" dirty="0"/>
              <a:t>#include &lt;</a:t>
            </a:r>
            <a:r>
              <a:rPr lang="en-IN" sz="2800" dirty="0" err="1"/>
              <a:t>stdio.h</a:t>
            </a:r>
            <a:r>
              <a:rPr lang="en-IN" sz="2800" dirty="0"/>
              <a:t>&gt;</a:t>
            </a:r>
          </a:p>
          <a:p>
            <a:pPr marL="0" indent="0">
              <a:buNone/>
            </a:pPr>
            <a:r>
              <a:rPr lang="en-IN" sz="2800" dirty="0"/>
              <a:t>int main() {</a:t>
            </a:r>
          </a:p>
          <a:p>
            <a:pPr marL="0" indent="0">
              <a:buNone/>
            </a:pPr>
            <a:r>
              <a:rPr lang="en-IN" sz="2800" dirty="0"/>
              <a:t>    FILE *</a:t>
            </a:r>
            <a:r>
              <a:rPr lang="en-IN" sz="2800" dirty="0" err="1"/>
              <a:t>fp</a:t>
            </a:r>
            <a:r>
              <a:rPr lang="en-IN" sz="2800" dirty="0"/>
              <a:t>;</a:t>
            </a:r>
          </a:p>
          <a:p>
            <a:pPr marL="0" indent="0">
              <a:buNone/>
            </a:pPr>
            <a:r>
              <a:rPr lang="en-IN" sz="2800" dirty="0"/>
              <a:t>    int </a:t>
            </a:r>
            <a:r>
              <a:rPr lang="en-IN" sz="2800" dirty="0" err="1"/>
              <a:t>ch</a:t>
            </a:r>
            <a:r>
              <a:rPr lang="en-IN" sz="2800" dirty="0"/>
              <a:t>;</a:t>
            </a:r>
          </a:p>
          <a:p>
            <a:pPr marL="0" indent="0">
              <a:buNone/>
            </a:pPr>
            <a:r>
              <a:rPr lang="en-IN" sz="2800" dirty="0"/>
              <a:t>    </a:t>
            </a:r>
            <a:r>
              <a:rPr lang="en-IN" sz="2800" dirty="0" err="1"/>
              <a:t>fp</a:t>
            </a:r>
            <a:r>
              <a:rPr lang="en-IN" sz="2800" dirty="0"/>
              <a:t> = </a:t>
            </a:r>
            <a:r>
              <a:rPr lang="en-IN" sz="2800" dirty="0" err="1"/>
              <a:t>fopen</a:t>
            </a:r>
            <a:r>
              <a:rPr lang="en-IN" sz="2800" dirty="0"/>
              <a:t>("data.txt", "r");</a:t>
            </a:r>
          </a:p>
          <a:p>
            <a:pPr marL="0" indent="0">
              <a:buNone/>
            </a:pPr>
            <a:r>
              <a:rPr lang="en-US" sz="2800" dirty="0"/>
              <a:t>	if(</a:t>
            </a:r>
            <a:r>
              <a:rPr lang="en-US" sz="2800" dirty="0" err="1"/>
              <a:t>fp</a:t>
            </a:r>
            <a:r>
              <a:rPr lang="en-US" sz="2800" dirty="0"/>
              <a:t> == NULL){</a:t>
            </a:r>
          </a:p>
          <a:p>
            <a:pPr marL="0" indent="0">
              <a:buNone/>
            </a:pPr>
            <a:r>
              <a:rPr lang="en-US" sz="2800" dirty="0"/>
              <a:t>    		</a:t>
            </a:r>
            <a:r>
              <a:rPr lang="en-US" sz="2800" dirty="0" err="1"/>
              <a:t>perror</a:t>
            </a:r>
            <a:r>
              <a:rPr lang="en-US" sz="2800" dirty="0"/>
              <a:t>("File open failed");</a:t>
            </a:r>
          </a:p>
          <a:p>
            <a:pPr marL="0" indent="0">
              <a:buNone/>
            </a:pPr>
            <a:r>
              <a:rPr lang="en-US" sz="2800" dirty="0"/>
              <a:t>    		return 1;</a:t>
            </a:r>
          </a:p>
          <a:p>
            <a:pPr marL="0" indent="0">
              <a:buNone/>
            </a:pPr>
            <a:r>
              <a:rPr lang="en-US" sz="2800" dirty="0"/>
              <a:t>		}</a:t>
            </a:r>
            <a:endParaRPr lang="en-IN" sz="2800" dirty="0"/>
          </a:p>
          <a:p>
            <a:pPr marL="0" indent="0">
              <a:buNone/>
            </a:pPr>
            <a:r>
              <a:rPr lang="en-IN" sz="2800" dirty="0"/>
              <a:t>    while ((</a:t>
            </a:r>
            <a:r>
              <a:rPr lang="en-IN" sz="2800" dirty="0" err="1"/>
              <a:t>ch</a:t>
            </a:r>
            <a:r>
              <a:rPr lang="en-IN" sz="2800" dirty="0"/>
              <a:t> = </a:t>
            </a:r>
            <a:r>
              <a:rPr lang="en-IN" sz="2800" dirty="0" err="1"/>
              <a:t>fgetc</a:t>
            </a:r>
            <a:r>
              <a:rPr lang="en-IN" sz="2800" dirty="0"/>
              <a:t>(</a:t>
            </a:r>
            <a:r>
              <a:rPr lang="en-IN" sz="2800" dirty="0" err="1"/>
              <a:t>fp</a:t>
            </a:r>
            <a:r>
              <a:rPr lang="en-IN" sz="2800" dirty="0"/>
              <a:t>)) != EOF)</a:t>
            </a:r>
          </a:p>
          <a:p>
            <a:pPr marL="0" indent="0">
              <a:buNone/>
            </a:pPr>
            <a:r>
              <a:rPr lang="en-IN" sz="2800" dirty="0"/>
              <a:t>        </a:t>
            </a:r>
            <a:r>
              <a:rPr lang="en-IN" sz="2800" dirty="0" err="1"/>
              <a:t>printf</a:t>
            </a:r>
            <a:r>
              <a:rPr lang="en-IN" sz="2800" dirty="0"/>
              <a:t>("%c", </a:t>
            </a:r>
            <a:r>
              <a:rPr lang="en-IN" sz="2800" dirty="0" err="1"/>
              <a:t>ch</a:t>
            </a:r>
            <a:r>
              <a:rPr lang="en-IN" sz="2800" dirty="0"/>
              <a:t>);</a:t>
            </a:r>
          </a:p>
          <a:p>
            <a:pPr marL="0" indent="0">
              <a:buNone/>
            </a:pPr>
            <a:r>
              <a:rPr lang="en-IN" sz="2800" dirty="0"/>
              <a:t>    </a:t>
            </a:r>
            <a:r>
              <a:rPr lang="en-IN" sz="2800" dirty="0" err="1"/>
              <a:t>fclose</a:t>
            </a:r>
            <a:r>
              <a:rPr lang="en-IN" sz="2800" dirty="0"/>
              <a:t>(</a:t>
            </a:r>
            <a:r>
              <a:rPr lang="en-IN" sz="2800" dirty="0" err="1"/>
              <a:t>fp</a:t>
            </a:r>
            <a:r>
              <a:rPr lang="en-IN" sz="2800" dirty="0"/>
              <a:t>);</a:t>
            </a:r>
          </a:p>
          <a:p>
            <a:pPr marL="0" indent="0">
              <a:buNone/>
            </a:pPr>
            <a:r>
              <a:rPr lang="en-IN" sz="2800" dirty="0"/>
              <a:t>    return 0;</a:t>
            </a:r>
          </a:p>
          <a:p>
            <a:pPr marL="0" indent="0">
              <a:buNone/>
            </a:pPr>
            <a:r>
              <a:rPr lang="en-IN" sz="2800" dirty="0"/>
              <a:t>}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C02F40-3851-0D2E-9CDE-1BA256FF19AA}"/>
              </a:ext>
            </a:extLst>
          </p:cNvPr>
          <p:cNvCxnSpPr/>
          <p:nvPr/>
        </p:nvCxnSpPr>
        <p:spPr>
          <a:xfrm>
            <a:off x="4513008" y="457200"/>
            <a:ext cx="0" cy="46014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099532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6A119-8AF9-2E2A-7C8C-4ED517936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4B6F8-9B72-0FA0-5DE5-0571F7A06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AA210-1261-FE13-4E0E-FAA16835C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What is a Binary File?</a:t>
            </a:r>
          </a:p>
          <a:p>
            <a:pPr lvl="1"/>
            <a:r>
              <a:rPr lang="en-US" dirty="0"/>
              <a:t>Data stored in </a:t>
            </a:r>
            <a:r>
              <a:rPr lang="en-US" b="1" dirty="0"/>
              <a:t>machine-readable form</a:t>
            </a:r>
            <a:endParaRPr lang="en-US" dirty="0"/>
          </a:p>
          <a:p>
            <a:pPr lvl="1"/>
            <a:r>
              <a:rPr lang="en-US" dirty="0"/>
              <a:t>Faster than text files</a:t>
            </a:r>
          </a:p>
          <a:p>
            <a:pPr lvl="1"/>
            <a:r>
              <a:rPr lang="en-US" dirty="0"/>
              <a:t>Not human-readable</a:t>
            </a:r>
          </a:p>
          <a:p>
            <a:pPr lvl="1"/>
            <a:r>
              <a:rPr lang="en-US" dirty="0"/>
              <a:t>Binary files are system-dependent but efficient.</a:t>
            </a:r>
          </a:p>
          <a:p>
            <a:pPr marL="0" indent="0">
              <a:buNone/>
            </a:pPr>
            <a:r>
              <a:rPr lang="en-US" dirty="0"/>
              <a:t> Used for:</a:t>
            </a:r>
          </a:p>
          <a:p>
            <a:pPr lvl="1"/>
            <a:r>
              <a:rPr lang="en-US" dirty="0"/>
              <a:t>Structures</a:t>
            </a:r>
          </a:p>
          <a:p>
            <a:pPr lvl="1"/>
            <a:r>
              <a:rPr lang="en-US" dirty="0"/>
              <a:t>Images</a:t>
            </a:r>
          </a:p>
          <a:p>
            <a:pPr lvl="1"/>
            <a:r>
              <a:rPr lang="en-US" dirty="0"/>
              <a:t>Databases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814396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7484A-F9E0-279B-BA46-5AE5E66C6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56F47-F4C2-B1A3-C0E1-9C65FC6DD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File  Modes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5A51D3-417C-72DC-74D6-E64250B24D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5316101"/>
              </p:ext>
            </p:extLst>
          </p:nvPr>
        </p:nvGraphicFramePr>
        <p:xfrm>
          <a:off x="1504334" y="1730564"/>
          <a:ext cx="7418439" cy="2072640"/>
        </p:xfrm>
        <a:graphic>
          <a:graphicData uri="http://schemas.openxmlformats.org/drawingml/2006/table">
            <a:tbl>
              <a:tblPr/>
              <a:tblGrid>
                <a:gridCol w="1189949">
                  <a:extLst>
                    <a:ext uri="{9D8B030D-6E8A-4147-A177-3AD203B41FA5}">
                      <a16:colId xmlns:a16="http://schemas.microsoft.com/office/drawing/2014/main" val="777435680"/>
                    </a:ext>
                  </a:extLst>
                </a:gridCol>
                <a:gridCol w="6228490">
                  <a:extLst>
                    <a:ext uri="{9D8B030D-6E8A-4147-A177-3AD203B41FA5}">
                      <a16:colId xmlns:a16="http://schemas.microsoft.com/office/drawing/2014/main" val="40719208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Mode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278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Courier New" panose="02070309020205020404" pitchFamily="49" charset="0"/>
                        </a:rPr>
                        <a:t>"rb"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Read binary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127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Courier New" panose="02070309020205020404" pitchFamily="49" charset="0"/>
                        </a:rPr>
                        <a:t>"wb"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Write binary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073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Courier New" panose="02070309020205020404" pitchFamily="49" charset="0"/>
                        </a:rPr>
                        <a:t>"ab"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Append binary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5307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75A48B8-E046-12F6-FF96-9467932F7078}"/>
              </a:ext>
            </a:extLst>
          </p:cNvPr>
          <p:cNvSpPr txBox="1"/>
          <p:nvPr/>
        </p:nvSpPr>
        <p:spPr>
          <a:xfrm>
            <a:off x="2094271" y="4807974"/>
            <a:ext cx="24737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 err="1"/>
              <a:t>rb</a:t>
            </a:r>
            <a:r>
              <a:rPr lang="en-IN" sz="3200" dirty="0"/>
              <a:t>+, </a:t>
            </a:r>
            <a:r>
              <a:rPr lang="en-IN" sz="3200" dirty="0" err="1"/>
              <a:t>wb</a:t>
            </a:r>
            <a:r>
              <a:rPr lang="en-IN" sz="3200" dirty="0"/>
              <a:t>+, ab+</a:t>
            </a:r>
          </a:p>
        </p:txBody>
      </p:sp>
    </p:spTree>
    <p:extLst>
      <p:ext uri="{BB962C8B-B14F-4D97-AF65-F5344CB8AC3E}">
        <p14:creationId xmlns:p14="http://schemas.microsoft.com/office/powerpoint/2010/main" val="344603109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8B8AF-3F13-59E2-8C07-2C3F038FD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736"/>
            <a:ext cx="8229600" cy="599342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struct Student {</a:t>
            </a:r>
          </a:p>
          <a:p>
            <a:pPr marL="0" indent="0">
              <a:buNone/>
            </a:pPr>
            <a:r>
              <a:rPr lang="en-IN" dirty="0"/>
              <a:t>    int roll;</a:t>
            </a:r>
          </a:p>
          <a:p>
            <a:pPr marL="0" indent="0">
              <a:buNone/>
            </a:pPr>
            <a:r>
              <a:rPr lang="en-IN" dirty="0"/>
              <a:t>    float marks;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FILE *</a:t>
            </a:r>
            <a:r>
              <a:rPr lang="en-IN" dirty="0" err="1"/>
              <a:t>fp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struct Student s = {1, 85.5};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fp</a:t>
            </a:r>
            <a:r>
              <a:rPr lang="en-IN" dirty="0"/>
              <a:t> = </a:t>
            </a:r>
            <a:r>
              <a:rPr lang="en-IN" dirty="0" err="1"/>
              <a:t>fopen</a:t>
            </a:r>
            <a:r>
              <a:rPr lang="en-IN" dirty="0"/>
              <a:t>("student.dat", "</a:t>
            </a:r>
            <a:r>
              <a:rPr lang="en-IN" dirty="0" err="1"/>
              <a:t>wb</a:t>
            </a:r>
            <a:r>
              <a:rPr lang="en-IN" dirty="0"/>
              <a:t>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US" dirty="0"/>
              <a:t>if(</a:t>
            </a:r>
            <a:r>
              <a:rPr lang="en-US" dirty="0" err="1"/>
              <a:t>fp</a:t>
            </a:r>
            <a:r>
              <a:rPr lang="en-US" dirty="0"/>
              <a:t> == NULL){ </a:t>
            </a:r>
            <a:r>
              <a:rPr lang="en-US" dirty="0" err="1"/>
              <a:t>perror</a:t>
            </a:r>
            <a:r>
              <a:rPr lang="en-US" dirty="0"/>
              <a:t>("File open failed"); return 1; }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fwrite</a:t>
            </a:r>
            <a:r>
              <a:rPr lang="en-IN" dirty="0"/>
              <a:t>(&amp;s, </a:t>
            </a:r>
            <a:r>
              <a:rPr lang="en-IN" dirty="0" err="1"/>
              <a:t>sizeof</a:t>
            </a:r>
            <a:r>
              <a:rPr lang="en-IN" dirty="0"/>
              <a:t>(s), 1, </a:t>
            </a:r>
            <a:r>
              <a:rPr lang="en-IN" dirty="0" err="1"/>
              <a:t>fp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fclose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11ABBA-BBC9-BD58-23FE-C7AAB31B78D6}"/>
              </a:ext>
            </a:extLst>
          </p:cNvPr>
          <p:cNvSpPr txBox="1"/>
          <p:nvPr/>
        </p:nvSpPr>
        <p:spPr>
          <a:xfrm>
            <a:off x="4114800" y="399064"/>
            <a:ext cx="457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u="sng" dirty="0"/>
              <a:t>Writing Structure to Binary File</a:t>
            </a:r>
            <a:endParaRPr lang="en-IN" sz="3200" u="sng" dirty="0"/>
          </a:p>
        </p:txBody>
      </p:sp>
    </p:spTree>
    <p:extLst>
      <p:ext uri="{BB962C8B-B14F-4D97-AF65-F5344CB8AC3E}">
        <p14:creationId xmlns:p14="http://schemas.microsoft.com/office/powerpoint/2010/main" val="109473852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0BE9E-4950-EE06-C882-B032DBED6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1226"/>
            <a:ext cx="8229600" cy="590493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800" dirty="0"/>
              <a:t>#include &lt;</a:t>
            </a:r>
            <a:r>
              <a:rPr lang="en-IN" sz="2800" dirty="0" err="1"/>
              <a:t>stdio.h</a:t>
            </a:r>
            <a:r>
              <a:rPr lang="en-IN" sz="2800" dirty="0"/>
              <a:t>&gt;</a:t>
            </a:r>
          </a:p>
          <a:p>
            <a:pPr marL="0" indent="0">
              <a:buNone/>
            </a:pPr>
            <a:r>
              <a:rPr lang="en-IN" sz="2800" dirty="0"/>
              <a:t>struct Student {</a:t>
            </a:r>
          </a:p>
          <a:p>
            <a:pPr marL="0" indent="0">
              <a:buNone/>
            </a:pPr>
            <a:r>
              <a:rPr lang="en-IN" sz="2800" dirty="0"/>
              <a:t>    int roll;</a:t>
            </a:r>
          </a:p>
          <a:p>
            <a:pPr marL="0" indent="0">
              <a:buNone/>
            </a:pPr>
            <a:r>
              <a:rPr lang="en-IN" sz="2800" dirty="0"/>
              <a:t>    float marks;</a:t>
            </a:r>
          </a:p>
          <a:p>
            <a:pPr marL="0" indent="0">
              <a:buNone/>
            </a:pPr>
            <a:r>
              <a:rPr lang="en-IN" sz="2800" dirty="0"/>
              <a:t>};</a:t>
            </a:r>
          </a:p>
          <a:p>
            <a:pPr marL="0" indent="0">
              <a:buNone/>
            </a:pPr>
            <a:r>
              <a:rPr lang="en-IN" sz="2800" dirty="0"/>
              <a:t>int main() {</a:t>
            </a:r>
          </a:p>
          <a:p>
            <a:pPr marL="0" indent="0">
              <a:buNone/>
            </a:pPr>
            <a:r>
              <a:rPr lang="en-IN" sz="2800" dirty="0"/>
              <a:t>    FILE *</a:t>
            </a:r>
            <a:r>
              <a:rPr lang="en-IN" sz="2800" dirty="0" err="1"/>
              <a:t>fp</a:t>
            </a:r>
            <a:r>
              <a:rPr lang="en-IN" sz="2800" dirty="0"/>
              <a:t>;</a:t>
            </a:r>
          </a:p>
          <a:p>
            <a:pPr marL="0" indent="0">
              <a:buNone/>
            </a:pPr>
            <a:r>
              <a:rPr lang="en-IN" sz="2800" dirty="0"/>
              <a:t>    struct Student s;</a:t>
            </a:r>
          </a:p>
          <a:p>
            <a:pPr marL="0" indent="0">
              <a:buNone/>
            </a:pPr>
            <a:r>
              <a:rPr lang="en-IN" sz="2800" dirty="0"/>
              <a:t>    </a:t>
            </a:r>
            <a:r>
              <a:rPr lang="en-IN" sz="2800" dirty="0" err="1"/>
              <a:t>fp</a:t>
            </a:r>
            <a:r>
              <a:rPr lang="en-IN" sz="2800" dirty="0"/>
              <a:t> = </a:t>
            </a:r>
            <a:r>
              <a:rPr lang="en-IN" sz="2800" dirty="0" err="1"/>
              <a:t>fopen</a:t>
            </a:r>
            <a:r>
              <a:rPr lang="en-IN" sz="2800" dirty="0"/>
              <a:t>("student.dat", "</a:t>
            </a:r>
            <a:r>
              <a:rPr lang="en-IN" sz="2800" dirty="0" err="1"/>
              <a:t>rb</a:t>
            </a:r>
            <a:r>
              <a:rPr lang="en-IN" sz="2800" dirty="0"/>
              <a:t>");</a:t>
            </a:r>
          </a:p>
          <a:p>
            <a:pPr marL="0" indent="0">
              <a:buNone/>
            </a:pPr>
            <a:r>
              <a:rPr lang="en-IN" sz="2800" dirty="0"/>
              <a:t>    </a:t>
            </a:r>
            <a:r>
              <a:rPr lang="en-US" sz="2800" dirty="0"/>
              <a:t>if(</a:t>
            </a:r>
            <a:r>
              <a:rPr lang="en-US" sz="2800" dirty="0" err="1"/>
              <a:t>fp</a:t>
            </a:r>
            <a:r>
              <a:rPr lang="en-US" sz="2800" dirty="0"/>
              <a:t> == NULL){ </a:t>
            </a:r>
            <a:r>
              <a:rPr lang="en-US" sz="2800" dirty="0" err="1"/>
              <a:t>perror</a:t>
            </a:r>
            <a:r>
              <a:rPr lang="en-US" sz="2800" dirty="0"/>
              <a:t>("File open failed"); return 1; }</a:t>
            </a:r>
            <a:endParaRPr lang="en-IN" sz="2800" dirty="0"/>
          </a:p>
          <a:p>
            <a:pPr marL="0" indent="0">
              <a:buNone/>
            </a:pPr>
            <a:r>
              <a:rPr lang="en-IN" sz="2800" dirty="0"/>
              <a:t>    </a:t>
            </a:r>
            <a:r>
              <a:rPr lang="en-IN" sz="2800" dirty="0" err="1"/>
              <a:t>fread</a:t>
            </a:r>
            <a:r>
              <a:rPr lang="en-IN" sz="2800" dirty="0"/>
              <a:t>(&amp;s, </a:t>
            </a:r>
            <a:r>
              <a:rPr lang="en-IN" sz="2800" dirty="0" err="1"/>
              <a:t>sizeof</a:t>
            </a:r>
            <a:r>
              <a:rPr lang="en-IN" sz="2800" dirty="0"/>
              <a:t>(s), 1, </a:t>
            </a:r>
            <a:r>
              <a:rPr lang="en-IN" sz="2800" dirty="0" err="1"/>
              <a:t>fp</a:t>
            </a:r>
            <a:r>
              <a:rPr lang="en-IN" sz="2800" dirty="0"/>
              <a:t>);</a:t>
            </a:r>
          </a:p>
          <a:p>
            <a:pPr marL="0" indent="0">
              <a:buNone/>
            </a:pPr>
            <a:r>
              <a:rPr lang="en-IN" sz="2800" dirty="0"/>
              <a:t>    </a:t>
            </a:r>
            <a:r>
              <a:rPr lang="en-IN" sz="2800" dirty="0" err="1"/>
              <a:t>printf</a:t>
            </a:r>
            <a:r>
              <a:rPr lang="en-IN" sz="2800" dirty="0"/>
              <a:t>("%d %.2f", </a:t>
            </a:r>
            <a:r>
              <a:rPr lang="en-IN" sz="2800" dirty="0" err="1"/>
              <a:t>s.roll</a:t>
            </a:r>
            <a:r>
              <a:rPr lang="en-IN" sz="2800" dirty="0"/>
              <a:t>, </a:t>
            </a:r>
            <a:r>
              <a:rPr lang="en-IN" sz="2800" dirty="0" err="1"/>
              <a:t>s.marks</a:t>
            </a:r>
            <a:r>
              <a:rPr lang="en-IN" sz="2800" dirty="0"/>
              <a:t>);</a:t>
            </a:r>
          </a:p>
          <a:p>
            <a:pPr marL="0" indent="0">
              <a:buNone/>
            </a:pPr>
            <a:r>
              <a:rPr lang="en-IN" sz="2800" dirty="0"/>
              <a:t>    </a:t>
            </a:r>
            <a:r>
              <a:rPr lang="en-IN" sz="2800" dirty="0" err="1"/>
              <a:t>fclose</a:t>
            </a:r>
            <a:r>
              <a:rPr lang="en-IN" sz="2800" dirty="0"/>
              <a:t>(</a:t>
            </a:r>
            <a:r>
              <a:rPr lang="en-IN" sz="2800" dirty="0" err="1"/>
              <a:t>fp</a:t>
            </a:r>
            <a:r>
              <a:rPr lang="en-IN" sz="2800" dirty="0"/>
              <a:t>);</a:t>
            </a:r>
          </a:p>
          <a:p>
            <a:pPr marL="0" indent="0">
              <a:buNone/>
            </a:pPr>
            <a:r>
              <a:rPr lang="en-IN" sz="2800" dirty="0"/>
              <a:t>    return 0;</a:t>
            </a:r>
          </a:p>
          <a:p>
            <a:pPr marL="0" indent="0">
              <a:buNone/>
            </a:pPr>
            <a:r>
              <a:rPr lang="en-IN" sz="2800" dirty="0"/>
              <a:t>}</a:t>
            </a:r>
          </a:p>
          <a:p>
            <a:pPr marL="0" indent="0">
              <a:buNone/>
            </a:pP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1443C-C90B-C3F9-1217-C18F314B8B3D}"/>
              </a:ext>
            </a:extLst>
          </p:cNvPr>
          <p:cNvSpPr txBox="1"/>
          <p:nvPr/>
        </p:nvSpPr>
        <p:spPr>
          <a:xfrm>
            <a:off x="3701845" y="547171"/>
            <a:ext cx="498495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u="sng" dirty="0"/>
              <a:t>Reading Structure from Binary File</a:t>
            </a:r>
            <a:endParaRPr lang="en-IN" sz="3200" u="sng" dirty="0"/>
          </a:p>
        </p:txBody>
      </p:sp>
    </p:spTree>
    <p:extLst>
      <p:ext uri="{BB962C8B-B14F-4D97-AF65-F5344CB8AC3E}">
        <p14:creationId xmlns:p14="http://schemas.microsoft.com/office/powerpoint/2010/main" val="39006905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5A241-5E47-6E5E-7EE8-8AB018B98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COMMAND-LINE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56B11-2F07-D201-247E-00172DF24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What are Command-Line Arguments?</a:t>
            </a:r>
          </a:p>
          <a:p>
            <a:pPr lvl="1"/>
            <a:r>
              <a:rPr lang="en-US"/>
              <a:t>Values passed </a:t>
            </a:r>
            <a:r>
              <a:rPr lang="en-US" b="1"/>
              <a:t>during program execution</a:t>
            </a:r>
            <a:endParaRPr lang="en-US"/>
          </a:p>
          <a:p>
            <a:pPr lvl="1"/>
            <a:r>
              <a:rPr lang="en-US"/>
              <a:t>Used to:</a:t>
            </a:r>
          </a:p>
          <a:p>
            <a:pPr lvl="2"/>
            <a:r>
              <a:rPr lang="en-US"/>
              <a:t>Pass file names</a:t>
            </a:r>
          </a:p>
          <a:p>
            <a:pPr lvl="2"/>
            <a:r>
              <a:rPr lang="en-US"/>
              <a:t>Control program behavior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E691A-8766-AC18-514D-C89DE5B1C18B}"/>
              </a:ext>
            </a:extLst>
          </p:cNvPr>
          <p:cNvSpPr txBox="1"/>
          <p:nvPr/>
        </p:nvSpPr>
        <p:spPr>
          <a:xfrm>
            <a:off x="457200" y="4194983"/>
            <a:ext cx="75069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int main(int </a:t>
            </a:r>
            <a:r>
              <a:rPr lang="en-IN" sz="3200" dirty="0" err="1"/>
              <a:t>argc</a:t>
            </a:r>
            <a:r>
              <a:rPr lang="en-IN" sz="3200" dirty="0"/>
              <a:t>, char *</a:t>
            </a:r>
            <a:r>
              <a:rPr lang="en-IN" sz="3200" dirty="0" err="1"/>
              <a:t>argv</a:t>
            </a:r>
            <a:r>
              <a:rPr lang="en-IN" sz="3200" dirty="0"/>
              <a:t>[])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67A482-1A0B-356A-DF1A-AB3325B76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877458"/>
              </p:ext>
            </p:extLst>
          </p:nvPr>
        </p:nvGraphicFramePr>
        <p:xfrm>
          <a:off x="914399" y="5054534"/>
          <a:ext cx="7049729" cy="1554480"/>
        </p:xfrm>
        <a:graphic>
          <a:graphicData uri="http://schemas.openxmlformats.org/drawingml/2006/table">
            <a:tbl>
              <a:tblPr/>
              <a:tblGrid>
                <a:gridCol w="1730847">
                  <a:extLst>
                    <a:ext uri="{9D8B030D-6E8A-4147-A177-3AD203B41FA5}">
                      <a16:colId xmlns:a16="http://schemas.microsoft.com/office/drawing/2014/main" val="114943493"/>
                    </a:ext>
                  </a:extLst>
                </a:gridCol>
                <a:gridCol w="5318882">
                  <a:extLst>
                    <a:ext uri="{9D8B030D-6E8A-4147-A177-3AD203B41FA5}">
                      <a16:colId xmlns:a16="http://schemas.microsoft.com/office/drawing/2014/main" val="41786092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467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Courier New" panose="02070309020205020404" pitchFamily="49" charset="0"/>
                        </a:rPr>
                        <a:t>argc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Argument 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261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Courier New" panose="02070309020205020404" pitchFamily="49" charset="0"/>
                        </a:rPr>
                        <a:t>argv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Argument vector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437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63633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837E2-8D2A-8EF2-2525-779585481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COMMAND-LINE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81E8A-2DEA-5E48-9171-99F8227AB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Command-line arguments are </a:t>
            </a:r>
            <a:r>
              <a:rPr lang="en-US" b="1" dirty="0"/>
              <a:t>values passed to a program at the time of execution</a:t>
            </a:r>
            <a:r>
              <a:rPr lang="en-US" dirty="0"/>
              <a:t>, instead of asking input inside the program.</a:t>
            </a:r>
          </a:p>
          <a:p>
            <a:r>
              <a:rPr lang="en-US" b="1" dirty="0"/>
              <a:t>Example (Windows / Terminal)</a:t>
            </a:r>
          </a:p>
          <a:p>
            <a:pPr lvl="1"/>
            <a:r>
              <a:rPr lang="en-US" dirty="0"/>
              <a:t>myprog.exe data.txt</a:t>
            </a:r>
          </a:p>
          <a:p>
            <a:pPr lvl="1"/>
            <a:r>
              <a:rPr lang="en-US" dirty="0"/>
              <a:t>Here:</a:t>
            </a:r>
          </a:p>
          <a:p>
            <a:pPr lvl="1"/>
            <a:r>
              <a:rPr lang="en-US" dirty="0"/>
              <a:t>myprog.exe → program name</a:t>
            </a:r>
          </a:p>
          <a:p>
            <a:pPr lvl="1"/>
            <a:r>
              <a:rPr lang="en-US" dirty="0"/>
              <a:t>data.txt → input given to the program</a:t>
            </a:r>
          </a:p>
          <a:p>
            <a:r>
              <a:rPr lang="en-US" dirty="0"/>
              <a:t>This input is called a </a:t>
            </a:r>
            <a:r>
              <a:rPr lang="en-US" b="1" dirty="0"/>
              <a:t>command-line argument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866567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510E1-D6B6-BE99-657D-62433566E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CLA?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A07D5-42F1-8075-5675-CFB56DD99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Why not always use </a:t>
            </a:r>
            <a:r>
              <a:rPr lang="en-IN" b="1" dirty="0" err="1"/>
              <a:t>scanf</a:t>
            </a:r>
            <a:r>
              <a:rPr lang="en-IN" b="1" dirty="0"/>
              <a:t>()?</a:t>
            </a:r>
          </a:p>
          <a:p>
            <a:r>
              <a:rPr lang="en-IN" dirty="0"/>
              <a:t>Because command-line arguments make programs:</a:t>
            </a:r>
          </a:p>
          <a:p>
            <a:pPr lvl="1"/>
            <a:r>
              <a:rPr lang="en-IN" dirty="0"/>
              <a:t>Reusable</a:t>
            </a:r>
          </a:p>
          <a:p>
            <a:pPr lvl="1"/>
            <a:r>
              <a:rPr lang="en-IN" dirty="0"/>
              <a:t>Flexible</a:t>
            </a:r>
          </a:p>
          <a:p>
            <a:pPr lvl="1"/>
            <a:r>
              <a:rPr lang="en-IN" dirty="0"/>
              <a:t>Easy to automate</a:t>
            </a:r>
          </a:p>
          <a:p>
            <a:pPr lvl="1"/>
            <a:r>
              <a:rPr lang="en-IN" dirty="0"/>
              <a:t>Professional</a:t>
            </a:r>
          </a:p>
          <a:p>
            <a:r>
              <a:rPr lang="en-IN" b="1" dirty="0"/>
              <a:t>Real-life examples</a:t>
            </a:r>
          </a:p>
          <a:p>
            <a:pPr lvl="1"/>
            <a:r>
              <a:rPr lang="en-IN" dirty="0" err="1"/>
              <a:t>gcc</a:t>
            </a:r>
            <a:r>
              <a:rPr lang="en-IN" dirty="0"/>
              <a:t> </a:t>
            </a:r>
            <a:r>
              <a:rPr lang="en-IN" dirty="0" err="1"/>
              <a:t>main.c</a:t>
            </a:r>
            <a:endParaRPr lang="en-IN" dirty="0"/>
          </a:p>
          <a:p>
            <a:pPr lvl="1"/>
            <a:r>
              <a:rPr lang="en-IN" dirty="0"/>
              <a:t>python script.py input.txt</a:t>
            </a:r>
          </a:p>
          <a:p>
            <a:pPr lvl="1"/>
            <a:r>
              <a:rPr lang="en-IN" dirty="0"/>
              <a:t>java Main data.txt</a:t>
            </a:r>
          </a:p>
          <a:p>
            <a:r>
              <a:rPr lang="en-IN" dirty="0"/>
              <a:t>Almost all real tools use command-line arguments.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347890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1C214-B6CA-E8C5-D365-10C5EBFD6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main() with Command Line Arguments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B5F6F-1130-8E5A-9D10-D44419BC0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Normal main function</a:t>
            </a:r>
          </a:p>
          <a:p>
            <a:pPr lvl="1"/>
            <a:r>
              <a:rPr lang="en-IN" dirty="0"/>
              <a:t>int main() { }</a:t>
            </a:r>
          </a:p>
          <a:p>
            <a:r>
              <a:rPr lang="en-IN" b="1" dirty="0"/>
              <a:t>main() with command-line arguments</a:t>
            </a:r>
          </a:p>
          <a:p>
            <a:pPr lvl="1"/>
            <a:r>
              <a:rPr lang="en-IN" dirty="0"/>
              <a:t>int main(int </a:t>
            </a:r>
            <a:r>
              <a:rPr lang="en-IN" dirty="0" err="1"/>
              <a:t>argc</a:t>
            </a:r>
            <a:r>
              <a:rPr lang="en-IN" dirty="0"/>
              <a:t>, char *</a:t>
            </a:r>
            <a:r>
              <a:rPr lang="en-IN" dirty="0" err="1"/>
              <a:t>argv</a:t>
            </a:r>
            <a:r>
              <a:rPr lang="en-IN" dirty="0"/>
              <a:t>[]) { }</a:t>
            </a:r>
          </a:p>
          <a:p>
            <a:pPr lvl="1"/>
            <a:r>
              <a:rPr lang="en-IN" dirty="0" err="1"/>
              <a:t>argc</a:t>
            </a:r>
            <a:r>
              <a:rPr lang="en-IN" dirty="0"/>
              <a:t> → Argument Count</a:t>
            </a:r>
          </a:p>
          <a:p>
            <a:pPr lvl="1"/>
            <a:r>
              <a:rPr lang="en-IN" dirty="0" err="1"/>
              <a:t>argv</a:t>
            </a:r>
            <a:r>
              <a:rPr lang="en-IN" dirty="0"/>
              <a:t> → Argument Vector (array of strings)</a:t>
            </a:r>
          </a:p>
          <a:p>
            <a:pPr lvl="1"/>
            <a:r>
              <a:rPr lang="en-IN" dirty="0" err="1"/>
              <a:t>argv</a:t>
            </a:r>
            <a:r>
              <a:rPr lang="en-IN" dirty="0"/>
              <a:t> stores all arguments as </a:t>
            </a:r>
            <a:r>
              <a:rPr lang="en-IN" b="1" dirty="0"/>
              <a:t>strings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559962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E1036-C4C8-B3E6-9040-6AEE50BD8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</a:t>
            </a:r>
            <a:r>
              <a:rPr lang="en-IN" dirty="0" err="1"/>
              <a:t>argc</a:t>
            </a:r>
            <a:r>
              <a:rPr lang="en-IN" dirty="0"/>
              <a:t> and </a:t>
            </a:r>
            <a:r>
              <a:rPr lang="en-IN" dirty="0" err="1"/>
              <a:t>argv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09D25-8099-3F21-C8E5-9E6D7B822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Key rules</a:t>
            </a:r>
          </a:p>
          <a:p>
            <a:pPr lvl="1"/>
            <a:r>
              <a:rPr lang="en-IN" dirty="0" err="1"/>
              <a:t>argv</a:t>
            </a:r>
            <a:r>
              <a:rPr lang="en-IN" dirty="0"/>
              <a:t>[0] → program name</a:t>
            </a:r>
          </a:p>
          <a:p>
            <a:pPr lvl="1"/>
            <a:r>
              <a:rPr lang="en-IN" dirty="0"/>
              <a:t>Actual inputs start from </a:t>
            </a:r>
            <a:r>
              <a:rPr lang="en-IN" dirty="0" err="1"/>
              <a:t>argv</a:t>
            </a:r>
            <a:r>
              <a:rPr lang="en-IN" dirty="0"/>
              <a:t>[1]</a:t>
            </a:r>
          </a:p>
          <a:p>
            <a:r>
              <a:rPr lang="en-IN" dirty="0" err="1"/>
              <a:t>argc</a:t>
            </a:r>
            <a:r>
              <a:rPr lang="en-IN" dirty="0"/>
              <a:t> tells </a:t>
            </a:r>
            <a:r>
              <a:rPr lang="en-IN" b="1" dirty="0"/>
              <a:t>how many arguments are given</a:t>
            </a:r>
            <a:endParaRPr lang="en-IN" dirty="0"/>
          </a:p>
          <a:p>
            <a:r>
              <a:rPr lang="en-IN" b="1" dirty="0"/>
              <a:t>Example</a:t>
            </a:r>
          </a:p>
          <a:p>
            <a:r>
              <a:rPr lang="en-IN" dirty="0"/>
              <a:t>Command: myprog.exe data.txt</a:t>
            </a:r>
          </a:p>
          <a:p>
            <a:r>
              <a:rPr lang="en-IN" dirty="0"/>
              <a:t>Values inside program:</a:t>
            </a:r>
          </a:p>
          <a:p>
            <a:r>
              <a:rPr lang="en-IN" dirty="0" err="1"/>
              <a:t>argc</a:t>
            </a:r>
            <a:r>
              <a:rPr lang="en-IN" dirty="0"/>
              <a:t> = 2</a:t>
            </a:r>
          </a:p>
          <a:p>
            <a:r>
              <a:rPr lang="en-IN" dirty="0" err="1"/>
              <a:t>argv</a:t>
            </a:r>
            <a:r>
              <a:rPr lang="en-IN" dirty="0"/>
              <a:t>[0] = "myprog.exe"</a:t>
            </a:r>
          </a:p>
          <a:p>
            <a:r>
              <a:rPr lang="en-IN" dirty="0" err="1"/>
              <a:t>argv</a:t>
            </a:r>
            <a:r>
              <a:rPr lang="en-IN" dirty="0"/>
              <a:t>[1] = "data.txt"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154607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010B7-2D83-4655-87D9-657B718F0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 Must Check </a:t>
            </a:r>
            <a:r>
              <a:rPr lang="en-US" dirty="0" err="1"/>
              <a:t>argc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3BBA1-EA6D-2C4F-D98F-E950B33A8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Problem</a:t>
            </a:r>
          </a:p>
          <a:p>
            <a:r>
              <a:rPr lang="en-IN" dirty="0"/>
              <a:t>If user runs:</a:t>
            </a:r>
          </a:p>
          <a:p>
            <a:pPr lvl="1"/>
            <a:r>
              <a:rPr lang="en-IN" dirty="0"/>
              <a:t>myprog.exe</a:t>
            </a:r>
          </a:p>
          <a:p>
            <a:pPr lvl="1"/>
            <a:r>
              <a:rPr lang="en-IN" dirty="0"/>
              <a:t>(no filename given)</a:t>
            </a:r>
          </a:p>
          <a:p>
            <a:r>
              <a:rPr lang="en-IN" dirty="0"/>
              <a:t>And program directly uses </a:t>
            </a:r>
            <a:r>
              <a:rPr lang="en-IN" dirty="0" err="1"/>
              <a:t>argv</a:t>
            </a:r>
            <a:r>
              <a:rPr lang="en-IN" dirty="0"/>
              <a:t>[1] → ERROR</a:t>
            </a:r>
          </a:p>
          <a:p>
            <a:r>
              <a:rPr lang="en-IN" b="1" dirty="0"/>
              <a:t>Solution is to always check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	if (</a:t>
            </a:r>
            <a:r>
              <a:rPr lang="en-IN" dirty="0" err="1"/>
              <a:t>argc</a:t>
            </a:r>
            <a:r>
              <a:rPr lang="en-IN" dirty="0"/>
              <a:t> &lt; 2) {</a:t>
            </a:r>
          </a:p>
          <a:p>
            <a:pPr marL="0" indent="0">
              <a:buNone/>
            </a:pPr>
            <a:r>
              <a:rPr lang="en-IN" dirty="0"/>
              <a:t>         </a:t>
            </a:r>
            <a:r>
              <a:rPr lang="en-IN" dirty="0" err="1"/>
              <a:t>printf</a:t>
            </a:r>
            <a:r>
              <a:rPr lang="en-IN" dirty="0"/>
              <a:t>("Please provide filename\n"); return 1; }</a:t>
            </a:r>
          </a:p>
          <a:p>
            <a:r>
              <a:rPr lang="en-IN" dirty="0"/>
              <a:t>This avoids runtime errors.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829356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E0BA8-192D-A57A-3E8D-B3D512106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67"/>
            <a:ext cx="8229600" cy="610265"/>
          </a:xfrm>
        </p:spPr>
        <p:txBody>
          <a:bodyPr>
            <a:normAutofit fontScale="90000"/>
          </a:bodyPr>
          <a:lstStyle/>
          <a:p>
            <a:r>
              <a:rPr lang="en-IN" dirty="0"/>
              <a:t>Reading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8C3DA-DE54-4FF0-0DE9-1D6515CF2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19432"/>
            <a:ext cx="8229600" cy="607633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dirty="0"/>
              <a:t>#include &lt;</a:t>
            </a:r>
            <a:r>
              <a:rPr lang="en-IN" sz="2400" dirty="0" err="1"/>
              <a:t>stdio.h</a:t>
            </a:r>
            <a:r>
              <a:rPr lang="en-IN" sz="2400" dirty="0"/>
              <a:t>&gt;</a:t>
            </a:r>
          </a:p>
          <a:p>
            <a:pPr marL="0" indent="0">
              <a:buNone/>
            </a:pPr>
            <a:r>
              <a:rPr lang="en-IN" sz="2400" dirty="0"/>
              <a:t>int main(int </a:t>
            </a:r>
            <a:r>
              <a:rPr lang="en-IN" sz="2400" dirty="0" err="1"/>
              <a:t>argc</a:t>
            </a:r>
            <a:r>
              <a:rPr lang="en-IN" sz="2400" dirty="0"/>
              <a:t>, char *</a:t>
            </a:r>
            <a:r>
              <a:rPr lang="en-IN" sz="2400" dirty="0" err="1"/>
              <a:t>argv</a:t>
            </a:r>
            <a:r>
              <a:rPr lang="en-IN" sz="2400" dirty="0"/>
              <a:t>[]) {</a:t>
            </a:r>
          </a:p>
          <a:p>
            <a:pPr marL="0" indent="0">
              <a:buNone/>
            </a:pPr>
            <a:r>
              <a:rPr lang="en-IN" sz="2400" dirty="0"/>
              <a:t>    if (</a:t>
            </a:r>
            <a:r>
              <a:rPr lang="en-IN" sz="2400" dirty="0" err="1"/>
              <a:t>argc</a:t>
            </a:r>
            <a:r>
              <a:rPr lang="en-IN" sz="2400" dirty="0"/>
              <a:t> &lt; 2) {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printf</a:t>
            </a:r>
            <a:r>
              <a:rPr lang="en-IN" sz="2400" dirty="0"/>
              <a:t>("Usage: %s &lt;filename&gt;\n", </a:t>
            </a:r>
            <a:r>
              <a:rPr lang="en-IN" sz="2400" dirty="0" err="1"/>
              <a:t>argv</a:t>
            </a:r>
            <a:r>
              <a:rPr lang="en-IN" sz="2400" dirty="0"/>
              <a:t>[0]);</a:t>
            </a:r>
          </a:p>
          <a:p>
            <a:pPr marL="0" indent="0">
              <a:buNone/>
            </a:pPr>
            <a:r>
              <a:rPr lang="en-IN" sz="2400" dirty="0"/>
              <a:t>        return 1;</a:t>
            </a:r>
          </a:p>
          <a:p>
            <a:pPr marL="0" indent="0">
              <a:buNone/>
            </a:pPr>
            <a:r>
              <a:rPr lang="en-IN" sz="2400" dirty="0"/>
              <a:t>    }</a:t>
            </a:r>
          </a:p>
          <a:p>
            <a:pPr marL="0" indent="0">
              <a:buNone/>
            </a:pPr>
            <a:r>
              <a:rPr lang="en-IN" sz="2400" dirty="0"/>
              <a:t>    FILE *</a:t>
            </a:r>
            <a:r>
              <a:rPr lang="en-IN" sz="2400" dirty="0" err="1"/>
              <a:t>fp</a:t>
            </a:r>
            <a:r>
              <a:rPr lang="en-IN" sz="2400" dirty="0"/>
              <a:t> = </a:t>
            </a:r>
            <a:r>
              <a:rPr lang="en-IN" sz="2400" dirty="0" err="1"/>
              <a:t>fopen</a:t>
            </a:r>
            <a:r>
              <a:rPr lang="en-IN" sz="2400" dirty="0"/>
              <a:t>(</a:t>
            </a:r>
            <a:r>
              <a:rPr lang="en-IN" sz="2400" dirty="0" err="1"/>
              <a:t>argv</a:t>
            </a:r>
            <a:r>
              <a:rPr lang="en-IN" sz="2400" dirty="0"/>
              <a:t>[1], "r");</a:t>
            </a:r>
          </a:p>
          <a:p>
            <a:pPr marL="0" indent="0">
              <a:buNone/>
            </a:pPr>
            <a:r>
              <a:rPr lang="en-IN" sz="2400" dirty="0"/>
              <a:t>    if (</a:t>
            </a:r>
            <a:r>
              <a:rPr lang="en-IN" sz="2400" dirty="0" err="1"/>
              <a:t>fp</a:t>
            </a:r>
            <a:r>
              <a:rPr lang="en-IN" sz="2400" dirty="0"/>
              <a:t> == NULL) {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printf</a:t>
            </a:r>
            <a:r>
              <a:rPr lang="en-IN" sz="2400" dirty="0"/>
              <a:t>("File cannot be opened\n");</a:t>
            </a:r>
          </a:p>
          <a:p>
            <a:pPr marL="0" indent="0">
              <a:buNone/>
            </a:pPr>
            <a:r>
              <a:rPr lang="en-IN" sz="2400" dirty="0"/>
              <a:t>        return 1;    }</a:t>
            </a:r>
          </a:p>
          <a:p>
            <a:pPr marL="0" indent="0">
              <a:buNone/>
            </a:pPr>
            <a:r>
              <a:rPr lang="en-IN" sz="2400" dirty="0"/>
              <a:t>    int </a:t>
            </a:r>
            <a:r>
              <a:rPr lang="en-IN" sz="2400" dirty="0" err="1"/>
              <a:t>ch</a:t>
            </a:r>
            <a:r>
              <a:rPr lang="en-IN" sz="2400" dirty="0"/>
              <a:t>;</a:t>
            </a:r>
          </a:p>
          <a:p>
            <a:pPr marL="0" indent="0">
              <a:buNone/>
            </a:pPr>
            <a:r>
              <a:rPr lang="en-IN" sz="2400" dirty="0"/>
              <a:t>    while ((</a:t>
            </a:r>
            <a:r>
              <a:rPr lang="en-IN" sz="2400" dirty="0" err="1"/>
              <a:t>ch</a:t>
            </a:r>
            <a:r>
              <a:rPr lang="en-IN" sz="2400" dirty="0"/>
              <a:t> = </a:t>
            </a:r>
            <a:r>
              <a:rPr lang="en-IN" sz="2400" dirty="0" err="1"/>
              <a:t>fgetc</a:t>
            </a:r>
            <a:r>
              <a:rPr lang="en-IN" sz="2400" dirty="0"/>
              <a:t>(</a:t>
            </a:r>
            <a:r>
              <a:rPr lang="en-IN" sz="2400" dirty="0" err="1"/>
              <a:t>fp</a:t>
            </a:r>
            <a:r>
              <a:rPr lang="en-IN" sz="2400" dirty="0"/>
              <a:t>)) != EOF) {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putchar</a:t>
            </a:r>
            <a:r>
              <a:rPr lang="en-IN" sz="2400" dirty="0"/>
              <a:t>(</a:t>
            </a:r>
            <a:r>
              <a:rPr lang="en-IN" sz="2400" dirty="0" err="1"/>
              <a:t>ch</a:t>
            </a:r>
            <a:r>
              <a:rPr lang="en-IN" sz="2400" dirty="0"/>
              <a:t>);     }</a:t>
            </a:r>
          </a:p>
          <a:p>
            <a:pPr marL="0" indent="0">
              <a:buNone/>
            </a:pPr>
            <a:r>
              <a:rPr lang="en-IN" sz="2400" dirty="0"/>
              <a:t>    </a:t>
            </a:r>
            <a:r>
              <a:rPr lang="en-IN" sz="2400" dirty="0" err="1"/>
              <a:t>fclose</a:t>
            </a:r>
            <a:r>
              <a:rPr lang="en-IN" sz="2400" dirty="0"/>
              <a:t>(</a:t>
            </a:r>
            <a:r>
              <a:rPr lang="en-IN" sz="2400" dirty="0" err="1"/>
              <a:t>fp</a:t>
            </a:r>
            <a:r>
              <a:rPr lang="en-IN" sz="2400" dirty="0"/>
              <a:t>);</a:t>
            </a:r>
          </a:p>
          <a:p>
            <a:pPr marL="0" indent="0">
              <a:buNone/>
            </a:pPr>
            <a:r>
              <a:rPr lang="en-IN" sz="2400" dirty="0"/>
              <a:t>    return 0;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B832F1-9F5B-A1BA-B71A-08CD248D5FB5}"/>
              </a:ext>
            </a:extLst>
          </p:cNvPr>
          <p:cNvSpPr txBox="1"/>
          <p:nvPr/>
        </p:nvSpPr>
        <p:spPr>
          <a:xfrm>
            <a:off x="5014452" y="2307134"/>
            <a:ext cx="41295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Step 1: User runs program</a:t>
            </a:r>
          </a:p>
          <a:p>
            <a:pPr rtl="0">
              <a:buNone/>
            </a:pPr>
            <a:r>
              <a:rPr lang="en-US" sz="2400" dirty="0">
                <a:latin typeface="Courier New" panose="02070309020205020404" pitchFamily="49" charset="0"/>
              </a:rPr>
              <a:t>prog data.txt</a:t>
            </a:r>
          </a:p>
          <a:p>
            <a:pPr>
              <a:buNone/>
            </a:pPr>
            <a:r>
              <a:rPr lang="en-US" sz="2400" b="1" dirty="0"/>
              <a:t>Step 2: Values inside program</a:t>
            </a:r>
          </a:p>
          <a:p>
            <a:r>
              <a:rPr lang="en-US" sz="2400" dirty="0" err="1">
                <a:latin typeface="Courier New" panose="02070309020205020404" pitchFamily="49" charset="0"/>
              </a:rPr>
              <a:t>argc</a:t>
            </a:r>
            <a:r>
              <a:rPr lang="en-US" sz="2400" dirty="0">
                <a:latin typeface="Courier New" panose="02070309020205020404" pitchFamily="49" charset="0"/>
              </a:rPr>
              <a:t> = 2</a:t>
            </a:r>
            <a:endParaRPr lang="en-US" sz="2400" dirty="0"/>
          </a:p>
          <a:p>
            <a:r>
              <a:rPr lang="en-US" sz="2400" dirty="0" err="1">
                <a:latin typeface="Courier New" panose="02070309020205020404" pitchFamily="49" charset="0"/>
              </a:rPr>
              <a:t>argv</a:t>
            </a:r>
            <a:r>
              <a:rPr lang="en-US" sz="2400" dirty="0">
                <a:latin typeface="Courier New" panose="02070309020205020404" pitchFamily="49" charset="0"/>
              </a:rPr>
              <a:t>[1] = "data.txt"</a:t>
            </a:r>
            <a:endParaRPr lang="en-US" sz="2400" dirty="0"/>
          </a:p>
          <a:p>
            <a:pPr>
              <a:buNone/>
            </a:pPr>
            <a:r>
              <a:rPr lang="en-US" sz="2400" b="1" dirty="0"/>
              <a:t>Step 3: File is opened</a:t>
            </a:r>
          </a:p>
          <a:p>
            <a:pPr rtl="0">
              <a:buNone/>
            </a:pPr>
            <a:r>
              <a:rPr lang="en-US" sz="2400" dirty="0" err="1">
                <a:latin typeface="Courier New" panose="02070309020205020404" pitchFamily="49" charset="0"/>
              </a:rPr>
              <a:t>fopen</a:t>
            </a:r>
            <a:r>
              <a:rPr lang="en-US" sz="2400" dirty="0">
                <a:latin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</a:rPr>
              <a:t>argv</a:t>
            </a:r>
            <a:r>
              <a:rPr lang="en-US" sz="2400" dirty="0">
                <a:latin typeface="Courier New" panose="02070309020205020404" pitchFamily="49" charset="0"/>
              </a:rPr>
              <a:t>[1], "r");</a:t>
            </a:r>
          </a:p>
          <a:p>
            <a:pPr>
              <a:buNone/>
            </a:pPr>
            <a:r>
              <a:rPr lang="en-US" sz="2400" b="1" dirty="0"/>
              <a:t>Step 4: File contents are read and printed</a:t>
            </a:r>
          </a:p>
          <a:p>
            <a:pPr>
              <a:buNone/>
            </a:pPr>
            <a:r>
              <a:rPr lang="en-US" sz="2400" b="1" dirty="0"/>
              <a:t>Step 5: File is closed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63AD3B-5DF1-BCBB-9090-51A7A0A73F2C}"/>
              </a:ext>
            </a:extLst>
          </p:cNvPr>
          <p:cNvCxnSpPr/>
          <p:nvPr/>
        </p:nvCxnSpPr>
        <p:spPr>
          <a:xfrm>
            <a:off x="5014452" y="2580968"/>
            <a:ext cx="0" cy="30676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7972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3445</TotalTime>
  <Words>5585</Words>
  <Application>Microsoft Office PowerPoint</Application>
  <PresentationFormat>On-screen Show (4:3)</PresentationFormat>
  <Paragraphs>1026</Paragraphs>
  <Slides>99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8" baseType="lpstr">
      <vt:lpstr>Arial Unicode MS</vt:lpstr>
      <vt:lpstr>Arial</vt:lpstr>
      <vt:lpstr>Calibri</vt:lpstr>
      <vt:lpstr>Cambria</vt:lpstr>
      <vt:lpstr>Courier New</vt:lpstr>
      <vt:lpstr>Symbol</vt:lpstr>
      <vt:lpstr>Times New Roman</vt:lpstr>
      <vt:lpstr>Wingdings</vt:lpstr>
      <vt:lpstr>Office Theme</vt:lpstr>
      <vt:lpstr>Module 2</vt:lpstr>
      <vt:lpstr>Pointers</vt:lpstr>
      <vt:lpstr>What is a Pointer?</vt:lpstr>
      <vt:lpstr>Why Pointers Are Needed</vt:lpstr>
      <vt:lpstr>Why Pointers Are Needed</vt:lpstr>
      <vt:lpstr>Pointer Declaration &amp; Dereferencing</vt:lpstr>
      <vt:lpstr>Pointer Diagram</vt:lpstr>
      <vt:lpstr>Null Pointer</vt:lpstr>
      <vt:lpstr>Pointer Arithmetic</vt:lpstr>
      <vt:lpstr>Pointers and Arrays</vt:lpstr>
      <vt:lpstr>Pointer to an Array</vt:lpstr>
      <vt:lpstr>Passing Pointers to Functions</vt:lpstr>
      <vt:lpstr>Passing Pointers to Functions</vt:lpstr>
      <vt:lpstr>Pointers and Functions (Pointer Parameters)</vt:lpstr>
      <vt:lpstr>Pointer to Pointer (Double Pointer)</vt:lpstr>
      <vt:lpstr>Function Pointers</vt:lpstr>
      <vt:lpstr>Function Pointer with Arguments</vt:lpstr>
      <vt:lpstr>Array of Function Pointers</vt:lpstr>
      <vt:lpstr>Dynamic Memory Allocation Functions</vt:lpstr>
      <vt:lpstr>Why – DMA?</vt:lpstr>
      <vt:lpstr>Why – DMA?</vt:lpstr>
      <vt:lpstr>Where is Dynamically Allocated Memory Stored?</vt:lpstr>
      <vt:lpstr>Why Pointers Are Mandatory for DMA</vt:lpstr>
      <vt:lpstr>Dynamic Memory Allocation Functions</vt:lpstr>
      <vt:lpstr>Dynamic Memory Allocation Functions</vt:lpstr>
      <vt:lpstr>Dynamic Memory Allocation Functions</vt:lpstr>
      <vt:lpstr>Dynamic Memory Allocation Functions</vt:lpstr>
      <vt:lpstr>Dynamic Memory Allocation</vt:lpstr>
      <vt:lpstr>DMA Example: Dynamic Array</vt:lpstr>
      <vt:lpstr>DMA Example</vt:lpstr>
      <vt:lpstr>DMA</vt:lpstr>
      <vt:lpstr>STRUCTURES IN C</vt:lpstr>
      <vt:lpstr>Why Structures?</vt:lpstr>
      <vt:lpstr>Structures</vt:lpstr>
      <vt:lpstr>PowerPoint Presentation</vt:lpstr>
      <vt:lpstr>Accessing Members</vt:lpstr>
      <vt:lpstr>Example Program</vt:lpstr>
      <vt:lpstr>Advantages</vt:lpstr>
      <vt:lpstr>Array of Structures</vt:lpstr>
      <vt:lpstr>Analogy – Class Register</vt:lpstr>
      <vt:lpstr>PowerPoint Presentation</vt:lpstr>
      <vt:lpstr>Example Program</vt:lpstr>
      <vt:lpstr>Uses</vt:lpstr>
      <vt:lpstr>Nested Structures</vt:lpstr>
      <vt:lpstr>PowerPoint Presentation</vt:lpstr>
      <vt:lpstr>Example Program</vt:lpstr>
      <vt:lpstr>PowerPoint Presentation</vt:lpstr>
      <vt:lpstr>Structures with Functions</vt:lpstr>
      <vt:lpstr>Pass by Value and Reference</vt:lpstr>
      <vt:lpstr>Code Example</vt:lpstr>
      <vt:lpstr>PowerPoint Presentation</vt:lpstr>
      <vt:lpstr>Self-Referential Structures</vt:lpstr>
      <vt:lpstr>PowerPoint Presentation</vt:lpstr>
      <vt:lpstr>PowerPoint Presentation</vt:lpstr>
      <vt:lpstr>PowerPoint Presentation</vt:lpstr>
      <vt:lpstr>PowerPoint Presentation</vt:lpstr>
      <vt:lpstr>Bit Fields</vt:lpstr>
      <vt:lpstr>Bit Fields</vt:lpstr>
      <vt:lpstr>PowerPoint Presentation</vt:lpstr>
      <vt:lpstr>PowerPoint Presentation</vt:lpstr>
      <vt:lpstr>Bit Fields -Rules</vt:lpstr>
      <vt:lpstr>PowerPoint Presentation</vt:lpstr>
      <vt:lpstr>UNIONS IN C</vt:lpstr>
      <vt:lpstr>UNIONS IN C</vt:lpstr>
      <vt:lpstr>Real-World Analogy</vt:lpstr>
      <vt:lpstr>PowerPoint Presentation</vt:lpstr>
      <vt:lpstr>Syntax</vt:lpstr>
      <vt:lpstr>PowerPoint Presentation</vt:lpstr>
      <vt:lpstr>PowerPoint Presentation</vt:lpstr>
      <vt:lpstr>STRUCTURES vs UNIONS</vt:lpstr>
      <vt:lpstr>PowerPoint Presentation</vt:lpstr>
      <vt:lpstr>PowerPoint Presentation</vt:lpstr>
      <vt:lpstr>File Handling in C</vt:lpstr>
      <vt:lpstr>INTRODUCTION TO FILE HANDLING</vt:lpstr>
      <vt:lpstr>INTRODUCTION TO FILE HANDLING</vt:lpstr>
      <vt:lpstr>INTRODUCTION TO FILE HANDLING</vt:lpstr>
      <vt:lpstr>PowerPoint Presentation</vt:lpstr>
      <vt:lpstr>PowerPoint Presentation</vt:lpstr>
      <vt:lpstr>PowerPoint Presentation</vt:lpstr>
      <vt:lpstr>PowerPoint Presentation</vt:lpstr>
      <vt:lpstr>File Movement - Accessing</vt:lpstr>
      <vt:lpstr>PowerPoint Presentation</vt:lpstr>
      <vt:lpstr>PowerPoint Presentation</vt:lpstr>
      <vt:lpstr>PowerPoint Presentation</vt:lpstr>
      <vt:lpstr>TEXT FILES</vt:lpstr>
      <vt:lpstr>PowerPoint Presentation</vt:lpstr>
      <vt:lpstr>Different Modes</vt:lpstr>
      <vt:lpstr>PowerPoint Presentation</vt:lpstr>
      <vt:lpstr>BINARY FILES</vt:lpstr>
      <vt:lpstr>Binary File  Modes</vt:lpstr>
      <vt:lpstr>PowerPoint Presentation</vt:lpstr>
      <vt:lpstr>PowerPoint Presentation</vt:lpstr>
      <vt:lpstr>COMMAND-LINE ARGUMENTS</vt:lpstr>
      <vt:lpstr>COMMAND-LINE ARGUMENTS</vt:lpstr>
      <vt:lpstr>Why CLA?</vt:lpstr>
      <vt:lpstr>main() with Command Line Arguments</vt:lpstr>
      <vt:lpstr>Understanding argc and argv</vt:lpstr>
      <vt:lpstr>Why We Must Check argc</vt:lpstr>
      <vt:lpstr>Reading a File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Dinakaran Muruganandam</cp:lastModifiedBy>
  <cp:revision>52</cp:revision>
  <dcterms:created xsi:type="dcterms:W3CDTF">2013-01-27T09:14:16Z</dcterms:created>
  <dcterms:modified xsi:type="dcterms:W3CDTF">2026-01-13T10:03:03Z</dcterms:modified>
  <cp:category/>
</cp:coreProperties>
</file>