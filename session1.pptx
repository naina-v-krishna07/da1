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64"/>
  </p:notesMasterIdLst>
  <p:sldIdLst>
    <p:sldId id="317" r:id="rId3"/>
    <p:sldId id="316" r:id="rId4"/>
    <p:sldId id="314" r:id="rId5"/>
    <p:sldId id="326" r:id="rId6"/>
    <p:sldId id="327" r:id="rId7"/>
    <p:sldId id="328" r:id="rId8"/>
    <p:sldId id="329" r:id="rId9"/>
    <p:sldId id="330" r:id="rId10"/>
    <p:sldId id="331" r:id="rId11"/>
    <p:sldId id="286" r:id="rId12"/>
    <p:sldId id="287" r:id="rId13"/>
    <p:sldId id="289" r:id="rId14"/>
    <p:sldId id="290" r:id="rId15"/>
    <p:sldId id="291" r:id="rId16"/>
    <p:sldId id="323" r:id="rId17"/>
    <p:sldId id="325" r:id="rId18"/>
    <p:sldId id="257" r:id="rId19"/>
    <p:sldId id="260" r:id="rId20"/>
    <p:sldId id="261" r:id="rId21"/>
    <p:sldId id="262" r:id="rId22"/>
    <p:sldId id="263" r:id="rId23"/>
    <p:sldId id="264" r:id="rId24"/>
    <p:sldId id="322" r:id="rId25"/>
    <p:sldId id="324" r:id="rId26"/>
    <p:sldId id="267" r:id="rId27"/>
    <p:sldId id="268" r:id="rId28"/>
    <p:sldId id="269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3" r:id="rId40"/>
    <p:sldId id="284" r:id="rId41"/>
    <p:sldId id="320" r:id="rId42"/>
    <p:sldId id="292" r:id="rId43"/>
    <p:sldId id="293" r:id="rId44"/>
    <p:sldId id="294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1520" y="-2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2390"/>
    </p:cViewPr>
  </p:sorterViewPr>
  <p:notesViewPr>
    <p:cSldViewPr>
      <p:cViewPr varScale="1">
        <p:scale>
          <a:sx n="188" d="100"/>
          <a:sy n="188" d="100"/>
        </p:scale>
        <p:origin x="-1829" y="-67"/>
      </p:cViewPr>
      <p:guideLst>
        <p:guide orient="horz" pos="1090"/>
        <p:guide pos="14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77023-915E-4374-BDB2-F48958876D2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260350"/>
            <a:ext cx="1727200" cy="129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A4605-9951-433F-867A-DB0762976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5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A4605-9951-433F-867A-DB076297648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42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32363" y="6714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32363" y="6587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32363" y="6460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3980">
              <a:spcBef>
                <a:spcPts val="60"/>
              </a:spcBef>
            </a:pPr>
            <a:fld id="{81D60167-4931-47E6-BA6A-407CBD079E47}" type="slidenum">
              <a:rPr spc="-50" dirty="0">
                <a:solidFill>
                  <a:prstClr val="black"/>
                </a:solidFill>
              </a:rPr>
              <a:pPr marL="93980">
                <a:spcBef>
                  <a:spcPts val="60"/>
                </a:spcBef>
              </a:pPr>
              <a:t>‹#›</a:t>
            </a:fld>
            <a:endParaRPr spc="-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41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3980">
              <a:spcBef>
                <a:spcPts val="60"/>
              </a:spcBef>
            </a:pPr>
            <a:fld id="{81D60167-4931-47E6-BA6A-407CBD079E47}" type="slidenum">
              <a:rPr spc="-50" dirty="0">
                <a:solidFill>
                  <a:prstClr val="black"/>
                </a:solidFill>
              </a:rPr>
              <a:pPr marL="93980">
                <a:spcBef>
                  <a:spcPts val="60"/>
                </a:spcBef>
              </a:pPr>
              <a:t>‹#›</a:t>
            </a:fld>
            <a:endParaRPr spc="-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00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3980">
              <a:spcBef>
                <a:spcPts val="60"/>
              </a:spcBef>
            </a:pPr>
            <a:fld id="{81D60167-4931-47E6-BA6A-407CBD079E47}" type="slidenum">
              <a:rPr spc="-50" dirty="0">
                <a:solidFill>
                  <a:prstClr val="black"/>
                </a:solidFill>
              </a:rPr>
              <a:pPr marL="93980">
                <a:spcBef>
                  <a:spcPts val="60"/>
                </a:spcBef>
              </a:pPr>
              <a:t>‹#›</a:t>
            </a:fld>
            <a:endParaRPr spc="-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6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32363" y="6714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4532363" y="6587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4532363" y="6460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3980">
              <a:spcBef>
                <a:spcPts val="60"/>
              </a:spcBef>
            </a:pPr>
            <a:fld id="{81D60167-4931-47E6-BA6A-407CBD079E47}" type="slidenum">
              <a:rPr spc="-50" dirty="0">
                <a:solidFill>
                  <a:prstClr val="black"/>
                </a:solidFill>
              </a:rPr>
              <a:pPr marL="93980">
                <a:spcBef>
                  <a:spcPts val="60"/>
                </a:spcBef>
              </a:pPr>
              <a:t>‹#›</a:t>
            </a:fld>
            <a:endParaRPr spc="-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17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3980">
              <a:spcBef>
                <a:spcPts val="60"/>
              </a:spcBef>
            </a:pPr>
            <a:fld id="{81D60167-4931-47E6-BA6A-407CBD079E47}" type="slidenum">
              <a:rPr spc="-50" dirty="0">
                <a:solidFill>
                  <a:prstClr val="black"/>
                </a:solidFill>
              </a:rPr>
              <a:pPr marL="93980">
                <a:spcBef>
                  <a:spcPts val="60"/>
                </a:spcBef>
              </a:pPr>
              <a:t>‹#›</a:t>
            </a:fld>
            <a:endParaRPr spc="-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58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51"/>
                </a:moveTo>
                <a:lnTo>
                  <a:pt x="4608055" y="3456051"/>
                </a:lnTo>
                <a:lnTo>
                  <a:pt x="4608055" y="0"/>
                </a:lnTo>
                <a:lnTo>
                  <a:pt x="0" y="0"/>
                </a:lnTo>
                <a:lnTo>
                  <a:pt x="0" y="3456051"/>
                </a:lnTo>
                <a:close/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000" y="331152"/>
            <a:ext cx="4392295" cy="29209"/>
          </a:xfrm>
          <a:custGeom>
            <a:avLst/>
            <a:gdLst/>
            <a:ahLst/>
            <a:cxnLst/>
            <a:rect l="l" t="t" r="r" b="b"/>
            <a:pathLst>
              <a:path w="4392295" h="29210">
                <a:moveTo>
                  <a:pt x="4392053" y="0"/>
                </a:moveTo>
                <a:lnTo>
                  <a:pt x="0" y="0"/>
                </a:lnTo>
                <a:lnTo>
                  <a:pt x="0" y="28803"/>
                </a:lnTo>
                <a:lnTo>
                  <a:pt x="4392053" y="28803"/>
                </a:lnTo>
                <a:lnTo>
                  <a:pt x="4392053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8000" y="3225596"/>
            <a:ext cx="4392295" cy="14604"/>
          </a:xfrm>
          <a:custGeom>
            <a:avLst/>
            <a:gdLst/>
            <a:ahLst/>
            <a:cxnLst/>
            <a:rect l="l" t="t" r="r" b="b"/>
            <a:pathLst>
              <a:path w="4392295" h="14605">
                <a:moveTo>
                  <a:pt x="4392053" y="0"/>
                </a:moveTo>
                <a:lnTo>
                  <a:pt x="0" y="0"/>
                </a:lnTo>
                <a:lnTo>
                  <a:pt x="0" y="14401"/>
                </a:lnTo>
                <a:lnTo>
                  <a:pt x="4392053" y="14401"/>
                </a:lnTo>
                <a:lnTo>
                  <a:pt x="439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127" y="1236332"/>
            <a:ext cx="3893845" cy="25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1660663"/>
            <a:ext cx="3875404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5086" y="3276263"/>
            <a:ext cx="189229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51"/>
                </a:moveTo>
                <a:lnTo>
                  <a:pt x="4608055" y="3456051"/>
                </a:lnTo>
                <a:lnTo>
                  <a:pt x="4608055" y="0"/>
                </a:lnTo>
                <a:lnTo>
                  <a:pt x="0" y="0"/>
                </a:lnTo>
                <a:lnTo>
                  <a:pt x="0" y="3456051"/>
                </a:lnTo>
                <a:close/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08000" y="331152"/>
            <a:ext cx="4392295" cy="29209"/>
          </a:xfrm>
          <a:custGeom>
            <a:avLst/>
            <a:gdLst/>
            <a:ahLst/>
            <a:cxnLst/>
            <a:rect l="l" t="t" r="r" b="b"/>
            <a:pathLst>
              <a:path w="4392295" h="29210">
                <a:moveTo>
                  <a:pt x="4392053" y="0"/>
                </a:moveTo>
                <a:lnTo>
                  <a:pt x="0" y="0"/>
                </a:lnTo>
                <a:lnTo>
                  <a:pt x="0" y="28803"/>
                </a:lnTo>
                <a:lnTo>
                  <a:pt x="4392053" y="28803"/>
                </a:lnTo>
                <a:lnTo>
                  <a:pt x="4392053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08000" y="3225596"/>
            <a:ext cx="4392295" cy="14604"/>
          </a:xfrm>
          <a:custGeom>
            <a:avLst/>
            <a:gdLst/>
            <a:ahLst/>
            <a:cxnLst/>
            <a:rect l="l" t="t" r="r" b="b"/>
            <a:pathLst>
              <a:path w="4392295" h="14605">
                <a:moveTo>
                  <a:pt x="4392053" y="0"/>
                </a:moveTo>
                <a:lnTo>
                  <a:pt x="0" y="0"/>
                </a:lnTo>
                <a:lnTo>
                  <a:pt x="0" y="14401"/>
                </a:lnTo>
                <a:lnTo>
                  <a:pt x="4392053" y="14401"/>
                </a:lnTo>
                <a:lnTo>
                  <a:pt x="439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1452"/>
            <a:ext cx="3003550" cy="2444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7644" y="751250"/>
            <a:ext cx="3442335" cy="1989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12/5/2025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5086" y="3276263"/>
            <a:ext cx="201929" cy="15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3980">
              <a:spcBef>
                <a:spcPts val="60"/>
              </a:spcBef>
            </a:pPr>
            <a:fld id="{81D60167-4931-47E6-BA6A-407CBD079E47}" type="slidenum">
              <a:rPr kern="0" spc="-50" dirty="0">
                <a:solidFill>
                  <a:prstClr val="black"/>
                </a:solidFill>
              </a:rPr>
              <a:pPr marL="93980">
                <a:spcBef>
                  <a:spcPts val="60"/>
                </a:spcBef>
              </a:pPr>
              <a:t>‹#›</a:t>
            </a:fld>
            <a:endParaRPr kern="0" spc="-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05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522" y="1020603"/>
            <a:ext cx="3976211" cy="668918"/>
          </a:xfrm>
        </p:spPr>
        <p:txBody>
          <a:bodyPr vert="horz" lIns="38734" tIns="19367" rIns="38734" bIns="19367" rtlCol="0" anchor="ctr">
            <a:normAutofit fontScale="90000"/>
          </a:bodyPr>
          <a:lstStyle/>
          <a:p>
            <a:pPr algn="ctr"/>
            <a:r>
              <a:rPr lang="en-IN" sz="2500" b="1" dirty="0" smtClean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BACSE104 (2 </a:t>
            </a:r>
            <a:r>
              <a:rPr lang="en-IN" sz="25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4 0 </a:t>
            </a:r>
            <a:r>
              <a:rPr lang="en-IN" sz="2500" b="1" dirty="0" smtClean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4)</a:t>
            </a:r>
            <a:r>
              <a:rPr lang="en-IN" sz="25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/>
            </a:r>
            <a:br>
              <a:rPr lang="en-IN" sz="25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</a:br>
            <a:r>
              <a:rPr lang="en-IN" sz="2500" b="1" dirty="0" smtClean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Structured and Object Oriented Programming</a:t>
            </a:r>
            <a:endParaRPr lang="en-IN" sz="2500" b="1" dirty="0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+mn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895" y="2146951"/>
            <a:ext cx="3976211" cy="668918"/>
          </a:xfrm>
          <a:prstGeom prst="rect">
            <a:avLst/>
          </a:prstGeom>
        </p:spPr>
        <p:txBody>
          <a:bodyPr vert="horz" lIns="38734" tIns="19367" rIns="38734" bIns="19367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 err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Dr.Radha</a:t>
            </a:r>
            <a:r>
              <a:rPr lang="en-IN" sz="14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 R</a:t>
            </a:r>
          </a:p>
          <a:p>
            <a:pPr algn="ctr"/>
            <a:r>
              <a:rPr lang="en-IN" sz="14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Associate Professor</a:t>
            </a:r>
          </a:p>
          <a:p>
            <a:pPr algn="ctr"/>
            <a:r>
              <a:rPr lang="en-IN" sz="14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358597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53975"/>
            <a:ext cx="3893845" cy="232756"/>
          </a:xfr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IN" sz="1400" b="1" spc="15" dirty="0" smtClean="0">
                <a:solidFill>
                  <a:srgbClr val="993333"/>
                </a:solidFill>
                <a:latin typeface="Arial"/>
                <a:cs typeface="Arial"/>
              </a:rPr>
              <a:t>Course Outcome</a:t>
            </a:r>
            <a:endParaRPr lang="en-IN" sz="1400" b="1" spc="15" dirty="0">
              <a:solidFill>
                <a:srgbClr val="993333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450" y="587375"/>
            <a:ext cx="4191000" cy="2200602"/>
          </a:xfrm>
        </p:spPr>
        <p:txBody>
          <a:bodyPr/>
          <a:lstStyle/>
          <a:p>
            <a:pPr marL="171450" lvl="0" indent="-171450">
              <a:buFont typeface="Arial" pitchFamily="34" charset="0"/>
              <a:buChar char="•"/>
            </a:pPr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and implement basic programming constructs, decision-making statements, and loops in C/C++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en-IN" dirty="0"/>
              <a:t>To apply modular programming techniques by utilizing functions, structures, and files for efficient problem-solving in real-world applications.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en-IN" dirty="0"/>
              <a:t>To apply pointers and dynamic memory allocation techniques to manage data efficiently in C/C++ programs.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en-IN" dirty="0"/>
              <a:t>To demonstrate object-oriented principles (encapsulation, inheritance, and polymorphism) to design structured and scalable applications.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dirty="0"/>
              <a:t>To develop efficient and scalable solutions and to apply advanced programming paradigms, including exception handling and the Standard Template Library (STL) with set, list, and map.</a:t>
            </a:r>
          </a:p>
        </p:txBody>
      </p:sp>
    </p:spTree>
    <p:extLst>
      <p:ext uri="{BB962C8B-B14F-4D97-AF65-F5344CB8AC3E}">
        <p14:creationId xmlns:p14="http://schemas.microsoft.com/office/powerpoint/2010/main" val="423464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1450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IN" sz="1400" b="1" spc="15" dirty="0" smtClean="0">
                <a:solidFill>
                  <a:srgbClr val="993333"/>
                </a:solidFill>
                <a:latin typeface="Arial"/>
                <a:cs typeface="Arial"/>
              </a:rPr>
              <a:t>Syllabus</a:t>
            </a:r>
            <a:endParaRPr lang="en-IN" sz="1400" b="1" spc="15" dirty="0">
              <a:solidFill>
                <a:srgbClr val="993333"/>
              </a:solidFill>
              <a:latin typeface="Arial"/>
              <a:cs typeface="Arial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82" y="587375"/>
            <a:ext cx="4478318" cy="1845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88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511175"/>
            <a:ext cx="4430534" cy="2604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71450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IN" sz="1400" b="1" spc="15" dirty="0" smtClean="0">
                <a:solidFill>
                  <a:srgbClr val="993333"/>
                </a:solidFill>
                <a:latin typeface="Arial"/>
                <a:cs typeface="Arial"/>
              </a:rPr>
              <a:t>Syllabus</a:t>
            </a:r>
            <a:endParaRPr lang="en-IN" sz="1400" b="1" spc="15" dirty="0">
              <a:solidFill>
                <a:srgbClr val="99333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793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587375"/>
            <a:ext cx="4221163" cy="192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114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27" y="1236332"/>
            <a:ext cx="3893845" cy="123111"/>
          </a:xfrm>
        </p:spPr>
        <p:txBody>
          <a:bodyPr/>
          <a:lstStyle/>
          <a:p>
            <a:r>
              <a:rPr lang="en-IN" dirty="0" smtClean="0"/>
              <a:t>Theory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593711"/>
              </p:ext>
            </p:extLst>
          </p:nvPr>
        </p:nvGraphicFramePr>
        <p:xfrm>
          <a:off x="272024" y="676591"/>
          <a:ext cx="3775620" cy="2143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488"/>
                <a:gridCol w="629270"/>
                <a:gridCol w="629270"/>
                <a:gridCol w="539374"/>
                <a:gridCol w="674218"/>
              </a:tblGrid>
              <a:tr h="403182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component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Max Marks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Weightage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CO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BTL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403182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DA1 – (Handwritten  Assignment on C)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25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2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3-Apply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4031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 smtClean="0"/>
                        <a:t>DA2 – (Handwritten  Assignment on C++)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 smtClean="0"/>
                        <a:t>25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3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smtClean="0"/>
                        <a:t>3-Apply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233590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Quiz (</a:t>
                      </a:r>
                      <a:r>
                        <a:rPr lang="en-IN" sz="900" dirty="0" err="1" smtClean="0"/>
                        <a:t>IamNeo</a:t>
                      </a:r>
                      <a:r>
                        <a:rPr lang="en-IN" sz="900" dirty="0" smtClean="0"/>
                        <a:t>)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25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smtClean="0"/>
                        <a:t>3-Apply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233590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CAT1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50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1,2,3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smtClean="0"/>
                        <a:t>3-Apply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233590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CAT2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50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3,4,5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smtClean="0"/>
                        <a:t>3-Apply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233590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FAT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100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40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1,2,3,4,5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3-Apply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171450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IN" sz="1400" b="1" spc="15" dirty="0" smtClean="0">
                <a:solidFill>
                  <a:srgbClr val="993333"/>
                </a:solidFill>
                <a:latin typeface="Arial"/>
                <a:cs typeface="Arial"/>
              </a:rPr>
              <a:t>Evaluation- Theory BACSE104</a:t>
            </a:r>
            <a:endParaRPr lang="en-IN" sz="1400" b="1" spc="15" dirty="0">
              <a:solidFill>
                <a:srgbClr val="99333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923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294" y="1660663"/>
            <a:ext cx="3875404" cy="169277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9557790"/>
              </p:ext>
            </p:extLst>
          </p:nvPr>
        </p:nvGraphicFramePr>
        <p:xfrm>
          <a:off x="171450" y="434975"/>
          <a:ext cx="4267199" cy="2940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67"/>
                <a:gridCol w="523367"/>
                <a:gridCol w="436928"/>
                <a:gridCol w="1335737"/>
                <a:gridCol w="1447800"/>
              </a:tblGrid>
              <a:tr h="251493"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COMPONENT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Max Marks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Weightage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PATTERN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TIME DURATION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</a:tr>
              <a:tr h="163294"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PAT1</a:t>
                      </a:r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30</a:t>
                      </a:r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10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 rowSpan="4"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dirty="0" smtClean="0"/>
                        <a:t>5</a:t>
                      </a:r>
                      <a:r>
                        <a:rPr lang="en-IN" sz="800" baseline="0" dirty="0" smtClean="0"/>
                        <a:t> Debugging questions- 15 Marks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1 Hard Question-10 marks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1 Easy Question – 5 marks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  <a:tc rowSpan="4"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dirty="0" smtClean="0"/>
                        <a:t>30</a:t>
                      </a:r>
                      <a:r>
                        <a:rPr lang="en-IN" sz="800" baseline="0" dirty="0" smtClean="0"/>
                        <a:t> MINUTES</a:t>
                      </a: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IN" sz="800" baseline="0" dirty="0" smtClean="0"/>
                        <a:t>     (6 minutes each)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30 minutes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15 minutes</a:t>
                      </a: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IN" sz="800" baseline="0" dirty="0" smtClean="0"/>
                        <a:t>Total – 75 minutes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</a:tr>
              <a:tr h="16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 smtClean="0"/>
                        <a:t>PAT2</a:t>
                      </a:r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30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15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836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 smtClean="0"/>
                        <a:t>PAT3</a:t>
                      </a:r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30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15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46254"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PAT4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30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10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64430"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IAMNEO PROGRESS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10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10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 marL="46101" marR="46101" marT="23072" marB="23072"/>
                </a:tc>
              </a:tr>
              <a:tr h="1272073"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FAT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50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40</a:t>
                      </a:r>
                      <a:endParaRPr lang="en-IN" sz="800" dirty="0"/>
                    </a:p>
                  </a:txBody>
                  <a:tcPr marL="46101" marR="46101" marT="23072" marB="23072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dirty="0" smtClean="0"/>
                        <a:t>Aim &amp;Algorithm- 10 marks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dirty="0" smtClean="0"/>
                        <a:t>5</a:t>
                      </a:r>
                      <a:r>
                        <a:rPr lang="en-IN" sz="800" baseline="0" dirty="0" smtClean="0"/>
                        <a:t> Debugging questions- 15 Marks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1 Hard Question-15 marks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1 Easy Question-10 marks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dirty="0" smtClean="0"/>
                        <a:t>15 minutes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dirty="0" smtClean="0"/>
                        <a:t>30</a:t>
                      </a:r>
                      <a:r>
                        <a:rPr lang="en-IN" sz="800" baseline="0" dirty="0" smtClean="0"/>
                        <a:t> MINUTES</a:t>
                      </a: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IN" sz="800" baseline="0" dirty="0" smtClean="0"/>
                        <a:t>     (6 minutes each)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30 minutes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800" baseline="0" dirty="0" smtClean="0"/>
                        <a:t>15 minutes</a:t>
                      </a: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IN" sz="800" baseline="0" dirty="0" smtClean="0"/>
                        <a:t>Total – 100 minutes</a:t>
                      </a:r>
                      <a:endParaRPr lang="en-IN" sz="800" dirty="0"/>
                    </a:p>
                  </a:txBody>
                  <a:tcPr marL="46101" marR="46101" marT="23072" marB="23072"/>
                </a:tc>
              </a:tr>
            </a:tbl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71450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IN" sz="1400" b="1" spc="15" dirty="0" smtClean="0">
                <a:solidFill>
                  <a:srgbClr val="993333"/>
                </a:solidFill>
                <a:latin typeface="Arial"/>
                <a:cs typeface="Arial"/>
              </a:rPr>
              <a:t>Evaluation- Lab BACSE104</a:t>
            </a:r>
            <a:endParaRPr lang="en-IN" sz="1400" b="1" spc="15" dirty="0">
              <a:solidFill>
                <a:srgbClr val="99333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32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27" y="1236332"/>
            <a:ext cx="3893845" cy="123111"/>
          </a:xfrm>
        </p:spPr>
        <p:txBody>
          <a:bodyPr/>
          <a:lstStyle/>
          <a:p>
            <a:r>
              <a:rPr lang="en-IN" dirty="0" smtClean="0"/>
              <a:t>Schedule for PAT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355560"/>
              </p:ext>
            </p:extLst>
          </p:nvPr>
        </p:nvGraphicFramePr>
        <p:xfrm>
          <a:off x="230505" y="807508"/>
          <a:ext cx="4149090" cy="1351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</a:tblGrid>
              <a:tr h="187137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ASSESSMEN 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DATE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SYLLABUS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187137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PAT1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JAN 19-23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MODULE 1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187137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PAT2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FEB 23-27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MODULE 2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280064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PAT3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 23-27</a:t>
                      </a:r>
                    </a:p>
                  </a:txBody>
                  <a:tcPr marL="3201" marR="3201" marT="3204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MODULE 3 AND MODULE 4 (Till</a:t>
                      </a:r>
                      <a:r>
                        <a:rPr lang="en-IN" sz="9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Operator overloading)</a:t>
                      </a:r>
                      <a:endParaRPr lang="en-IN" sz="9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201" marR="3201" marT="3204" marB="0" anchor="b"/>
                </a:tc>
              </a:tr>
              <a:tr h="323003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PAT4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APR 6-10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Module 4 and Module</a:t>
                      </a:r>
                      <a:r>
                        <a:rPr lang="en-IN" sz="900" baseline="0" dirty="0" smtClean="0"/>
                        <a:t> 5  (till Templates)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  <a:tr h="187137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FAT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APR 11-17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MODULE 1-5</a:t>
                      </a:r>
                      <a:endParaRPr lang="en-IN" sz="900" dirty="0"/>
                    </a:p>
                  </a:txBody>
                  <a:tcPr marL="46101" marR="46101" marT="23072" marB="23072"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171450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IN" sz="1400" b="1" spc="15" dirty="0" smtClean="0">
                <a:solidFill>
                  <a:srgbClr val="993333"/>
                </a:solidFill>
                <a:latin typeface="Arial"/>
                <a:cs typeface="Arial"/>
              </a:rPr>
              <a:t>Schedule of PATs</a:t>
            </a:r>
            <a:endParaRPr lang="en-IN" sz="1400" b="1" spc="15" dirty="0">
              <a:solidFill>
                <a:srgbClr val="99333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291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27" y="1236332"/>
            <a:ext cx="3893845" cy="123111"/>
          </a:xfrm>
        </p:spPr>
        <p:txBody>
          <a:bodyPr/>
          <a:lstStyle/>
          <a:p>
            <a:r>
              <a:rPr lang="en-IN" dirty="0" smtClean="0"/>
              <a:t>Schedule for PAT</a:t>
            </a:r>
            <a:endParaRPr lang="en-IN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1450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IN" sz="1400" b="1" spc="15" dirty="0" smtClean="0">
                <a:solidFill>
                  <a:srgbClr val="993333"/>
                </a:solidFill>
                <a:latin typeface="Arial"/>
                <a:cs typeface="Arial"/>
              </a:rPr>
              <a:t>Syllabus of CAT</a:t>
            </a:r>
            <a:endParaRPr lang="en-IN" sz="1400" b="1" spc="15" dirty="0">
              <a:solidFill>
                <a:srgbClr val="993333"/>
              </a:solidFill>
              <a:latin typeface="Arial"/>
              <a:cs typeface="Arial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364887"/>
              </p:ext>
            </p:extLst>
          </p:nvPr>
        </p:nvGraphicFramePr>
        <p:xfrm>
          <a:off x="171450" y="511175"/>
          <a:ext cx="4343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43200"/>
              </a:tblGrid>
              <a:tr h="312132">
                <a:tc>
                  <a:txBody>
                    <a:bodyPr/>
                    <a:lstStyle/>
                    <a:p>
                      <a:r>
                        <a:rPr lang="en-IN" dirty="0" smtClean="0"/>
                        <a:t>ASSESSMENT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SYLLABUS</a:t>
                      </a:r>
                      <a:endParaRPr lang="en-IN" dirty="0"/>
                    </a:p>
                  </a:txBody>
                  <a:tcPr/>
                </a:tc>
              </a:tr>
              <a:tr h="538748">
                <a:tc>
                  <a:txBody>
                    <a:bodyPr/>
                    <a:lstStyle/>
                    <a:p>
                      <a:r>
                        <a:rPr lang="en-IN" dirty="0" smtClean="0"/>
                        <a:t>CAT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MODULE 1 &amp;</a:t>
                      </a:r>
                      <a:r>
                        <a:rPr lang="en-IN" baseline="0" dirty="0" smtClean="0"/>
                        <a:t> Half of MODULE 2</a:t>
                      </a:r>
                      <a:endParaRPr lang="en-IN" dirty="0"/>
                    </a:p>
                  </a:txBody>
                  <a:tcPr/>
                </a:tc>
              </a:tr>
              <a:tr h="769640">
                <a:tc>
                  <a:txBody>
                    <a:bodyPr/>
                    <a:lstStyle/>
                    <a:p>
                      <a:r>
                        <a:rPr lang="en-IN" dirty="0" smtClean="0"/>
                        <a:t>CAT</a:t>
                      </a:r>
                      <a:r>
                        <a:rPr lang="en-IN" baseline="0" dirty="0" smtClean="0"/>
                        <a:t>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MODULE 2 (Remaining)</a:t>
                      </a:r>
                    </a:p>
                    <a:p>
                      <a:r>
                        <a:rPr lang="en-IN" dirty="0" smtClean="0"/>
                        <a:t>MODULE</a:t>
                      </a:r>
                      <a:r>
                        <a:rPr lang="en-IN" baseline="0" dirty="0" smtClean="0"/>
                        <a:t> 3 </a:t>
                      </a:r>
                    </a:p>
                    <a:p>
                      <a:r>
                        <a:rPr lang="en-IN" baseline="0" dirty="0" smtClean="0"/>
                        <a:t>MODULE 4 (Half)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09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650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What is C?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56760" y="3278334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7250" y="996949"/>
            <a:ext cx="1824989" cy="1173397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44780" marR="17780" indent="-132715">
              <a:lnSpc>
                <a:spcPts val="1200"/>
              </a:lnSpc>
              <a:spcBef>
                <a:spcPts val="229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 MT"/>
                <a:cs typeface="Arial MT"/>
              </a:rPr>
              <a:t>Dennis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Ritchie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AT&amp;T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Bell </a:t>
            </a:r>
            <a:r>
              <a:rPr sz="1100" spc="-10" dirty="0">
                <a:latin typeface="Arial MT"/>
                <a:cs typeface="Arial MT"/>
              </a:rPr>
              <a:t>Laboratories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1972</a:t>
            </a:r>
            <a:endParaRPr sz="1100" dirty="0">
              <a:latin typeface="Arial MT"/>
              <a:cs typeface="Arial MT"/>
            </a:endParaRPr>
          </a:p>
          <a:p>
            <a:pPr marL="133350" marR="544195" indent="-133350" algn="r">
              <a:lnSpc>
                <a:spcPct val="100000"/>
              </a:lnSpc>
              <a:spcBef>
                <a:spcPts val="195"/>
              </a:spcBef>
              <a:buSzPct val="90909"/>
              <a:buFont typeface="Cambria"/>
              <a:buChar char="•"/>
              <a:tabLst>
                <a:tab pos="133350" algn="l"/>
              </a:tabLst>
            </a:pPr>
            <a:r>
              <a:rPr sz="1100" dirty="0" smtClean="0">
                <a:latin typeface="Arial MT"/>
                <a:cs typeface="Arial MT"/>
              </a:rPr>
              <a:t>Widely</a:t>
            </a:r>
            <a:r>
              <a:rPr sz="1100" spc="-55" dirty="0" smtClean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today</a:t>
            </a:r>
            <a:endParaRPr sz="1100" dirty="0">
              <a:latin typeface="Arial MT"/>
              <a:cs typeface="Arial MT"/>
            </a:endParaRPr>
          </a:p>
          <a:p>
            <a:pPr marL="422275" marR="5080" lvl="1" indent="-128270">
              <a:lnSpc>
                <a:spcPct val="1000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 MT"/>
                <a:cs typeface="Arial MT"/>
              </a:rPr>
              <a:t>extends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newer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system architectures</a:t>
            </a:r>
            <a:endParaRPr sz="1000" dirty="0">
              <a:latin typeface="Arial MT"/>
              <a:cs typeface="Arial MT"/>
            </a:endParaRPr>
          </a:p>
          <a:p>
            <a:pPr marL="422275" lvl="1" indent="-128270">
              <a:lnSpc>
                <a:spcPts val="119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 MT"/>
                <a:cs typeface="Arial MT"/>
              </a:rPr>
              <a:t>efficiency/performance</a:t>
            </a:r>
            <a:endParaRPr sz="1000" dirty="0">
              <a:latin typeface="Arial MT"/>
              <a:cs typeface="Arial MT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 MT"/>
                <a:cs typeface="Arial MT"/>
              </a:rPr>
              <a:t>low-level access</a:t>
            </a:r>
            <a:endParaRPr sz="1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412015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650" y="37933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Features of 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82" y="892175"/>
            <a:ext cx="3063875" cy="14960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Arial MT"/>
                <a:cs typeface="Arial MT"/>
              </a:rPr>
              <a:t>C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features: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spc="-20" dirty="0">
                <a:latin typeface="Arial MT"/>
                <a:cs typeface="Arial MT"/>
              </a:rPr>
              <a:t>Few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keywords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Structures,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unions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compound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types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spc="-10" dirty="0">
                <a:latin typeface="Arial MT"/>
                <a:cs typeface="Arial MT"/>
              </a:rPr>
              <a:t>Pointers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memory,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arrays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External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library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I/O,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other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facilities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spc="-10" dirty="0">
                <a:latin typeface="Arial MT"/>
                <a:cs typeface="Arial MT"/>
              </a:rPr>
              <a:t>Compiles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native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code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Macro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preprocessor</a:t>
            </a:r>
            <a:endParaRPr sz="11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604110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292" y="29912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What is C used for?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050" y="968375"/>
            <a:ext cx="3790950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Arial MT"/>
                <a:cs typeface="Arial MT"/>
              </a:rPr>
              <a:t>Systems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programming: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OSes,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like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Linux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microcontrollers: automobiles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airplanes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embedded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processors: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phones,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portable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electronics,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etc.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DSP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processors: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audio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TV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systems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.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.</a:t>
            </a:r>
            <a:r>
              <a:rPr sz="1100" spc="-1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21618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128" y="37933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C vs. related languages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969" y="815975"/>
            <a:ext cx="2980690" cy="17818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lang="en-IN" sz="1100" dirty="0">
                <a:latin typeface="Arial MT"/>
                <a:cs typeface="Arial MT"/>
              </a:rPr>
              <a:t>D</a:t>
            </a:r>
            <a:r>
              <a:rPr sz="1100" dirty="0" err="1" smtClean="0">
                <a:latin typeface="Arial MT"/>
                <a:cs typeface="Arial MT"/>
              </a:rPr>
              <a:t>erivatives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C++,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Objective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C#</a:t>
            </a:r>
            <a:endParaRPr sz="1100" dirty="0">
              <a:latin typeface="Arial MT"/>
              <a:cs typeface="Arial MT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 MT"/>
                <a:cs typeface="Arial MT"/>
              </a:rPr>
              <a:t>Influenced: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Java,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Perl,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Python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(quite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different)</a:t>
            </a:r>
            <a:endParaRPr sz="1100" dirty="0">
              <a:latin typeface="Arial MT"/>
              <a:cs typeface="Arial MT"/>
            </a:endParaRPr>
          </a:p>
          <a:p>
            <a:pPr marL="146050" indent="-133350">
              <a:lnSpc>
                <a:spcPct val="100000"/>
              </a:lnSpc>
              <a:spcBef>
                <a:spcPts val="17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 MT"/>
                <a:cs typeface="Arial MT"/>
              </a:rPr>
              <a:t>C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lacks:</a:t>
            </a:r>
            <a:endParaRPr sz="1100" dirty="0">
              <a:latin typeface="Arial MT"/>
              <a:cs typeface="Arial MT"/>
            </a:endParaRPr>
          </a:p>
          <a:p>
            <a:pPr marL="4222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 MT"/>
                <a:cs typeface="Arial MT"/>
              </a:rPr>
              <a:t>exceptions</a:t>
            </a:r>
            <a:endParaRPr sz="1000" dirty="0">
              <a:latin typeface="Arial MT"/>
              <a:cs typeface="Arial MT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 MT"/>
                <a:cs typeface="Arial MT"/>
              </a:rPr>
              <a:t>range-checking</a:t>
            </a:r>
            <a:endParaRPr sz="1000" dirty="0">
              <a:latin typeface="Arial MT"/>
              <a:cs typeface="Arial MT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 MT"/>
                <a:cs typeface="Arial MT"/>
              </a:rPr>
              <a:t>garbage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collection</a:t>
            </a:r>
            <a:endParaRPr sz="1000" dirty="0">
              <a:latin typeface="Arial MT"/>
              <a:cs typeface="Arial MT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 MT"/>
                <a:cs typeface="Arial MT"/>
              </a:rPr>
              <a:t>object-oriented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programming</a:t>
            </a:r>
            <a:endParaRPr sz="1000" dirty="0">
              <a:latin typeface="Arial MT"/>
              <a:cs typeface="Arial MT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 MT"/>
                <a:cs typeface="Arial MT"/>
              </a:rPr>
              <a:t>polymorphism</a:t>
            </a:r>
            <a:endParaRPr sz="1000" dirty="0">
              <a:latin typeface="Arial MT"/>
              <a:cs typeface="Arial MT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 MT"/>
                <a:cs typeface="Arial MT"/>
              </a:rPr>
              <a:t>.</a:t>
            </a:r>
            <a:r>
              <a:rPr sz="1000" spc="-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.</a:t>
            </a:r>
            <a:r>
              <a:rPr sz="1000" spc="-114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  <a:p>
            <a:pPr marL="146050" indent="-133350">
              <a:lnSpc>
                <a:spcPct val="100000"/>
              </a:lnSpc>
              <a:spcBef>
                <a:spcPts val="35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20" dirty="0">
                <a:latin typeface="Arial MT"/>
                <a:cs typeface="Arial MT"/>
              </a:rPr>
              <a:t>Low-</a:t>
            </a:r>
            <a:r>
              <a:rPr sz="1100" spc="-10" dirty="0">
                <a:latin typeface="Arial MT"/>
                <a:cs typeface="Arial MT"/>
              </a:rPr>
              <a:t>level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language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130" dirty="0">
                <a:latin typeface="Cambria"/>
                <a:cs typeface="Cambria"/>
              </a:rPr>
              <a:t>⇒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Arial MT"/>
                <a:cs typeface="Arial MT"/>
              </a:rPr>
              <a:t>faster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code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(usually)</a:t>
            </a:r>
            <a:endParaRPr sz="11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650626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274" y="53975"/>
            <a:ext cx="38938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Warning: low-level language!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906" y="663575"/>
            <a:ext cx="242379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Arial MT"/>
                <a:cs typeface="Arial MT"/>
              </a:rPr>
              <a:t>Inherently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unsafe: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No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range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checking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type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safety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compile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time</a:t>
            </a:r>
            <a:endParaRPr sz="1100" dirty="0">
              <a:latin typeface="Arial MT"/>
              <a:cs typeface="Arial MT"/>
            </a:endParaRPr>
          </a:p>
          <a:p>
            <a:pPr marL="290195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 MT"/>
                <a:cs typeface="Arial MT"/>
              </a:rPr>
              <a:t>No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type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checking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runtime</a:t>
            </a:r>
            <a:endParaRPr sz="11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016414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511175"/>
            <a:ext cx="4449619" cy="27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930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53975"/>
            <a:ext cx="3893845" cy="123111"/>
          </a:xfrm>
        </p:spPr>
        <p:txBody>
          <a:bodyPr/>
          <a:lstStyle/>
          <a:p>
            <a:r>
              <a:rPr lang="en-IN" dirty="0" smtClean="0"/>
              <a:t>First Code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587375"/>
            <a:ext cx="3875404" cy="1184940"/>
          </a:xfrm>
        </p:spPr>
        <p:txBody>
          <a:bodyPr/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main() 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("Hello, World!");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95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29851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20" dirty="0" smtClean="0">
                <a:solidFill>
                  <a:srgbClr val="993333"/>
                </a:solidFill>
                <a:latin typeface="Arial"/>
                <a:cs typeface="Arial"/>
              </a:rPr>
              <a:t>C</a:t>
            </a:r>
            <a:r>
              <a:rPr sz="1400" b="1" spc="-5" dirty="0" smtClean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Programming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language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858" y="828724"/>
            <a:ext cx="3599179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46355" indent="-132715">
              <a:lnSpc>
                <a:spcPct val="102600"/>
              </a:lnSpc>
              <a:spcBef>
                <a:spcPts val="55"/>
              </a:spcBef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fast,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10" dirty="0" err="1">
                <a:latin typeface="Microsoft Sans Serif"/>
                <a:cs typeface="Microsoft Sans Serif"/>
              </a:rPr>
              <a:t>small,general-purpose,platform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10" dirty="0" smtClean="0">
                <a:latin typeface="Microsoft Sans Serif"/>
                <a:cs typeface="Microsoft Sans Serif"/>
              </a:rPr>
              <a:t>dependent </a:t>
            </a:r>
            <a:r>
              <a:rPr sz="1100" spc="-275" dirty="0" smtClean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programming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language.</a:t>
            </a:r>
            <a:endParaRPr sz="1100" dirty="0">
              <a:latin typeface="Microsoft Sans Serif"/>
              <a:cs typeface="Microsoft Sans Serif"/>
            </a:endParaRPr>
          </a:p>
          <a:p>
            <a:pPr marL="144780" marR="20955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systems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programming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</a:t>
            </a:r>
            <a:r>
              <a:rPr sz="1100" i="1" spc="-10" dirty="0">
                <a:latin typeface="Arial"/>
                <a:cs typeface="Arial"/>
              </a:rPr>
              <a:t>e.g.,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compilers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interpreters,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operating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systems,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database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systems, 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microcontrollers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i="1" spc="-5" dirty="0">
                <a:latin typeface="Arial"/>
                <a:cs typeface="Arial"/>
              </a:rPr>
              <a:t>etc.</a:t>
            </a:r>
            <a:r>
              <a:rPr sz="1100" spc="-5" dirty="0">
                <a:latin typeface="Microsoft Sans Serif"/>
                <a:cs typeface="Microsoft Sans Serif"/>
              </a:rPr>
              <a:t>)</a:t>
            </a:r>
            <a:endParaRPr sz="1100" dirty="0">
              <a:latin typeface="Microsoft Sans Serif"/>
              <a:cs typeface="Microsoft Sans Serif"/>
            </a:endParaRPr>
          </a:p>
          <a:p>
            <a:pPr marL="144780" indent="-132715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static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(compiled),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typed,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structured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imperative.</a:t>
            </a:r>
            <a:endParaRPr sz="1100" dirty="0">
              <a:latin typeface="Microsoft Sans Serif"/>
              <a:cs typeface="Microsoft Sans Serif"/>
            </a:endParaRPr>
          </a:p>
          <a:p>
            <a:pPr marL="144780" indent="-132715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5" dirty="0">
                <a:latin typeface="Microsoft Sans Serif"/>
                <a:cs typeface="Microsoft Sans Serif"/>
              </a:rPr>
              <a:t>"C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quirky,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ﬂawed,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enormous</a:t>
            </a:r>
            <a:r>
              <a:rPr sz="1100" spc="10" dirty="0">
                <a:latin typeface="Microsoft Sans Serif"/>
                <a:cs typeface="Microsoft Sans Serif"/>
              </a:rPr>
              <a:t> success."–Ritchie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Microsoft Sans Serif"/>
                <a:cs typeface="Microsoft Sans Serif"/>
              </a:rPr>
              <a:t>1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9671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Deﬁnitions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523225"/>
            <a:ext cx="3913504" cy="21463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" dirty="0">
                <a:latin typeface="Microsoft Sans Serif"/>
                <a:cs typeface="Microsoft Sans Serif"/>
              </a:rPr>
              <a:t>Datatypes:</a:t>
            </a:r>
            <a:endParaRPr sz="1100">
              <a:latin typeface="Microsoft Sans Serif"/>
              <a:cs typeface="Microsoft Sans Serif"/>
            </a:endParaRPr>
          </a:p>
          <a:p>
            <a:pPr marL="289560" marR="142875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Arial"/>
                <a:cs typeface="Arial"/>
              </a:rPr>
              <a:t>datatype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object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memory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determines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set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values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have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what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operations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that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be 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performed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it.</a:t>
            </a:r>
            <a:endParaRPr sz="1100">
              <a:latin typeface="Microsoft Sans Serif"/>
              <a:cs typeface="Microsoft Sans Serif"/>
            </a:endParaRPr>
          </a:p>
          <a:p>
            <a:pPr marL="289560" marR="5080" indent="-132715">
              <a:lnSpc>
                <a:spcPct val="102699"/>
              </a:lnSpc>
              <a:spcBef>
                <a:spcPts val="295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i="1" spc="-10" dirty="0">
                <a:latin typeface="Arial"/>
                <a:cs typeface="Arial"/>
              </a:rPr>
              <a:t>weakly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typed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language.</a:t>
            </a:r>
            <a:r>
              <a:rPr sz="1100" spc="8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It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allows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implicit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conversions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well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forced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(potentially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dangerous)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casting.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Microsoft Sans Serif"/>
                <a:cs typeface="Microsoft Sans Serif"/>
              </a:rPr>
              <a:t>Operators:</a:t>
            </a:r>
            <a:endParaRPr sz="1100">
              <a:latin typeface="Microsoft Sans Serif"/>
              <a:cs typeface="Microsoft Sans Serif"/>
            </a:endParaRPr>
          </a:p>
          <a:p>
            <a:pPr marL="289560" marR="346710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b="1" spc="-10" dirty="0">
                <a:latin typeface="Arial"/>
                <a:cs typeface="Arial"/>
              </a:rPr>
              <a:t>Operators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specify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how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object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manipulated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</a:t>
            </a:r>
            <a:r>
              <a:rPr sz="1100" i="1" spc="-10" dirty="0">
                <a:latin typeface="Arial"/>
                <a:cs typeface="Arial"/>
              </a:rPr>
              <a:t>e.g.,</a:t>
            </a:r>
            <a:r>
              <a:rPr sz="1100" spc="-10" dirty="0">
                <a:latin typeface="Microsoft Sans Serif"/>
                <a:cs typeface="Microsoft Sans Serif"/>
              </a:rPr>
              <a:t>,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numeric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vs.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string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operations).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operators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unary(</a:t>
            </a:r>
            <a:r>
              <a:rPr sz="1100" i="1" spc="-5" dirty="0">
                <a:latin typeface="Arial"/>
                <a:cs typeface="Arial"/>
              </a:rPr>
              <a:t>e.g., </a:t>
            </a:r>
            <a:r>
              <a:rPr sz="1100" spc="-5" dirty="0">
                <a:latin typeface="Microsoft Sans Serif"/>
                <a:cs typeface="Microsoft Sans Serif"/>
              </a:rPr>
              <a:t>-,++),binary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</a:t>
            </a:r>
            <a:r>
              <a:rPr sz="1100" i="1" spc="-10" dirty="0">
                <a:latin typeface="Arial"/>
                <a:cs typeface="Arial"/>
              </a:rPr>
              <a:t>e.g.,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Microsoft Sans Serif"/>
                <a:cs typeface="Microsoft Sans Serif"/>
              </a:rPr>
              <a:t>+,-,*,/),ternary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(?:)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Microsoft Sans Serif"/>
                <a:cs typeface="Microsoft Sans Serif"/>
              </a:rPr>
              <a:t>3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6859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Deﬁnitions</a:t>
            </a:r>
            <a:r>
              <a:rPr sz="1400" b="1" spc="-4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(contd.)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501533"/>
            <a:ext cx="3822065" cy="22225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" dirty="0">
                <a:latin typeface="Microsoft Sans Serif"/>
                <a:cs typeface="Microsoft Sans Serif"/>
              </a:rPr>
              <a:t>Expressions:</a:t>
            </a:r>
            <a:endParaRPr sz="1100">
              <a:latin typeface="Microsoft Sans Serif"/>
              <a:cs typeface="Microsoft Sans Serif"/>
            </a:endParaRPr>
          </a:p>
          <a:p>
            <a:pPr marL="289560" marR="5080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programming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language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 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combination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values,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variables,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operators,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functions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15" dirty="0">
                <a:latin typeface="Microsoft Sans Serif"/>
                <a:cs typeface="Microsoft Sans Serif"/>
              </a:rPr>
              <a:t>Variables:</a:t>
            </a:r>
            <a:endParaRPr sz="1100">
              <a:latin typeface="Microsoft Sans Serif"/>
              <a:cs typeface="Microsoft Sans Serif"/>
            </a:endParaRPr>
          </a:p>
          <a:p>
            <a:pPr marL="289560" marR="55244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variable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named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link/reference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value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stored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system’s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memory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that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be 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evaluated.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5" dirty="0">
                <a:latin typeface="Microsoft Sans Serif"/>
                <a:cs typeface="Microsoft Sans Serif"/>
              </a:rPr>
              <a:t>Consider: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x=0,y=0;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y=x+2;</a:t>
            </a:r>
            <a:r>
              <a:rPr sz="1100" spc="-5" dirty="0"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i="1" spc="105" dirty="0">
                <a:latin typeface="Calibri"/>
                <a:cs typeface="Calibri"/>
              </a:rPr>
              <a:t>x</a:t>
            </a:r>
            <a:r>
              <a:rPr sz="1100" i="1" spc="6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40" dirty="0">
                <a:latin typeface="Calibri"/>
                <a:cs typeface="Calibri"/>
              </a:rPr>
              <a:t>y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v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r</a:t>
            </a:r>
            <a:r>
              <a:rPr sz="1100" spc="-10" dirty="0">
                <a:latin typeface="Microsoft Sans Serif"/>
                <a:cs typeface="Microsoft Sans Serif"/>
              </a:rPr>
              <a:t>ia</a:t>
            </a:r>
            <a:r>
              <a:rPr sz="1100" spc="-35" dirty="0">
                <a:latin typeface="Microsoft Sans Serif"/>
                <a:cs typeface="Microsoft Sans Serif"/>
              </a:rPr>
              <a:t>b</a:t>
            </a:r>
            <a:r>
              <a:rPr sz="1100" spc="-10" dirty="0">
                <a:latin typeface="Microsoft Sans Serif"/>
                <a:cs typeface="Microsoft Sans Serif"/>
              </a:rPr>
              <a:t>les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i="1" spc="40" dirty="0">
                <a:latin typeface="Calibri"/>
                <a:cs typeface="Calibri"/>
              </a:rPr>
              <a:t>y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=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x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235" dirty="0">
                <a:latin typeface="Cambria"/>
                <a:cs typeface="Cambria"/>
              </a:rPr>
              <a:t>+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65" dirty="0">
                <a:latin typeface="Cambria"/>
                <a:cs typeface="Cambria"/>
              </a:rPr>
              <a:t>2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</a:t>
            </a:r>
            <a:endParaRPr sz="1100">
              <a:latin typeface="Microsoft Sans Serif"/>
              <a:cs typeface="Microsoft Sans Serif"/>
            </a:endParaRPr>
          </a:p>
          <a:p>
            <a:pPr marL="156845">
              <a:lnSpc>
                <a:spcPct val="100000"/>
              </a:lnSpc>
              <a:spcBef>
                <a:spcPts val="330"/>
              </a:spcBef>
            </a:pPr>
            <a:r>
              <a:rPr sz="1500" i="1" spc="217" baseline="2777" dirty="0">
                <a:latin typeface="Arial"/>
                <a:cs typeface="Arial"/>
              </a:rPr>
              <a:t>•</a:t>
            </a:r>
            <a:r>
              <a:rPr sz="1500" i="1" spc="367" baseline="2777" dirty="0">
                <a:latin typeface="Arial"/>
                <a:cs typeface="Arial"/>
              </a:rPr>
              <a:t> </a:t>
            </a:r>
            <a:r>
              <a:rPr sz="1100" spc="235" dirty="0">
                <a:latin typeface="Cambria"/>
                <a:cs typeface="Cambria"/>
              </a:rPr>
              <a:t>+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operator.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5" dirty="0"/>
              <a:t>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3500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Variable</a:t>
            </a:r>
            <a:r>
              <a:rPr sz="1400" b="1" spc="-4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993333"/>
                </a:solidFill>
                <a:latin typeface="Arial"/>
                <a:cs typeface="Arial"/>
              </a:rPr>
              <a:t>names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370672"/>
            <a:ext cx="3804285" cy="26803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Microsoft Sans Serif"/>
                <a:cs typeface="Microsoft Sans Serif"/>
              </a:rPr>
              <a:t>Naming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rules: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20" dirty="0">
                <a:latin typeface="Microsoft Sans Serif"/>
                <a:cs typeface="Microsoft Sans Serif"/>
              </a:rPr>
              <a:t>Variable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names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contain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letters,digits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_</a:t>
            </a:r>
            <a:endParaRPr sz="1100">
              <a:latin typeface="Courier New"/>
              <a:cs typeface="Courier New"/>
            </a:endParaRPr>
          </a:p>
          <a:p>
            <a:pPr marL="289560" indent="-13335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20" dirty="0">
                <a:latin typeface="Microsoft Sans Serif"/>
                <a:cs typeface="Microsoft Sans Serif"/>
              </a:rPr>
              <a:t>Variable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names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should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start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with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letters.</a:t>
            </a:r>
            <a:endParaRPr sz="1100">
              <a:latin typeface="Microsoft Sans Serif"/>
              <a:cs typeface="Microsoft Sans Serif"/>
            </a:endParaRPr>
          </a:p>
          <a:p>
            <a:pPr marL="289560" marR="5080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20" dirty="0">
                <a:latin typeface="Microsoft Sans Serif"/>
                <a:cs typeface="Microsoft Sans Serif"/>
              </a:rPr>
              <a:t>Keywords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</a:t>
            </a:r>
            <a:r>
              <a:rPr sz="1100" i="1" spc="-10" dirty="0">
                <a:latin typeface="Arial"/>
                <a:cs typeface="Arial"/>
              </a:rPr>
              <a:t>e.g.,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for,while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i="1" spc="-5" dirty="0">
                <a:latin typeface="Arial"/>
                <a:cs typeface="Arial"/>
              </a:rPr>
              <a:t>etc.</a:t>
            </a:r>
            <a:r>
              <a:rPr sz="1100" spc="-5" dirty="0">
                <a:latin typeface="Microsoft Sans Serif"/>
                <a:cs typeface="Microsoft Sans Serif"/>
              </a:rPr>
              <a:t>)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cannot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variable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names</a:t>
            </a:r>
            <a:endParaRPr sz="1100">
              <a:latin typeface="Microsoft Sans Serif"/>
              <a:cs typeface="Microsoft Sans Serif"/>
            </a:endParaRPr>
          </a:p>
          <a:p>
            <a:pPr marL="289560" marR="124460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20" dirty="0">
                <a:latin typeface="Microsoft Sans Serif"/>
                <a:cs typeface="Microsoft Sans Serif"/>
              </a:rPr>
              <a:t>Variable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names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case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sensitive.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20" dirty="0">
                <a:latin typeface="Microsoft Sans Serif"/>
                <a:cs typeface="Microsoft Sans Serif"/>
              </a:rPr>
              <a:t>x;</a:t>
            </a:r>
            <a:r>
              <a:rPr sz="900" spc="30" dirty="0">
                <a:latin typeface="Microsoft Sans Serif"/>
                <a:cs typeface="Microsoft Sans Serif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declares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two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different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variables.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latin typeface="Microsoft Sans Serif"/>
                <a:cs typeface="Microsoft Sans Serif"/>
              </a:rPr>
              <a:t>Pop</a:t>
            </a:r>
            <a:r>
              <a:rPr sz="1100" spc="-10" dirty="0">
                <a:latin typeface="Microsoft Sans Serif"/>
                <a:cs typeface="Microsoft Sans Serif"/>
              </a:rPr>
              <a:t> quiz </a:t>
            </a:r>
            <a:r>
              <a:rPr sz="1100" spc="-5" dirty="0">
                <a:latin typeface="Microsoft Sans Serif"/>
                <a:cs typeface="Microsoft Sans Serif"/>
              </a:rPr>
              <a:t>(correct/incorrect):</a:t>
            </a:r>
            <a:endParaRPr sz="1100">
              <a:latin typeface="Microsoft Sans Serif"/>
              <a:cs typeface="Microsoft Sans Serif"/>
            </a:endParaRPr>
          </a:p>
          <a:p>
            <a:pPr marL="296545" indent="-140335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7180" algn="l"/>
              </a:tabLst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money$owed;</a:t>
            </a:r>
            <a:r>
              <a:rPr sz="900" spc="5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(incorrect: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cannot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contain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$)</a:t>
            </a:r>
            <a:endParaRPr sz="1100">
              <a:latin typeface="Microsoft Sans Serif"/>
              <a:cs typeface="Microsoft Sans Serif"/>
            </a:endParaRPr>
          </a:p>
          <a:p>
            <a:pPr marL="296545" indent="-140335">
              <a:lnSpc>
                <a:spcPct val="100000"/>
              </a:lnSpc>
              <a:spcBef>
                <a:spcPts val="330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7180" algn="l"/>
              </a:tabLst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total_count</a:t>
            </a:r>
            <a:r>
              <a:rPr sz="900" spc="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(correct)</a:t>
            </a:r>
            <a:endParaRPr sz="1100">
              <a:latin typeface="Microsoft Sans Serif"/>
              <a:cs typeface="Microsoft Sans Serif"/>
            </a:endParaRPr>
          </a:p>
          <a:p>
            <a:pPr marL="296545" indent="-140335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7180" algn="l"/>
              </a:tabLst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score2</a:t>
            </a:r>
            <a:r>
              <a:rPr sz="900" spc="4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(correct)</a:t>
            </a:r>
            <a:endParaRPr sz="1100">
              <a:latin typeface="Microsoft Sans Serif"/>
              <a:cs typeface="Microsoft Sans Serif"/>
            </a:endParaRPr>
          </a:p>
          <a:p>
            <a:pPr marL="296545" indent="-140335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7180" algn="l"/>
              </a:tabLst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2ndscore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(incorrect: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must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start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with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letter)</a:t>
            </a:r>
            <a:endParaRPr sz="1100">
              <a:latin typeface="Microsoft Sans Serif"/>
              <a:cs typeface="Microsoft Sans Serif"/>
            </a:endParaRPr>
          </a:p>
          <a:p>
            <a:pPr marL="296545" indent="-140335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7180" algn="l"/>
              </a:tabLst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long</a:t>
            </a:r>
            <a:r>
              <a:rPr sz="9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(incorrect: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cannot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use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keyword)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5" dirty="0"/>
              <a:t>5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819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Data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types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993333"/>
                </a:solidFill>
                <a:latin typeface="Arial"/>
                <a:cs typeface="Arial"/>
              </a:rPr>
              <a:t>and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sizes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148916"/>
            <a:ext cx="209042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has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small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family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datatypes.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5" dirty="0">
                <a:latin typeface="Microsoft Sans Serif"/>
                <a:cs typeface="Microsoft Sans Serif"/>
              </a:rPr>
              <a:t>Numeric </a:t>
            </a:r>
            <a:r>
              <a:rPr sz="1100" spc="-10" dirty="0">
                <a:latin typeface="Microsoft Sans Serif"/>
                <a:cs typeface="Microsoft Sans Serif"/>
              </a:rPr>
              <a:t>(int,ﬂoat,double)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Character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(char)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5" dirty="0">
                <a:latin typeface="Microsoft Sans Serif"/>
                <a:cs typeface="Microsoft Sans Serif"/>
              </a:rPr>
              <a:t>User </a:t>
            </a:r>
            <a:r>
              <a:rPr sz="1100" spc="-10" dirty="0">
                <a:latin typeface="Microsoft Sans Serif"/>
                <a:cs typeface="Microsoft Sans Serif"/>
              </a:rPr>
              <a:t>deﬁned</a:t>
            </a:r>
            <a:r>
              <a:rPr sz="1100" spc="-5" dirty="0">
                <a:latin typeface="Microsoft Sans Serif"/>
                <a:cs typeface="Microsoft Sans Serif"/>
              </a:rPr>
              <a:t> (struct,union)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5" dirty="0"/>
              <a:t>6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994" y="755459"/>
            <a:ext cx="4098290" cy="0"/>
          </a:xfrm>
          <a:custGeom>
            <a:avLst/>
            <a:gdLst/>
            <a:ahLst/>
            <a:cxnLst/>
            <a:rect l="l" t="t" r="r" b="b"/>
            <a:pathLst>
              <a:path w="4098290">
                <a:moveTo>
                  <a:pt x="0" y="0"/>
                </a:moveTo>
                <a:lnTo>
                  <a:pt x="409768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706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Numeric</a:t>
            </a:r>
            <a:r>
              <a:rPr sz="1400" b="1" spc="-1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data</a:t>
            </a:r>
            <a:r>
              <a:rPr sz="1400" b="1" spc="-1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types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386129"/>
            <a:ext cx="37414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Microsoft Sans Serif"/>
                <a:cs typeface="Microsoft Sans Serif"/>
              </a:rPr>
              <a:t>Depending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precision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range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required,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you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use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following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datatypes.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7466" y="778243"/>
          <a:ext cx="4098289" cy="12399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/>
                <a:gridCol w="1320164"/>
                <a:gridCol w="2212975"/>
              </a:tblGrid>
              <a:tr h="177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signed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unsigned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short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x;</a:t>
                      </a:r>
                      <a:r>
                        <a:rPr sz="900" b="1" spc="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900" b="1" spc="-1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y;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9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y;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default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6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20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-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26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long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</a:t>
                      </a:r>
                      <a:r>
                        <a:rPr sz="900" b="1" spc="-4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</a:t>
                      </a:r>
                      <a:r>
                        <a:rPr sz="900" b="1" spc="-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ﬂoat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ﬂoat</a:t>
                      </a:r>
                      <a:r>
                        <a:rPr sz="900" b="1" spc="1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20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N/A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double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double</a:t>
                      </a:r>
                      <a:r>
                        <a:rPr sz="900" b="1" spc="-4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N/A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char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char</a:t>
                      </a:r>
                      <a:r>
                        <a:rPr sz="900" b="1" spc="-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r>
                        <a:rPr sz="900" spc="1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signed</a:t>
                      </a:r>
                      <a:r>
                        <a:rPr sz="900" b="1" spc="-1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char</a:t>
                      </a:r>
                      <a:r>
                        <a:rPr sz="900" b="1" spc="-1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char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41058" y="2094686"/>
            <a:ext cx="3846829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5580" marR="161925" indent="-132715">
              <a:lnSpc>
                <a:spcPct val="102600"/>
              </a:lnSpc>
              <a:spcBef>
                <a:spcPts val="55"/>
              </a:spcBef>
              <a:buSzPct val="90909"/>
              <a:buFont typeface="Arial"/>
              <a:buChar char="•"/>
              <a:tabLst>
                <a:tab pos="19621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unsigned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version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has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roughly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double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range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its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signed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counterparts.</a:t>
            </a:r>
            <a:endParaRPr sz="1100">
              <a:latin typeface="Microsoft Sans Serif"/>
              <a:cs typeface="Microsoft Sans Serif"/>
            </a:endParaRPr>
          </a:p>
          <a:p>
            <a:pPr marL="195580" marR="167640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19621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Signed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unsigned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characters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differ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only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when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arithmetic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expressions.</a:t>
            </a:r>
            <a:endParaRPr sz="1100">
              <a:latin typeface="Microsoft Sans Serif"/>
              <a:cs typeface="Microsoft Sans Serif"/>
            </a:endParaRPr>
          </a:p>
          <a:p>
            <a:pPr marL="195580" marR="55880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196215" algn="l"/>
              </a:tabLst>
            </a:pPr>
            <a:r>
              <a:rPr sz="1100" spc="-5" dirty="0">
                <a:latin typeface="Microsoft Sans Serif"/>
                <a:cs typeface="Microsoft Sans Serif"/>
              </a:rPr>
              <a:t>Titbit: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Flickr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changed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from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unsigned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long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(</a:t>
            </a:r>
            <a:r>
              <a:rPr sz="1100" spc="-20" dirty="0">
                <a:latin typeface="Cambria"/>
                <a:cs typeface="Cambria"/>
              </a:rPr>
              <a:t>2</a:t>
            </a:r>
            <a:r>
              <a:rPr sz="1200" spc="-30" baseline="27777" dirty="0">
                <a:latin typeface="Trebuchet MS"/>
                <a:cs typeface="Trebuchet MS"/>
              </a:rPr>
              <a:t>32</a:t>
            </a:r>
            <a:r>
              <a:rPr sz="1200" spc="75" baseline="27777" dirty="0">
                <a:latin typeface="Trebuchet MS"/>
                <a:cs typeface="Trebuchet MS"/>
              </a:rPr>
              <a:t> </a:t>
            </a:r>
            <a:r>
              <a:rPr sz="1100" i="1" spc="204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Cambria"/>
                <a:cs typeface="Cambria"/>
              </a:rPr>
              <a:t>1</a:t>
            </a:r>
            <a:r>
              <a:rPr sz="1100" spc="-35" dirty="0">
                <a:latin typeface="Microsoft Sans Serif"/>
                <a:cs typeface="Microsoft Sans Serif"/>
              </a:rPr>
              <a:t>)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string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two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years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ago.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5" dirty="0"/>
              <a:t>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53975"/>
            <a:ext cx="3893845" cy="123111"/>
          </a:xfrm>
        </p:spPr>
        <p:txBody>
          <a:bodyPr/>
          <a:lstStyle/>
          <a:p>
            <a:r>
              <a:rPr lang="en-IN" dirty="0" smtClean="0"/>
              <a:t>DATA TYPES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739775"/>
            <a:ext cx="2511426" cy="2133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183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51" y="53975"/>
            <a:ext cx="3893845" cy="184666"/>
          </a:xfrm>
        </p:spPr>
        <p:txBody>
          <a:bodyPr/>
          <a:lstStyle/>
          <a:p>
            <a:r>
              <a:rPr lang="en-IN" sz="1200" dirty="0" smtClean="0"/>
              <a:t>FORMAT SPECTFIERS</a:t>
            </a:r>
            <a:endParaRPr lang="en-IN" sz="1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4975"/>
            <a:ext cx="3384046" cy="253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37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9163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Constants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715948"/>
            <a:ext cx="385508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5" dirty="0">
                <a:latin typeface="Microsoft Sans Serif"/>
                <a:cs typeface="Microsoft Sans Serif"/>
              </a:rPr>
              <a:t>Constants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literal/ﬁxed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values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assigned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variables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used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directly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expressions.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093743"/>
          <a:ext cx="4023994" cy="1657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260"/>
                <a:gridCol w="2072004"/>
                <a:gridCol w="1014730"/>
              </a:tblGrid>
              <a:tr h="202438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Datatype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9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54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20" dirty="0">
                          <a:latin typeface="Microsoft Sans Serif"/>
                          <a:cs typeface="Microsoft Sans Serif"/>
                        </a:rPr>
                        <a:t>i=3;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integer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 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l=3;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long</a:t>
                      </a:r>
                      <a:r>
                        <a:rPr sz="11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integer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integer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</a:t>
                      </a:r>
                      <a:r>
                        <a:rPr sz="900" b="1" spc="-1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ul=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3UL;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unsigned</a:t>
                      </a: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long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i=0xA;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hexadecimal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9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i=012;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octal</a:t>
                      </a:r>
                      <a:r>
                        <a:rPr sz="11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number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9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ﬂoat</a:t>
                      </a:r>
                      <a:r>
                        <a:rPr sz="900" b="1" spc="229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pi=3.14159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ﬂoat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ﬂoating point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ﬂoat</a:t>
                      </a:r>
                      <a:r>
                        <a:rPr sz="900" b="1" spc="229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pi=3.141F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ﬂoat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double</a:t>
                      </a:r>
                      <a:r>
                        <a:rPr sz="900" b="1" spc="-1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pi=3.1415926535897932384L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double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5" dirty="0"/>
              <a:t>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16351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Constants</a:t>
            </a:r>
            <a:r>
              <a:rPr sz="1400" b="1" spc="-4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(contd.)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7466" y="928459"/>
          <a:ext cx="4133213" cy="1498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8844"/>
                <a:gridCol w="1739264"/>
                <a:gridCol w="1475105"/>
              </a:tblGrid>
              <a:tr h="202444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Datatype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180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65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character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5" dirty="0">
                          <a:latin typeface="Courier New"/>
                          <a:cs typeface="Courier New"/>
                        </a:rPr>
                        <a:t>’A’</a:t>
                      </a:r>
                      <a:endParaRPr sz="900">
                        <a:latin typeface="Courier New"/>
                        <a:cs typeface="Courier New"/>
                      </a:endParaRPr>
                    </a:p>
                    <a:p>
                      <a:pPr marL="629920" marR="622300" algn="ctr">
                        <a:lnSpc>
                          <a:spcPct val="125400"/>
                        </a:lnSpc>
                      </a:pPr>
                      <a:r>
                        <a:rPr sz="900" spc="-5" dirty="0">
                          <a:latin typeface="Courier New"/>
                          <a:cs typeface="Courier New"/>
                        </a:rPr>
                        <a:t>’\x41’ </a:t>
                      </a:r>
                      <a:r>
                        <a:rPr sz="900" spc="-5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’\0101’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character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marL="225425" marR="217804" algn="ctr">
                        <a:lnSpc>
                          <a:spcPct val="1026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speciﬁed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20" dirty="0">
                          <a:latin typeface="Microsoft Sans Serif"/>
                          <a:cs typeface="Microsoft Sans Serif"/>
                        </a:rPr>
                        <a:t>hex </a:t>
                      </a: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speciﬁed in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octal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5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string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5" dirty="0">
                          <a:latin typeface="Courier New"/>
                          <a:cs typeface="Courier New"/>
                        </a:rPr>
                        <a:t>"hello</a:t>
                      </a:r>
                      <a:r>
                        <a:rPr sz="9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spc="-5" dirty="0">
                          <a:latin typeface="Courier New"/>
                          <a:cs typeface="Courier New"/>
                        </a:rPr>
                        <a:t>world"</a:t>
                      </a:r>
                      <a:endParaRPr sz="900">
                        <a:latin typeface="Courier New"/>
                        <a:cs typeface="Courier New"/>
                      </a:endParaRPr>
                    </a:p>
                    <a:p>
                      <a:pPr marL="3911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Courier New"/>
                          <a:cs typeface="Courier New"/>
                        </a:rPr>
                        <a:t>"hello""world"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string</a:t>
                      </a:r>
                      <a:r>
                        <a:rPr sz="11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literal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same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as</a:t>
                      </a:r>
                      <a:r>
                        <a:rPr sz="11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"hello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world"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enumeration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enum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BOOL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{NO,YES}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enum</a:t>
                      </a:r>
                      <a:r>
                        <a:rPr sz="900" b="1" spc="-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COLOR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{R=1,G,B,Y=10}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NO=0,YES=1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G=2,B=3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5" dirty="0"/>
              <a:t>11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1156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Declarations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4897" y="948067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775994"/>
            <a:ext cx="2961005" cy="13741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0706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general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format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declaration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i="1" spc="-5" dirty="0">
                <a:latin typeface="Arial"/>
                <a:cs typeface="Arial"/>
              </a:rPr>
              <a:t>type </a:t>
            </a:r>
            <a:r>
              <a:rPr sz="1100" i="1" spc="-10" dirty="0">
                <a:latin typeface="Arial"/>
                <a:cs typeface="Arial"/>
              </a:rPr>
              <a:t>variable-name </a:t>
            </a:r>
            <a:r>
              <a:rPr sz="1100" spc="-10" dirty="0">
                <a:latin typeface="Microsoft Sans Serif"/>
                <a:cs typeface="Microsoft Sans Serif"/>
              </a:rPr>
              <a:t>[=</a:t>
            </a:r>
            <a:r>
              <a:rPr sz="1100" i="1" spc="-10" dirty="0">
                <a:latin typeface="Arial"/>
                <a:cs typeface="Arial"/>
              </a:rPr>
              <a:t>value</a:t>
            </a:r>
            <a:r>
              <a:rPr sz="1100" spc="-10" dirty="0">
                <a:latin typeface="Microsoft Sans Serif"/>
                <a:cs typeface="Microsoft Sans Serif"/>
              </a:rPr>
              <a:t>] 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Examples: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har </a:t>
            </a:r>
            <a:r>
              <a:rPr sz="900" spc="-5" dirty="0">
                <a:latin typeface="Microsoft Sans Serif"/>
                <a:cs typeface="Microsoft Sans Serif"/>
              </a:rPr>
              <a:t>x;</a:t>
            </a:r>
            <a:r>
              <a:rPr sz="900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uninitiali</a:t>
            </a:r>
            <a:r>
              <a:rPr sz="900" spc="-20" dirty="0">
                <a:solidFill>
                  <a:srgbClr val="B50A0A"/>
                </a:solidFill>
                <a:latin typeface="Microsoft Sans Serif"/>
                <a:cs typeface="Microsoft Sans Serif"/>
              </a:rPr>
              <a:t>z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ed</a:t>
            </a:r>
            <a:r>
              <a:rPr sz="900" spc="9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har </a:t>
            </a:r>
            <a:r>
              <a:rPr sz="900" spc="-5" dirty="0">
                <a:latin typeface="Microsoft Sans Serif"/>
                <a:cs typeface="Microsoft Sans Serif"/>
              </a:rPr>
              <a:t>x=</a:t>
            </a:r>
            <a:r>
              <a:rPr sz="900" spc="-5" dirty="0">
                <a:latin typeface="Courier New"/>
                <a:cs typeface="Courier New"/>
              </a:rPr>
              <a:t>’A’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4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intiali</a:t>
            </a:r>
            <a:r>
              <a:rPr sz="900" spc="-25" dirty="0">
                <a:solidFill>
                  <a:srgbClr val="B50A0A"/>
                </a:solidFill>
                <a:latin typeface="Microsoft Sans Serif"/>
                <a:cs typeface="Microsoft Sans Serif"/>
              </a:rPr>
              <a:t>z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ed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9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to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’</a:t>
            </a:r>
            <a:r>
              <a:rPr sz="900" spc="-1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A</a:t>
            </a:r>
            <a:r>
              <a:rPr sz="900" spc="45" dirty="0">
                <a:solidFill>
                  <a:srgbClr val="B50A0A"/>
                </a:solidFill>
                <a:latin typeface="Microsoft Sans Serif"/>
                <a:cs typeface="Microsoft Sans Serif"/>
              </a:rPr>
              <a:t>’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x=</a:t>
            </a:r>
            <a:r>
              <a:rPr sz="900" spc="-5" dirty="0">
                <a:latin typeface="Courier New"/>
                <a:cs typeface="Courier New"/>
              </a:rPr>
              <a:t>’A’</a:t>
            </a:r>
            <a:r>
              <a:rPr sz="900" spc="-5" dirty="0">
                <a:latin typeface="Microsoft Sans Serif"/>
                <a:cs typeface="Microsoft Sans Serif"/>
              </a:rPr>
              <a:t>,y=</a:t>
            </a:r>
            <a:r>
              <a:rPr sz="900" spc="-5" dirty="0">
                <a:latin typeface="Courier New"/>
                <a:cs typeface="Courier New"/>
              </a:rPr>
              <a:t>’B’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r>
              <a:rPr sz="900" spc="20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5" dirty="0">
                <a:solidFill>
                  <a:srgbClr val="B50A0A"/>
                </a:solidFill>
                <a:latin typeface="Microsoft Sans Serif"/>
                <a:cs typeface="Microsoft Sans Serif"/>
              </a:rPr>
              <a:t>multiple</a:t>
            </a:r>
            <a:r>
              <a:rPr sz="900" spc="2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variables</a:t>
            </a:r>
            <a:r>
              <a:rPr sz="900" spc="3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initialized</a:t>
            </a:r>
            <a:r>
              <a:rPr sz="900" spc="12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3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x=y=</a:t>
            </a:r>
            <a:r>
              <a:rPr sz="900" spc="-20" dirty="0">
                <a:latin typeface="Courier New"/>
                <a:cs typeface="Courier New"/>
              </a:rPr>
              <a:t>’Z’</a:t>
            </a:r>
            <a:r>
              <a:rPr sz="900" spc="-20" dirty="0">
                <a:latin typeface="Microsoft Sans Serif"/>
                <a:cs typeface="Microsoft Sans Serif"/>
              </a:rPr>
              <a:t>;</a:t>
            </a:r>
            <a:r>
              <a:rPr sz="900" spc="-20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2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0" dirty="0">
                <a:solidFill>
                  <a:srgbClr val="B50A0A"/>
                </a:solidFill>
                <a:latin typeface="Microsoft Sans Serif"/>
                <a:cs typeface="Microsoft Sans Serif"/>
              </a:rPr>
              <a:t>multiple</a:t>
            </a:r>
            <a:r>
              <a:rPr sz="900" spc="3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initializations</a:t>
            </a:r>
            <a:r>
              <a:rPr sz="900" spc="1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3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74" y="3272308"/>
            <a:ext cx="275708" cy="14351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5" dirty="0"/>
              <a:t>12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994" y="790803"/>
            <a:ext cx="3014345" cy="0"/>
          </a:xfrm>
          <a:custGeom>
            <a:avLst/>
            <a:gdLst/>
            <a:ahLst/>
            <a:cxnLst/>
            <a:rect l="l" t="t" r="r" b="b"/>
            <a:pathLst>
              <a:path w="3014345">
                <a:moveTo>
                  <a:pt x="0" y="0"/>
                </a:moveTo>
                <a:lnTo>
                  <a:pt x="30138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1452"/>
            <a:ext cx="18148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Arithmetic</a:t>
            </a:r>
            <a:r>
              <a:rPr sz="1400" b="1" spc="-2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813574"/>
          <a:ext cx="3012439" cy="190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/>
                <a:gridCol w="950594"/>
                <a:gridCol w="1395730"/>
              </a:tblGrid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operator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860">
                        <a:lnSpc>
                          <a:spcPts val="11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9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addition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x=3+2; 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constants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09880" marR="234950" indent="-73660">
                        <a:lnSpc>
                          <a:spcPct val="125400"/>
                        </a:lnSpc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y+z;</a:t>
                      </a:r>
                      <a:r>
                        <a:rPr sz="900" spc="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variables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 </a:t>
                      </a:r>
                      <a:r>
                        <a:rPr sz="900" spc="-22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x+y+2; 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both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65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-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subtraction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sz="900" spc="-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2;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constants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0170" marR="75565" algn="ctr">
                        <a:lnSpc>
                          <a:spcPct val="125400"/>
                        </a:lnSpc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7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x=y</a:t>
                      </a:r>
                      <a:r>
                        <a:rPr sz="900" spc="-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z;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variables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 </a:t>
                      </a:r>
                      <a:r>
                        <a:rPr sz="900" spc="-22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sz="900" spc="-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900" spc="-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z;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both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*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multiplication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8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Microsoft Sans Serif"/>
                          <a:cs typeface="Microsoft Sans Serif"/>
                        </a:rPr>
                        <a:t>x=3</a:t>
                      </a:r>
                      <a:r>
                        <a:rPr sz="900" spc="-4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latin typeface="Microsoft Sans Serif"/>
                          <a:cs typeface="Microsoft Sans Serif"/>
                        </a:rPr>
                        <a:t>2;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constants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8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Microsoft Sans Serif"/>
                          <a:cs typeface="Microsoft Sans Serif"/>
                        </a:rPr>
                        <a:t>x=y</a:t>
                      </a:r>
                      <a:r>
                        <a:rPr sz="900" spc="-4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latin typeface="Microsoft Sans Serif"/>
                          <a:cs typeface="Microsoft Sans Serif"/>
                        </a:rPr>
                        <a:t>z;</a:t>
                      </a:r>
                      <a:r>
                        <a:rPr sz="9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variables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1395730" algn="l"/>
                        </a:tabLst>
                      </a:pPr>
                      <a:r>
                        <a:rPr sz="9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                                                                </a:t>
                      </a:r>
                      <a:r>
                        <a:rPr sz="900" u="sng" spc="-1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x</a:t>
                      </a:r>
                      <a:r>
                        <a:rPr sz="9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sz="9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2;</a:t>
                      </a:r>
                      <a:r>
                        <a:rPr sz="900" u="sng" spc="65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u="sng" dirty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u="sng" spc="45" dirty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u="sng" dirty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both</a:t>
                      </a:r>
                      <a:r>
                        <a:rPr sz="900" u="sng" spc="-5" dirty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u="sng" dirty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/	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Microsoft Sans Serif"/>
                <a:cs typeface="Microsoft Sans Serif"/>
              </a:rPr>
              <a:t>14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2533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Arithmetic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r>
              <a:rPr sz="1400" b="1" spc="-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(contd.)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00179"/>
              </p:ext>
            </p:extLst>
          </p:nvPr>
        </p:nvGraphicFramePr>
        <p:xfrm>
          <a:off x="357466" y="1009434"/>
          <a:ext cx="4049395" cy="1394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/>
                <a:gridCol w="867410"/>
                <a:gridCol w="2515870"/>
              </a:tblGrid>
              <a:tr h="202444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operator</a:t>
                      </a:r>
                      <a:endParaRPr sz="11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65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/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division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ﬂoat </a:t>
                      </a:r>
                      <a:r>
                        <a:rPr sz="900" b="1" spc="-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x=3/2; </a:t>
                      </a:r>
                      <a:r>
                        <a:rPr sz="9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produces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x=1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(int 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/)</a:t>
                      </a:r>
                      <a:r>
                        <a:rPr sz="900" spc="-6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ﬂoat </a:t>
                      </a:r>
                      <a:r>
                        <a:rPr sz="900" b="1" spc="-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x=3.0/2</a:t>
                      </a:r>
                      <a:r>
                        <a:rPr sz="9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produces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x=1.5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ﬂoat </a:t>
                      </a:r>
                      <a:r>
                        <a:rPr sz="900" spc="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/)</a:t>
                      </a:r>
                      <a:r>
                        <a:rPr sz="900" spc="-6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x=3.0/2;</a:t>
                      </a:r>
                      <a:r>
                        <a:rPr sz="900" spc="22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produces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x=1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(int</a:t>
                      </a:r>
                      <a:r>
                        <a:rPr sz="900" spc="1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conversion)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9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%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modulus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(remainder)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x=3%2;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produces</a:t>
                      </a:r>
                      <a:r>
                        <a:rPr sz="900" spc="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x=1</a:t>
                      </a:r>
                      <a:r>
                        <a:rPr sz="900" spc="-5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5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04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y=7;</a:t>
                      </a:r>
                      <a:r>
                        <a:rPr sz="9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x=y%4;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produces</a:t>
                      </a:r>
                      <a:r>
                        <a:rPr sz="900" spc="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sz="900" spc="-9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2515870" algn="l"/>
                        </a:tabLst>
                      </a:pPr>
                      <a:r>
                        <a:rPr sz="900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900" b="1" u="sng" spc="-5" dirty="0" err="1" smtClean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u="sng" spc="204" dirty="0" smtClean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y=7;</a:t>
                      </a:r>
                      <a:r>
                        <a:rPr sz="900" b="1" u="sng" spc="-5" dirty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u="sng" spc="155" dirty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x=y%10</a:t>
                      </a:r>
                      <a:r>
                        <a:rPr sz="900" u="sng" spc="-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;</a:t>
                      </a:r>
                      <a:r>
                        <a:rPr sz="900" u="sng" spc="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IN" sz="900" u="sng" spc="5" dirty="0" smtClean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u="sng" spc="-30" dirty="0" smtClean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u="sng" spc="-30" dirty="0" smtClean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produces</a:t>
                      </a:r>
                      <a:r>
                        <a:rPr sz="900" u="sng" spc="-90" dirty="0" smtClean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7</a:t>
                      </a:r>
                      <a:r>
                        <a:rPr sz="900" u="sng" spc="-90" dirty="0" smtClean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u="sng" spc="-90" dirty="0">
                          <a:solidFill>
                            <a:srgbClr val="B50A0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/	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15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8148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Relational</a:t>
            </a:r>
            <a:r>
              <a:rPr sz="1400" b="1" spc="-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675867"/>
            <a:ext cx="37376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  <a:tabLst>
                <a:tab pos="3630929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Relational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compare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two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operands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produce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 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’boolean’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result.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In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any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non-zero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value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(1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by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convention)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considered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to</a:t>
            </a:r>
            <a:r>
              <a:rPr sz="1100" u="sng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be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’true’</a:t>
            </a:r>
            <a:r>
              <a:rPr sz="1100" u="sng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and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0</a:t>
            </a:r>
            <a:r>
              <a:rPr sz="1100" u="sng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is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considered</a:t>
            </a:r>
            <a:r>
              <a:rPr sz="1100" u="sng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to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be</a:t>
            </a:r>
            <a:r>
              <a:rPr sz="1100" u="sng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100" u="sng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false.	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212062"/>
          <a:ext cx="3617595" cy="15992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/>
                <a:gridCol w="1416685"/>
                <a:gridCol w="1534795"/>
              </a:tblGrid>
              <a:tr h="189788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operator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3075">
                        <a:lnSpc>
                          <a:spcPts val="11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8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&gt;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greater</a:t>
                      </a:r>
                      <a:r>
                        <a:rPr sz="11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than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3&gt;2;</a:t>
                      </a:r>
                      <a:r>
                        <a:rPr sz="9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8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2.99&gt;3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&gt;=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greater</a:t>
                      </a: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than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equal</a:t>
                      </a:r>
                      <a:r>
                        <a:rPr sz="11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to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3&gt;=3;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2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2.99&gt;=3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0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&lt;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lesser</a:t>
                      </a:r>
                      <a:r>
                        <a:rPr sz="11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than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3&lt;3;</a:t>
                      </a:r>
                      <a:r>
                        <a:rPr sz="9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8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2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&lt;</a:t>
                      </a:r>
                      <a:r>
                        <a:rPr sz="900" spc="-20" dirty="0">
                          <a:latin typeface="Courier New"/>
                          <a:cs typeface="Courier New"/>
                        </a:rPr>
                        <a:t>’B’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-9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&lt;=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lesser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 than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equal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to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3&lt;=3;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3.99&lt;3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16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8148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Relational</a:t>
            </a:r>
            <a:r>
              <a:rPr sz="1400" b="1" spc="-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1268" y="922870"/>
          <a:ext cx="3150870" cy="88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/>
                <a:gridCol w="875665"/>
                <a:gridCol w="1609090"/>
              </a:tblGrid>
              <a:tr h="533933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operator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==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equal</a:t>
                      </a:r>
                      <a:r>
                        <a:rPr sz="11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to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3==3;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2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==</a:t>
                      </a:r>
                      <a:r>
                        <a:rPr sz="900" spc="-2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to 0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!=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equal</a:t>
                      </a: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to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3!=3;</a:t>
                      </a:r>
                      <a:r>
                        <a:rPr sz="900" spc="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8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0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2.99!=3</a:t>
                      </a:r>
                      <a:r>
                        <a:rPr sz="9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8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7294" y="715491"/>
            <a:ext cx="3720465" cy="2014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Microsoft Sans Serif"/>
                <a:cs typeface="Microsoft Sans Serif"/>
              </a:rPr>
              <a:t>Testing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equality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most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commonly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relational</a:t>
            </a:r>
            <a:endParaRPr sz="1100">
              <a:latin typeface="Microsoft Sans Serif"/>
              <a:cs typeface="Microsoft Sans Serif"/>
            </a:endParaRPr>
          </a:p>
          <a:p>
            <a:pPr marL="12700" marR="3145155">
              <a:lnSpc>
                <a:spcPts val="4180"/>
              </a:lnSpc>
              <a:spcBef>
                <a:spcPts val="595"/>
              </a:spcBef>
            </a:pPr>
            <a:r>
              <a:rPr sz="1100" spc="-10" dirty="0">
                <a:latin typeface="Microsoft Sans Serif"/>
                <a:cs typeface="Microsoft Sans Serif"/>
              </a:rPr>
              <a:t>ope</a:t>
            </a:r>
            <a:r>
              <a:rPr sz="1100" spc="-20" dirty="0">
                <a:latin typeface="Microsoft Sans Serif"/>
                <a:cs typeface="Microsoft Sans Serif"/>
              </a:rPr>
              <a:t>r</a:t>
            </a:r>
            <a:r>
              <a:rPr sz="1100" spc="-5" dirty="0">
                <a:latin typeface="Microsoft Sans Serif"/>
                <a:cs typeface="Microsoft Sans Serif"/>
              </a:rPr>
              <a:t>ato</a:t>
            </a:r>
            <a:r>
              <a:rPr sz="1100" spc="-60" dirty="0">
                <a:latin typeface="Microsoft Sans Serif"/>
                <a:cs typeface="Microsoft Sans Serif"/>
              </a:rPr>
              <a:t>r</a:t>
            </a:r>
            <a:r>
              <a:rPr sz="1100" spc="-5" dirty="0">
                <a:latin typeface="Microsoft Sans Serif"/>
                <a:cs typeface="Microsoft Sans Serif"/>
              </a:rPr>
              <a:t>.  Gotchas: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ts val="1035"/>
              </a:lnSpc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5" dirty="0">
                <a:latin typeface="Microsoft Sans Serif"/>
                <a:cs typeface="Microsoft Sans Serif"/>
              </a:rPr>
              <a:t>Note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that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"=="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equality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different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from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endParaRPr sz="1100">
              <a:latin typeface="Microsoft Sans Serif"/>
              <a:cs typeface="Microsoft Sans Serif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-5" dirty="0">
                <a:latin typeface="Microsoft Sans Serif"/>
                <a:cs typeface="Microsoft Sans Serif"/>
              </a:rPr>
              <a:t>"=",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assignment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operator.</a:t>
            </a:r>
            <a:endParaRPr sz="1100">
              <a:latin typeface="Microsoft Sans Serif"/>
              <a:cs typeface="Microsoft Sans Serif"/>
            </a:endParaRPr>
          </a:p>
          <a:p>
            <a:pPr marL="289560" marR="196215" indent="-132715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5" dirty="0">
                <a:latin typeface="Microsoft Sans Serif"/>
                <a:cs typeface="Microsoft Sans Serif"/>
              </a:rPr>
              <a:t>Note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that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"=="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ﬂoat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variables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tricky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because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ﬁnite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precision.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17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994" y="444754"/>
            <a:ext cx="3705225" cy="0"/>
          </a:xfrm>
          <a:custGeom>
            <a:avLst/>
            <a:gdLst/>
            <a:ahLst/>
            <a:cxnLst/>
            <a:rect l="l" t="t" r="r" b="b"/>
            <a:pathLst>
              <a:path w="3705225">
                <a:moveTo>
                  <a:pt x="0" y="0"/>
                </a:moveTo>
                <a:lnTo>
                  <a:pt x="370478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5519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Logical</a:t>
            </a:r>
            <a:r>
              <a:rPr sz="1400" b="1" spc="-3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467537"/>
          <a:ext cx="3703320" cy="1224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/>
                <a:gridCol w="682625"/>
                <a:gridCol w="2354580"/>
              </a:tblGrid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operator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&amp;&amp;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AND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((9/3)==3)</a:t>
                      </a:r>
                      <a:r>
                        <a:rPr sz="900" spc="1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&amp;&amp;</a:t>
                      </a:r>
                      <a:r>
                        <a:rPr sz="9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latin typeface="Microsoft Sans Serif"/>
                          <a:cs typeface="Microsoft Sans Serif"/>
                        </a:rPr>
                        <a:t>(2</a:t>
                      </a:r>
                      <a:r>
                        <a:rPr sz="900" spc="-3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latin typeface="Microsoft Sans Serif"/>
                          <a:cs typeface="Microsoft Sans Serif"/>
                        </a:rPr>
                        <a:t>3==6);</a:t>
                      </a:r>
                      <a:r>
                        <a:rPr sz="9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2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1193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==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&amp;&amp;</a:t>
                      </a:r>
                      <a:r>
                        <a:rPr sz="9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(3==3)</a:t>
                      </a:r>
                      <a:r>
                        <a:rPr sz="9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||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2==3</a:t>
                      </a:r>
                      <a:r>
                        <a:rPr sz="9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||</a:t>
                      </a:r>
                      <a:r>
                        <a:rPr sz="900" spc="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==</a:t>
                      </a:r>
                      <a:r>
                        <a:rPr sz="900" spc="-5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2.99&gt;=3</a:t>
                      </a:r>
                      <a:r>
                        <a:rPr sz="9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||</a:t>
                      </a:r>
                      <a:r>
                        <a:rPr sz="900" spc="1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4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!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Microsoft Sans Serif"/>
                          <a:cs typeface="Microsoft Sans Serif"/>
                        </a:rPr>
                        <a:t>NOT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54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!(3==3);</a:t>
                      </a:r>
                      <a:r>
                        <a:rPr sz="900" spc="2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8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4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!(2.99&gt;=3)</a:t>
                      </a:r>
                      <a:r>
                        <a:rPr sz="900" spc="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8415">
              <a:lnSpc>
                <a:spcPct val="102600"/>
              </a:lnSpc>
              <a:spcBef>
                <a:spcPts val="55"/>
              </a:spcBef>
            </a:pPr>
            <a:r>
              <a:rPr dirty="0"/>
              <a:t>Short </a:t>
            </a:r>
            <a:r>
              <a:rPr spc="-5" dirty="0"/>
              <a:t>circuit:</a:t>
            </a:r>
            <a:r>
              <a:rPr dirty="0"/>
              <a:t> </a:t>
            </a:r>
            <a:r>
              <a:rPr spc="-10" dirty="0"/>
              <a:t>The </a:t>
            </a:r>
            <a:r>
              <a:rPr spc="-15" dirty="0"/>
              <a:t>evaluation </a:t>
            </a:r>
            <a:r>
              <a:rPr spc="-5" dirty="0"/>
              <a:t>of </a:t>
            </a:r>
            <a:r>
              <a:rPr spc="-10" dirty="0"/>
              <a:t>an expression is discontinued if </a:t>
            </a:r>
            <a:r>
              <a:rPr spc="-280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15" dirty="0"/>
              <a:t>value</a:t>
            </a:r>
            <a:r>
              <a:rPr spc="15" dirty="0"/>
              <a:t> </a:t>
            </a:r>
            <a:r>
              <a:rPr spc="-5" dirty="0"/>
              <a:t>of</a:t>
            </a:r>
            <a:r>
              <a:rPr spc="15" dirty="0"/>
              <a:t> </a:t>
            </a:r>
            <a:r>
              <a:rPr spc="-10" dirty="0"/>
              <a:t>a</a:t>
            </a:r>
            <a:r>
              <a:rPr spc="15" dirty="0"/>
              <a:t> </a:t>
            </a:r>
            <a:r>
              <a:rPr spc="-10" dirty="0"/>
              <a:t>conditional</a:t>
            </a:r>
            <a:r>
              <a:rPr spc="15" dirty="0"/>
              <a:t> </a:t>
            </a:r>
            <a:r>
              <a:rPr spc="-10" dirty="0"/>
              <a:t>expression</a:t>
            </a:r>
            <a:r>
              <a:rPr spc="10" dirty="0"/>
              <a:t> </a:t>
            </a:r>
            <a:r>
              <a:rPr spc="-5" dirty="0"/>
              <a:t>can</a:t>
            </a:r>
            <a:r>
              <a:rPr spc="15" dirty="0"/>
              <a:t> </a:t>
            </a:r>
            <a:r>
              <a:rPr spc="-10" dirty="0"/>
              <a:t>be</a:t>
            </a:r>
            <a:r>
              <a:rPr spc="15" dirty="0"/>
              <a:t> </a:t>
            </a:r>
            <a:r>
              <a:rPr spc="-5" dirty="0"/>
              <a:t>determined</a:t>
            </a:r>
            <a:r>
              <a:rPr spc="15" dirty="0"/>
              <a:t> </a:t>
            </a:r>
            <a:r>
              <a:rPr spc="-25" dirty="0"/>
              <a:t>early. </a:t>
            </a:r>
            <a:r>
              <a:rPr spc="-20" dirty="0"/>
              <a:t> </a:t>
            </a:r>
            <a:r>
              <a:rPr spc="-10" dirty="0"/>
              <a:t>Be</a:t>
            </a:r>
            <a:r>
              <a:rPr spc="5" dirty="0"/>
              <a:t> </a:t>
            </a:r>
            <a:r>
              <a:rPr spc="-5" dirty="0"/>
              <a:t>careful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15" dirty="0"/>
              <a:t>any</a:t>
            </a:r>
            <a:r>
              <a:rPr spc="10" dirty="0"/>
              <a:t> </a:t>
            </a:r>
            <a:r>
              <a:rPr spc="-10" dirty="0"/>
              <a:t>side</a:t>
            </a:r>
            <a:r>
              <a:rPr spc="10" dirty="0"/>
              <a:t> </a:t>
            </a:r>
            <a:r>
              <a:rPr spc="-10" dirty="0"/>
              <a:t>effects</a:t>
            </a:r>
            <a:r>
              <a:rPr spc="5" dirty="0"/>
              <a:t> </a:t>
            </a:r>
            <a:r>
              <a:rPr spc="-10" dirty="0"/>
              <a:t>in</a:t>
            </a:r>
            <a:r>
              <a:rPr spc="10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10" dirty="0"/>
              <a:t>code.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10" dirty="0"/>
              <a:t>Examples:</a:t>
            </a:r>
          </a:p>
          <a:p>
            <a:pPr marL="289560" marR="85725" indent="-132715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/>
              <a:t>(3==3)</a:t>
            </a:r>
            <a:r>
              <a:rPr sz="900" spc="145" dirty="0"/>
              <a:t> </a:t>
            </a:r>
            <a:r>
              <a:rPr sz="900" spc="-5" dirty="0"/>
              <a:t>||</a:t>
            </a:r>
            <a:r>
              <a:rPr sz="900" spc="180" dirty="0"/>
              <a:t> </a:t>
            </a:r>
            <a:r>
              <a:rPr sz="900" spc="-5" dirty="0"/>
              <a:t>((</a:t>
            </a:r>
            <a:r>
              <a:rPr sz="900" spc="-135" dirty="0"/>
              <a:t> </a:t>
            </a:r>
            <a:r>
              <a:rPr sz="900" spc="-5" dirty="0"/>
              <a:t>c=getchar())==</a:t>
            </a:r>
            <a:r>
              <a:rPr sz="900" spc="-5" dirty="0">
                <a:latin typeface="Courier New"/>
                <a:cs typeface="Courier New"/>
              </a:rPr>
              <a:t>’y’</a:t>
            </a:r>
            <a:r>
              <a:rPr sz="900" spc="-5" dirty="0"/>
              <a:t>)</a:t>
            </a:r>
            <a:r>
              <a:rPr sz="1100" spc="-5" dirty="0"/>
              <a:t>.</a:t>
            </a:r>
            <a:r>
              <a:rPr sz="1100" spc="85" dirty="0"/>
              <a:t> </a:t>
            </a:r>
            <a:r>
              <a:rPr sz="1100" spc="-10" dirty="0"/>
              <a:t>The</a:t>
            </a:r>
            <a:r>
              <a:rPr sz="1100" spc="15" dirty="0"/>
              <a:t> </a:t>
            </a:r>
            <a:r>
              <a:rPr sz="1100" spc="-5" dirty="0"/>
              <a:t>second</a:t>
            </a:r>
            <a:r>
              <a:rPr sz="1100" spc="15" dirty="0"/>
              <a:t> </a:t>
            </a:r>
            <a:r>
              <a:rPr sz="1100" spc="-10" dirty="0"/>
              <a:t>expression</a:t>
            </a:r>
            <a:r>
              <a:rPr sz="1100" spc="10" dirty="0"/>
              <a:t> </a:t>
            </a:r>
            <a:r>
              <a:rPr sz="1100" spc="-10" dirty="0"/>
              <a:t>is</a:t>
            </a:r>
            <a:r>
              <a:rPr sz="1100" spc="15" dirty="0"/>
              <a:t> </a:t>
            </a:r>
            <a:r>
              <a:rPr sz="1100" spc="-5" dirty="0"/>
              <a:t>not </a:t>
            </a:r>
            <a:r>
              <a:rPr sz="1100" spc="-280" dirty="0"/>
              <a:t> </a:t>
            </a:r>
            <a:r>
              <a:rPr sz="1100" spc="-15" dirty="0"/>
              <a:t>evaluated.</a:t>
            </a:r>
            <a:endParaRPr sz="1100">
              <a:latin typeface="Courier New"/>
              <a:cs typeface="Courier New"/>
            </a:endParaRPr>
          </a:p>
          <a:p>
            <a:pPr marL="296545" indent="-140335">
              <a:lnSpc>
                <a:spcPct val="100000"/>
              </a:lnSpc>
              <a:spcBef>
                <a:spcPts val="334"/>
              </a:spcBef>
              <a:buSzPct val="111111"/>
              <a:buFont typeface="Arial"/>
              <a:buChar char="•"/>
              <a:tabLst>
                <a:tab pos="297180" algn="l"/>
              </a:tabLst>
            </a:pPr>
            <a:r>
              <a:rPr sz="900" spc="-5" dirty="0"/>
              <a:t>(0)</a:t>
            </a:r>
            <a:r>
              <a:rPr sz="900" spc="220" dirty="0"/>
              <a:t> </a:t>
            </a:r>
            <a:r>
              <a:rPr sz="900" spc="-5" dirty="0"/>
              <a:t>&amp;&amp;</a:t>
            </a:r>
            <a:r>
              <a:rPr sz="900" spc="15" dirty="0"/>
              <a:t> </a:t>
            </a:r>
            <a:r>
              <a:rPr sz="900" spc="-5" dirty="0"/>
              <a:t>((x=x+1)&gt;0)</a:t>
            </a:r>
            <a:r>
              <a:rPr sz="900" spc="60" dirty="0"/>
              <a:t> </a:t>
            </a:r>
            <a:r>
              <a:rPr sz="1100" spc="-5" dirty="0"/>
              <a:t>.</a:t>
            </a:r>
            <a:r>
              <a:rPr sz="1100" spc="85" dirty="0"/>
              <a:t> </a:t>
            </a:r>
            <a:r>
              <a:rPr sz="1100" spc="-10" dirty="0"/>
              <a:t>The</a:t>
            </a:r>
            <a:r>
              <a:rPr sz="1100" spc="15" dirty="0"/>
              <a:t> </a:t>
            </a:r>
            <a:r>
              <a:rPr sz="1100" spc="-5" dirty="0"/>
              <a:t>second</a:t>
            </a:r>
            <a:r>
              <a:rPr sz="1100" spc="10" dirty="0"/>
              <a:t> </a:t>
            </a:r>
            <a:r>
              <a:rPr sz="1100" spc="-10" dirty="0"/>
              <a:t>expression</a:t>
            </a:r>
            <a:r>
              <a:rPr sz="1100" spc="15" dirty="0"/>
              <a:t> </a:t>
            </a:r>
            <a:r>
              <a:rPr sz="1100" spc="-10" dirty="0"/>
              <a:t>is</a:t>
            </a:r>
            <a:r>
              <a:rPr sz="1100" spc="10" dirty="0"/>
              <a:t> </a:t>
            </a:r>
            <a:r>
              <a:rPr sz="1100" spc="-5" dirty="0"/>
              <a:t>not</a:t>
            </a:r>
            <a:r>
              <a:rPr sz="1100" spc="15" dirty="0"/>
              <a:t> </a:t>
            </a:r>
            <a:r>
              <a:rPr sz="1100" spc="-15" dirty="0"/>
              <a:t>evaluated.</a:t>
            </a:r>
            <a:endParaRPr sz="11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18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1311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Increment</a:t>
            </a:r>
            <a:r>
              <a:rPr sz="1400" b="1" spc="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993333"/>
                </a:solidFill>
                <a:latin typeface="Arial"/>
                <a:cs typeface="Arial"/>
              </a:rPr>
              <a:t>and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decrement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 operators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684058"/>
            <a:ext cx="3913504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3500">
              <a:lnSpc>
                <a:spcPct val="102600"/>
              </a:lnSpc>
              <a:spcBef>
                <a:spcPts val="55"/>
              </a:spcBef>
            </a:pPr>
            <a:r>
              <a:rPr sz="1100" spc="-5" dirty="0">
                <a:latin typeface="Microsoft Sans Serif"/>
                <a:cs typeface="Microsoft Sans Serif"/>
              </a:rPr>
              <a:t>Increment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decrement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common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arithmetic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operation.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provides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two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short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cuts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same.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15" dirty="0">
                <a:latin typeface="Arial"/>
                <a:cs typeface="Arial"/>
              </a:rPr>
              <a:t>Postﬁx</a:t>
            </a:r>
            <a:endParaRPr sz="1100">
              <a:latin typeface="Arial"/>
              <a:cs typeface="Arial"/>
            </a:endParaRPr>
          </a:p>
          <a:p>
            <a:pPr marL="289560" indent="-133350">
              <a:lnSpc>
                <a:spcPct val="100000"/>
              </a:lnSpc>
              <a:spcBef>
                <a:spcPts val="33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x++</a:t>
            </a:r>
            <a:r>
              <a:rPr sz="900" spc="5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short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cut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x=x+1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4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dirty="0">
                <a:latin typeface="Microsoft Sans Serif"/>
                <a:cs typeface="Microsoft Sans Serif"/>
              </a:rPr>
              <a:t>x</a:t>
            </a:r>
            <a:r>
              <a:rPr sz="900" dirty="0">
                <a:latin typeface="Lucida Sans Unicode"/>
                <a:cs typeface="Lucida Sans Unicode"/>
              </a:rPr>
              <a:t>−−</a:t>
            </a:r>
            <a:r>
              <a:rPr sz="900" spc="1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short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cut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x=x</a:t>
            </a:r>
            <a:r>
              <a:rPr sz="900" spc="-5" dirty="0">
                <a:latin typeface="Lucida Sans Unicode"/>
                <a:cs typeface="Lucida Sans Unicode"/>
              </a:rPr>
              <a:t>−</a:t>
            </a:r>
            <a:r>
              <a:rPr sz="900" spc="-5" dirty="0"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  <a:p>
            <a:pPr marL="289560" marR="74930" indent="-132715">
              <a:lnSpc>
                <a:spcPct val="102600"/>
              </a:lnSpc>
              <a:spcBef>
                <a:spcPts val="29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y=x++ </a:t>
            </a:r>
            <a:r>
              <a:rPr sz="1100" spc="-10" dirty="0">
                <a:latin typeface="Microsoft Sans Serif"/>
                <a:cs typeface="Microsoft Sans Serif"/>
              </a:rPr>
              <a:t>is a </a:t>
            </a:r>
            <a:r>
              <a:rPr sz="1100" dirty="0">
                <a:latin typeface="Microsoft Sans Serif"/>
                <a:cs typeface="Microsoft Sans Serif"/>
              </a:rPr>
              <a:t>short </a:t>
            </a:r>
            <a:r>
              <a:rPr sz="1100" spc="-5" dirty="0">
                <a:latin typeface="Microsoft Sans Serif"/>
                <a:cs typeface="Microsoft Sans Serif"/>
              </a:rPr>
              <a:t>cut </a:t>
            </a:r>
            <a:r>
              <a:rPr sz="1100" spc="-20" dirty="0">
                <a:latin typeface="Microsoft Sans Serif"/>
                <a:cs typeface="Microsoft Sans Serif"/>
              </a:rPr>
              <a:t>for </a:t>
            </a:r>
            <a:r>
              <a:rPr sz="900" spc="-5" dirty="0">
                <a:latin typeface="Microsoft Sans Serif"/>
                <a:cs typeface="Microsoft Sans Serif"/>
              </a:rPr>
              <a:t>y=x;x=x+1</a:t>
            </a:r>
            <a:r>
              <a:rPr sz="1100" spc="-5" dirty="0">
                <a:latin typeface="Microsoft Sans Serif"/>
                <a:cs typeface="Microsoft Sans Serif"/>
              </a:rPr>
              <a:t>.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x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15" dirty="0">
                <a:latin typeface="Microsoft Sans Serif"/>
                <a:cs typeface="Microsoft Sans Serif"/>
              </a:rPr>
              <a:t>evaluated </a:t>
            </a:r>
            <a:r>
              <a:rPr sz="1100" b="1" spc="-10" dirty="0">
                <a:latin typeface="Arial"/>
                <a:cs typeface="Arial"/>
              </a:rPr>
              <a:t>before </a:t>
            </a:r>
            <a:r>
              <a:rPr sz="1100" spc="-10" dirty="0">
                <a:latin typeface="Microsoft Sans Serif"/>
                <a:cs typeface="Microsoft Sans Serif"/>
              </a:rPr>
              <a:t>it is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incremented.</a:t>
            </a:r>
            <a:endParaRPr sz="1100">
              <a:latin typeface="Microsoft Sans Serif"/>
              <a:cs typeface="Microsoft Sans Serif"/>
            </a:endParaRPr>
          </a:p>
          <a:p>
            <a:pPr marL="289560" marR="5080" indent="-132715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y=x</a:t>
            </a:r>
            <a:r>
              <a:rPr sz="900" spc="-5" dirty="0">
                <a:latin typeface="Lucida Sans Unicode"/>
                <a:cs typeface="Lucida Sans Unicode"/>
              </a:rPr>
              <a:t>−−</a:t>
            </a:r>
            <a:r>
              <a:rPr sz="900" spc="1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short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cut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y=x;x=x</a:t>
            </a:r>
            <a:r>
              <a:rPr sz="900" spc="-5" dirty="0">
                <a:latin typeface="Lucida Sans Unicode"/>
                <a:cs typeface="Lucida Sans Unicode"/>
              </a:rPr>
              <a:t>−</a:t>
            </a:r>
            <a:r>
              <a:rPr sz="900" spc="-5" dirty="0">
                <a:latin typeface="Microsoft Sans Serif"/>
                <a:cs typeface="Microsoft Sans Serif"/>
              </a:rPr>
              <a:t>1</a:t>
            </a:r>
            <a:r>
              <a:rPr sz="1100" spc="-5" dirty="0">
                <a:latin typeface="Microsoft Sans Serif"/>
                <a:cs typeface="Microsoft Sans Serif"/>
              </a:rPr>
              <a:t>.</a:t>
            </a:r>
            <a:r>
              <a:rPr sz="1100" spc="85" dirty="0">
                <a:latin typeface="Microsoft Sans Serif"/>
                <a:cs typeface="Microsoft Sans Serif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x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evaluated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Arial"/>
                <a:cs typeface="Arial"/>
              </a:rPr>
              <a:t>before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decremented.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19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1311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Increment</a:t>
            </a:r>
            <a:r>
              <a:rPr sz="1400" b="1" spc="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993333"/>
                </a:solidFill>
                <a:latin typeface="Arial"/>
                <a:cs typeface="Arial"/>
              </a:rPr>
              <a:t>and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decrement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 operators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738604"/>
            <a:ext cx="3751579" cy="14198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" dirty="0">
                <a:latin typeface="Microsoft Sans Serif"/>
                <a:cs typeface="Microsoft Sans Serif"/>
              </a:rPr>
              <a:t>Preﬁx:</a:t>
            </a:r>
            <a:endParaRPr sz="1100">
              <a:latin typeface="Microsoft Sans Serif"/>
              <a:cs typeface="Microsoft Sans Serif"/>
            </a:endParaRPr>
          </a:p>
          <a:p>
            <a:pPr marL="156845">
              <a:lnSpc>
                <a:spcPct val="100000"/>
              </a:lnSpc>
              <a:spcBef>
                <a:spcPts val="334"/>
              </a:spcBef>
            </a:pPr>
            <a:r>
              <a:rPr sz="1500" i="1" spc="217" baseline="2777" dirty="0">
                <a:latin typeface="Arial"/>
                <a:cs typeface="Arial"/>
              </a:rPr>
              <a:t>•</a:t>
            </a:r>
            <a:r>
              <a:rPr sz="1500" i="1" spc="382" baseline="2777" dirty="0"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++x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short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cut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x=x+1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dirty="0">
                <a:latin typeface="Lucida Sans Unicode"/>
                <a:cs typeface="Lucida Sans Unicode"/>
              </a:rPr>
              <a:t>−−</a:t>
            </a:r>
            <a:r>
              <a:rPr sz="900" dirty="0">
                <a:latin typeface="Microsoft Sans Serif"/>
                <a:cs typeface="Microsoft Sans Serif"/>
              </a:rPr>
              <a:t>x</a:t>
            </a:r>
            <a:r>
              <a:rPr sz="900" spc="5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short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cut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x=x</a:t>
            </a:r>
            <a:r>
              <a:rPr sz="900" spc="-5" dirty="0">
                <a:latin typeface="Lucida Sans Unicode"/>
                <a:cs typeface="Lucida Sans Unicode"/>
              </a:rPr>
              <a:t>−</a:t>
            </a:r>
            <a:r>
              <a:rPr sz="900" spc="-5" dirty="0"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  <a:p>
            <a:pPr marL="289560" marR="78740" indent="-132715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y=++x </a:t>
            </a:r>
            <a:r>
              <a:rPr sz="1100" spc="-10" dirty="0">
                <a:latin typeface="Microsoft Sans Serif"/>
                <a:cs typeface="Microsoft Sans Serif"/>
              </a:rPr>
              <a:t>is a </a:t>
            </a:r>
            <a:r>
              <a:rPr sz="1100" dirty="0">
                <a:latin typeface="Microsoft Sans Serif"/>
                <a:cs typeface="Microsoft Sans Serif"/>
              </a:rPr>
              <a:t>short </a:t>
            </a:r>
            <a:r>
              <a:rPr sz="1100" spc="-5" dirty="0">
                <a:latin typeface="Microsoft Sans Serif"/>
                <a:cs typeface="Microsoft Sans Serif"/>
              </a:rPr>
              <a:t>cut </a:t>
            </a:r>
            <a:r>
              <a:rPr sz="1100" spc="-20" dirty="0">
                <a:latin typeface="Microsoft Sans Serif"/>
                <a:cs typeface="Microsoft Sans Serif"/>
              </a:rPr>
              <a:t>for </a:t>
            </a:r>
            <a:r>
              <a:rPr sz="900" spc="-5" dirty="0">
                <a:latin typeface="Microsoft Sans Serif"/>
                <a:cs typeface="Microsoft Sans Serif"/>
              </a:rPr>
              <a:t>x=x+1;y=x;</a:t>
            </a:r>
            <a:r>
              <a:rPr sz="1100" spc="-5" dirty="0">
                <a:latin typeface="Microsoft Sans Serif"/>
                <a:cs typeface="Microsoft Sans Serif"/>
              </a:rPr>
              <a:t>.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x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15" dirty="0">
                <a:latin typeface="Microsoft Sans Serif"/>
                <a:cs typeface="Microsoft Sans Serif"/>
              </a:rPr>
              <a:t>evaluate </a:t>
            </a:r>
            <a:r>
              <a:rPr sz="1100" b="1" spc="-5" dirty="0">
                <a:latin typeface="Arial"/>
                <a:cs typeface="Arial"/>
              </a:rPr>
              <a:t>after </a:t>
            </a:r>
            <a:r>
              <a:rPr sz="1100" spc="-10" dirty="0">
                <a:latin typeface="Microsoft Sans Serif"/>
                <a:cs typeface="Microsoft Sans Serif"/>
              </a:rPr>
              <a:t>it is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incremented.</a:t>
            </a:r>
            <a:endParaRPr sz="1100">
              <a:latin typeface="Microsoft Sans Serif"/>
              <a:cs typeface="Microsoft Sans Serif"/>
            </a:endParaRPr>
          </a:p>
          <a:p>
            <a:pPr marL="289560" marR="5080" indent="-132715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y=</a:t>
            </a:r>
            <a:r>
              <a:rPr sz="900" spc="-5" dirty="0">
                <a:latin typeface="Lucida Sans Unicode"/>
                <a:cs typeface="Lucida Sans Unicode"/>
              </a:rPr>
              <a:t>−−</a:t>
            </a:r>
            <a:r>
              <a:rPr sz="900" spc="-5" dirty="0">
                <a:latin typeface="Microsoft Sans Serif"/>
                <a:cs typeface="Microsoft Sans Serif"/>
              </a:rPr>
              <a:t>x </a:t>
            </a:r>
            <a:r>
              <a:rPr sz="1100" spc="-10" dirty="0">
                <a:latin typeface="Microsoft Sans Serif"/>
                <a:cs typeface="Microsoft Sans Serif"/>
              </a:rPr>
              <a:t>is a </a:t>
            </a:r>
            <a:r>
              <a:rPr sz="1100" dirty="0">
                <a:latin typeface="Microsoft Sans Serif"/>
                <a:cs typeface="Microsoft Sans Serif"/>
              </a:rPr>
              <a:t>short </a:t>
            </a:r>
            <a:r>
              <a:rPr sz="1100" spc="-5" dirty="0">
                <a:latin typeface="Microsoft Sans Serif"/>
                <a:cs typeface="Microsoft Sans Serif"/>
              </a:rPr>
              <a:t>cut </a:t>
            </a:r>
            <a:r>
              <a:rPr sz="1100" spc="-20" dirty="0">
                <a:latin typeface="Microsoft Sans Serif"/>
                <a:cs typeface="Microsoft Sans Serif"/>
              </a:rPr>
              <a:t>for </a:t>
            </a:r>
            <a:r>
              <a:rPr sz="900" spc="-5" dirty="0">
                <a:latin typeface="Microsoft Sans Serif"/>
                <a:cs typeface="Microsoft Sans Serif"/>
              </a:rPr>
              <a:t>x=x</a:t>
            </a:r>
            <a:r>
              <a:rPr sz="900" spc="-5" dirty="0">
                <a:latin typeface="Lucida Sans Unicode"/>
                <a:cs typeface="Lucida Sans Unicode"/>
              </a:rPr>
              <a:t>−</a:t>
            </a:r>
            <a:r>
              <a:rPr sz="900" spc="-5" dirty="0">
                <a:latin typeface="Microsoft Sans Serif"/>
                <a:cs typeface="Microsoft Sans Serif"/>
              </a:rPr>
              <a:t>1;y=x;</a:t>
            </a:r>
            <a:r>
              <a:rPr sz="1100" spc="-5" dirty="0">
                <a:latin typeface="Microsoft Sans Serif"/>
                <a:cs typeface="Microsoft Sans Serif"/>
              </a:rPr>
              <a:t>.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x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15" dirty="0">
                <a:latin typeface="Microsoft Sans Serif"/>
                <a:cs typeface="Microsoft Sans Serif"/>
              </a:rPr>
              <a:t>evaluate </a:t>
            </a:r>
            <a:r>
              <a:rPr sz="1100" b="1" spc="-5" dirty="0">
                <a:latin typeface="Arial"/>
                <a:cs typeface="Arial"/>
              </a:rPr>
              <a:t>after </a:t>
            </a:r>
            <a:r>
              <a:rPr sz="1100" spc="-10" dirty="0">
                <a:latin typeface="Microsoft Sans Serif"/>
                <a:cs typeface="Microsoft Sans Serif"/>
              </a:rPr>
              <a:t>it is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decremented.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20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994" y="424853"/>
            <a:ext cx="3452495" cy="0"/>
          </a:xfrm>
          <a:custGeom>
            <a:avLst/>
            <a:gdLst/>
            <a:ahLst/>
            <a:cxnLst/>
            <a:rect l="l" t="t" r="r" b="b"/>
            <a:pathLst>
              <a:path w="3452495">
                <a:moveTo>
                  <a:pt x="0" y="0"/>
                </a:moveTo>
                <a:lnTo>
                  <a:pt x="345224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5824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Bitwise</a:t>
            </a:r>
            <a:r>
              <a:rPr sz="1400" b="1" spc="-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447624"/>
          <a:ext cx="3451224" cy="1923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/>
                <a:gridCol w="715645"/>
                <a:gridCol w="2069464"/>
              </a:tblGrid>
              <a:tr h="17713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operator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meaning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examples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&amp;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AND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0x77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0x3;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0x3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406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0x77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0x0;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7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4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|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0x700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|</a:t>
                      </a:r>
                      <a:r>
                        <a:rPr sz="9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0x33;</a:t>
                      </a:r>
                      <a:r>
                        <a:rPr sz="9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0x733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1778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0x070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|</a:t>
                      </a:r>
                      <a:r>
                        <a:rPr sz="9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9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0x070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ˆ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XOR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0x770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^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0x773;</a:t>
                      </a:r>
                      <a:r>
                        <a:rPr sz="9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6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0x3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0x33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^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0x33;</a:t>
                      </a:r>
                      <a:r>
                        <a:rPr sz="9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3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8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2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«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left</a:t>
                      </a:r>
                      <a:r>
                        <a:rPr sz="11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shift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0x01&lt;&lt;4;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0x10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1&lt;&lt;2;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»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right</a:t>
                      </a:r>
                      <a:r>
                        <a:rPr sz="11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" dirty="0">
                          <a:latin typeface="Microsoft Sans Serif"/>
                          <a:cs typeface="Microsoft Sans Serif"/>
                        </a:rPr>
                        <a:t>shift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0x010&gt;&gt;4;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0x01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4&gt;&gt;1</a:t>
                      </a:r>
                      <a:r>
                        <a:rPr sz="9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evaluates</a:t>
                      </a:r>
                      <a:r>
                        <a:rPr sz="900" spc="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900" spc="114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292220"/>
            <a:ext cx="311975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" dirty="0">
                <a:latin typeface="Microsoft Sans Serif"/>
                <a:cs typeface="Microsoft Sans Serif"/>
              </a:rPr>
              <a:t>Notes: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true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only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Arial"/>
                <a:cs typeface="Arial"/>
              </a:rPr>
              <a:t>both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operands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true.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true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b="1" spc="-15" dirty="0">
                <a:latin typeface="Arial"/>
                <a:cs typeface="Arial"/>
              </a:rPr>
              <a:t>any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true.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XOR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true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Arial"/>
                <a:cs typeface="Arial"/>
              </a:rPr>
              <a:t>only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one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true.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21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9869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Assignment</a:t>
            </a:r>
            <a:r>
              <a:rPr sz="1400" b="1" spc="-3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531328"/>
            <a:ext cx="3818254" cy="24999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5" dirty="0">
                <a:latin typeface="Microsoft Sans Serif"/>
                <a:cs typeface="Microsoft Sans Serif"/>
              </a:rPr>
              <a:t>Another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common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type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found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while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programming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type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var</a:t>
            </a:r>
            <a:r>
              <a:rPr sz="900" spc="15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=</a:t>
            </a:r>
            <a:r>
              <a:rPr sz="900" spc="4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var</a:t>
            </a:r>
            <a:r>
              <a:rPr sz="900" spc="200" dirty="0">
                <a:latin typeface="Microsoft Sans Serif"/>
                <a:cs typeface="Microsoft Sans Serif"/>
              </a:rPr>
              <a:t> </a:t>
            </a:r>
            <a:r>
              <a:rPr sz="900" spc="10" dirty="0">
                <a:latin typeface="Microsoft Sans Serif"/>
                <a:cs typeface="Microsoft Sans Serif"/>
              </a:rPr>
              <a:t>(op)</a:t>
            </a:r>
            <a:r>
              <a:rPr sz="900" spc="75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expr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83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x=x+1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0" dirty="0">
                <a:latin typeface="Microsoft Sans Serif"/>
                <a:cs typeface="Microsoft Sans Serif"/>
              </a:rPr>
              <a:t>x=x</a:t>
            </a:r>
            <a:r>
              <a:rPr sz="900" spc="-50" dirty="0">
                <a:latin typeface="Lucida Sans Unicode"/>
                <a:cs typeface="Lucida Sans Unicode"/>
              </a:rPr>
              <a:t>∗</a:t>
            </a:r>
            <a:r>
              <a:rPr sz="900" spc="-50" dirty="0">
                <a:latin typeface="Microsoft Sans Serif"/>
                <a:cs typeface="Microsoft Sans Serif"/>
              </a:rPr>
              <a:t>10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x=x/2</a:t>
            </a:r>
            <a:endParaRPr sz="900">
              <a:latin typeface="Microsoft Sans Serif"/>
              <a:cs typeface="Microsoft Sans Serif"/>
            </a:endParaRPr>
          </a:p>
          <a:p>
            <a:pPr marL="12700" marR="142875">
              <a:lnSpc>
                <a:spcPct val="102600"/>
              </a:lnSpc>
              <a:spcBef>
                <a:spcPts val="640"/>
              </a:spcBef>
            </a:pP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provides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compact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assignment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that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can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used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instead.</a:t>
            </a:r>
            <a:endParaRPr sz="11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3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x+=1</a:t>
            </a:r>
            <a:r>
              <a:rPr sz="900" dirty="0">
                <a:latin typeface="Microsoft Sans Serif"/>
                <a:cs typeface="Microsoft Sans Serif"/>
              </a:rPr>
              <a:t> </a:t>
            </a:r>
            <a:r>
              <a:rPr sz="900" spc="-6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6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65" dirty="0">
                <a:solidFill>
                  <a:srgbClr val="B50A0A"/>
                </a:solidFill>
                <a:latin typeface="Microsoft Sans Serif"/>
                <a:cs typeface="Microsoft Sans Serif"/>
              </a:rPr>
              <a:t>is</a:t>
            </a:r>
            <a:r>
              <a:rPr sz="900" spc="16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the</a:t>
            </a:r>
            <a:r>
              <a:rPr sz="900" spc="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</a:t>
            </a:r>
            <a:r>
              <a:rPr sz="900" spc="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x=x+1</a:t>
            </a:r>
            <a:r>
              <a:rPr sz="900" spc="-4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spc="-5" dirty="0">
                <a:latin typeface="Microsoft Sans Serif"/>
                <a:cs typeface="Microsoft Sans Serif"/>
              </a:rPr>
              <a:t>=1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is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the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2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x=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x</a:t>
            </a:r>
            <a:r>
              <a:rPr sz="900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1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5" dirty="0">
                <a:latin typeface="Microsoft Sans Serif"/>
                <a:cs typeface="Microsoft Sans Serif"/>
              </a:rPr>
              <a:t>x</a:t>
            </a:r>
            <a:r>
              <a:rPr sz="900" spc="-55" dirty="0">
                <a:latin typeface="Lucida Sans Unicode"/>
                <a:cs typeface="Lucida Sans Unicode"/>
              </a:rPr>
              <a:t>∗</a:t>
            </a:r>
            <a:r>
              <a:rPr sz="900" spc="-55" dirty="0">
                <a:latin typeface="Microsoft Sans Serif"/>
                <a:cs typeface="Microsoft Sans Serif"/>
              </a:rPr>
              <a:t>=10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70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7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70" dirty="0">
                <a:solidFill>
                  <a:srgbClr val="B50A0A"/>
                </a:solidFill>
                <a:latin typeface="Microsoft Sans Serif"/>
                <a:cs typeface="Microsoft Sans Serif"/>
              </a:rPr>
              <a:t>is</a:t>
            </a:r>
            <a:r>
              <a:rPr sz="900" spc="-1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the</a:t>
            </a:r>
            <a:r>
              <a:rPr sz="900" spc="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spc="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</a:t>
            </a:r>
            <a:r>
              <a:rPr sz="900" spc="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B50A0A"/>
                </a:solidFill>
                <a:latin typeface="Microsoft Sans Serif"/>
                <a:cs typeface="Microsoft Sans Serif"/>
              </a:rPr>
              <a:t>x=x</a:t>
            </a:r>
            <a:r>
              <a:rPr sz="900" spc="-4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45" dirty="0">
                <a:solidFill>
                  <a:srgbClr val="B50A0A"/>
                </a:solidFill>
                <a:latin typeface="Microsoft Sans Serif"/>
                <a:cs typeface="Microsoft Sans Serif"/>
              </a:rPr>
              <a:t>10</a:t>
            </a:r>
            <a:r>
              <a:rPr sz="900" spc="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3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x/=2</a:t>
            </a:r>
            <a:r>
              <a:rPr sz="900" spc="10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is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the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x=x/2</a:t>
            </a:r>
            <a:endParaRPr sz="90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x%=2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is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the</a:t>
            </a:r>
            <a:r>
              <a:rPr sz="900" spc="3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x=x%2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22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0"/>
            <a:ext cx="4613275" cy="3461385"/>
            <a:chOff x="-2540" y="0"/>
            <a:chExt cx="4613275" cy="3461385"/>
          </a:xfrm>
        </p:grpSpPr>
        <p:sp>
          <p:nvSpPr>
            <p:cNvPr id="3" name="object 3"/>
            <p:cNvSpPr/>
            <p:nvPr/>
          </p:nvSpPr>
          <p:spPr>
            <a:xfrm>
              <a:off x="1093139" y="1990864"/>
              <a:ext cx="2421890" cy="0"/>
            </a:xfrm>
            <a:custGeom>
              <a:avLst/>
              <a:gdLst/>
              <a:ahLst/>
              <a:cxnLst/>
              <a:rect l="l" t="t" r="r" b="b"/>
              <a:pathLst>
                <a:path w="2421890">
                  <a:moveTo>
                    <a:pt x="0" y="0"/>
                  </a:moveTo>
                  <a:lnTo>
                    <a:pt x="242172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93139" y="1993392"/>
              <a:ext cx="0" cy="737870"/>
            </a:xfrm>
            <a:custGeom>
              <a:avLst/>
              <a:gdLst/>
              <a:ahLst/>
              <a:cxnLst/>
              <a:rect l="l" t="t" r="r" b="b"/>
              <a:pathLst>
                <a:path h="737869">
                  <a:moveTo>
                    <a:pt x="0" y="73764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93139" y="2733573"/>
              <a:ext cx="2421890" cy="0"/>
            </a:xfrm>
            <a:custGeom>
              <a:avLst/>
              <a:gdLst/>
              <a:ahLst/>
              <a:cxnLst/>
              <a:rect l="l" t="t" r="r" b="b"/>
              <a:pathLst>
                <a:path w="2421890">
                  <a:moveTo>
                    <a:pt x="0" y="0"/>
                  </a:moveTo>
                  <a:lnTo>
                    <a:pt x="242172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2060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Conditional</a:t>
            </a:r>
            <a:r>
              <a:rPr sz="1400" b="1" spc="-2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Expression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418666"/>
            <a:ext cx="3822700" cy="1416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common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pattern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(and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most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programming)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languages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following:</a:t>
            </a:r>
            <a:endParaRPr sz="1100">
              <a:latin typeface="Microsoft Sans Serif"/>
              <a:cs typeface="Microsoft Sans Serif"/>
            </a:endParaRPr>
          </a:p>
          <a:p>
            <a:pPr marL="34925">
              <a:lnSpc>
                <a:spcPct val="100000"/>
              </a:lnSpc>
              <a:spcBef>
                <a:spcPts val="575"/>
              </a:spcBef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(</a:t>
            </a:r>
            <a:r>
              <a:rPr sz="900" spc="-80" dirty="0">
                <a:latin typeface="Microsoft Sans Serif"/>
                <a:cs typeface="Microsoft Sans Serif"/>
              </a:rPr>
              <a:t> </a:t>
            </a:r>
            <a:r>
              <a:rPr sz="900" spc="35" dirty="0">
                <a:latin typeface="Microsoft Sans Serif"/>
                <a:cs typeface="Microsoft Sans Serif"/>
              </a:rPr>
              <a:t>con</a:t>
            </a:r>
            <a:r>
              <a:rPr sz="900" spc="-5" dirty="0">
                <a:latin typeface="Microsoft Sans Serif"/>
                <a:cs typeface="Microsoft Sans Serif"/>
              </a:rPr>
              <a:t>d</a:t>
            </a:r>
            <a:r>
              <a:rPr sz="900" spc="-8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)</a:t>
            </a:r>
            <a:endParaRPr sz="900">
              <a:latin typeface="Microsoft Sans Serif"/>
              <a:cs typeface="Microsoft Sans Serif"/>
            </a:endParaRPr>
          </a:p>
          <a:p>
            <a:pPr marL="154940">
              <a:lnSpc>
                <a:spcPct val="100000"/>
              </a:lnSpc>
              <a:spcBef>
                <a:spcPts val="15"/>
              </a:spcBef>
            </a:pPr>
            <a:r>
              <a:rPr sz="900" spc="40" dirty="0">
                <a:latin typeface="Microsoft Sans Serif"/>
                <a:cs typeface="Microsoft Sans Serif"/>
              </a:rPr>
              <a:t>x=&lt;expra</a:t>
            </a:r>
            <a:r>
              <a:rPr sz="900" spc="-35" dirty="0">
                <a:latin typeface="Microsoft Sans Serif"/>
                <a:cs typeface="Microsoft Sans Serif"/>
              </a:rPr>
              <a:t> </a:t>
            </a:r>
            <a:r>
              <a:rPr sz="900" spc="45" dirty="0">
                <a:latin typeface="Microsoft Sans Serif"/>
                <a:cs typeface="Microsoft Sans Serif"/>
              </a:rPr>
              <a:t>&gt;;</a:t>
            </a:r>
            <a:endParaRPr sz="900">
              <a:latin typeface="Microsoft Sans Serif"/>
              <a:cs typeface="Microsoft Sans Serif"/>
            </a:endParaRPr>
          </a:p>
          <a:p>
            <a:pPr marL="22860">
              <a:lnSpc>
                <a:spcPct val="100000"/>
              </a:lnSpc>
              <a:spcBef>
                <a:spcPts val="15"/>
              </a:spcBef>
            </a:pP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15"/>
              </a:spcBef>
            </a:pPr>
            <a:r>
              <a:rPr sz="900" spc="40" dirty="0">
                <a:latin typeface="Microsoft Sans Serif"/>
                <a:cs typeface="Microsoft Sans Serif"/>
              </a:rPr>
              <a:t>x=&lt;exprb</a:t>
            </a:r>
            <a:r>
              <a:rPr sz="900" spc="-35" dirty="0">
                <a:latin typeface="Microsoft Sans Serif"/>
                <a:cs typeface="Microsoft Sans Serif"/>
              </a:rPr>
              <a:t> </a:t>
            </a:r>
            <a:r>
              <a:rPr sz="900" spc="45" dirty="0">
                <a:latin typeface="Microsoft Sans Serif"/>
                <a:cs typeface="Microsoft Sans Serif"/>
              </a:rPr>
              <a:t>&gt;;</a:t>
            </a:r>
            <a:endParaRPr sz="900">
              <a:latin typeface="Microsoft Sans Serif"/>
              <a:cs typeface="Microsoft Sans Serif"/>
            </a:endParaRPr>
          </a:p>
          <a:p>
            <a:pPr marL="12700" marR="296545">
              <a:lnSpc>
                <a:spcPct val="102600"/>
              </a:lnSpc>
              <a:spcBef>
                <a:spcPts val="640"/>
              </a:spcBef>
            </a:pPr>
            <a:r>
              <a:rPr sz="1100" spc="-10" dirty="0">
                <a:latin typeface="Microsoft Sans Serif"/>
                <a:cs typeface="Microsoft Sans Serif"/>
              </a:rPr>
              <a:t>C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provides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i="1" spc="-5" dirty="0">
                <a:latin typeface="Arial"/>
                <a:cs typeface="Arial"/>
              </a:rPr>
              <a:t>syntactic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sugar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same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using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ternary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’?:’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1950" y="2005998"/>
            <a:ext cx="9493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latin typeface="Microsoft Sans Serif"/>
                <a:cs typeface="Microsoft Sans Serif"/>
              </a:rPr>
              <a:t>s</a:t>
            </a:r>
            <a:r>
              <a:rPr sz="900" spc="-140" dirty="0">
                <a:latin typeface="Microsoft Sans Serif"/>
                <a:cs typeface="Microsoft Sans Serif"/>
              </a:rPr>
              <a:t> </a:t>
            </a:r>
            <a:r>
              <a:rPr sz="900" spc="90" dirty="0">
                <a:latin typeface="Microsoft Sans Serif"/>
                <a:cs typeface="Microsoft Sans Serif"/>
              </a:rPr>
              <a:t>i</a:t>
            </a:r>
            <a:r>
              <a:rPr sz="900" spc="95" dirty="0">
                <a:latin typeface="Microsoft Sans Serif"/>
                <a:cs typeface="Microsoft Sans Serif"/>
              </a:rPr>
              <a:t>g</a:t>
            </a:r>
            <a:r>
              <a:rPr sz="900" spc="100" dirty="0">
                <a:latin typeface="Microsoft Sans Serif"/>
                <a:cs typeface="Microsoft Sans Serif"/>
              </a:rPr>
              <a:t>n</a:t>
            </a:r>
            <a:r>
              <a:rPr sz="900" spc="30" dirty="0">
                <a:latin typeface="Microsoft Sans Serif"/>
                <a:cs typeface="Microsoft Sans Serif"/>
              </a:rPr>
              <a:t>=</a:t>
            </a:r>
            <a:r>
              <a:rPr sz="900" spc="-5" dirty="0">
                <a:latin typeface="Microsoft Sans Serif"/>
                <a:cs typeface="Microsoft Sans Serif"/>
              </a:rPr>
              <a:t>x</a:t>
            </a:r>
            <a:r>
              <a:rPr sz="900" spc="-125" dirty="0">
                <a:latin typeface="Microsoft Sans Serif"/>
                <a:cs typeface="Microsoft Sans Serif"/>
              </a:rPr>
              <a:t> </a:t>
            </a:r>
            <a:r>
              <a:rPr sz="900" spc="50" dirty="0">
                <a:latin typeface="Microsoft Sans Serif"/>
                <a:cs typeface="Microsoft Sans Serif"/>
              </a:rPr>
              <a:t>&gt;0?1</a:t>
            </a:r>
            <a:r>
              <a:rPr sz="900" spc="-5" dirty="0">
                <a:latin typeface="Microsoft Sans Serif"/>
                <a:cs typeface="Microsoft Sans Serif"/>
              </a:rPr>
              <a:t>:</a:t>
            </a:r>
            <a:r>
              <a:rPr sz="900" spc="-125" dirty="0">
                <a:latin typeface="Microsoft Sans Serif"/>
                <a:cs typeface="Microsoft Sans Serif"/>
              </a:rPr>
              <a:t> </a:t>
            </a:r>
            <a:r>
              <a:rPr sz="900" spc="55" dirty="0">
                <a:latin typeface="Lucida Sans Unicode"/>
                <a:cs typeface="Lucida Sans Unicode"/>
              </a:rPr>
              <a:t>−</a:t>
            </a:r>
            <a:r>
              <a:rPr sz="900" spc="50" dirty="0">
                <a:latin typeface="Microsoft Sans Serif"/>
                <a:cs typeface="Microsoft Sans Serif"/>
              </a:rPr>
              <a:t>1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9398" y="2145177"/>
            <a:ext cx="621030" cy="5797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39065" marR="78740" indent="-127635">
              <a:lnSpc>
                <a:spcPct val="101499"/>
              </a:lnSpc>
              <a:spcBef>
                <a:spcPts val="80"/>
              </a:spcBef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(</a:t>
            </a:r>
            <a:r>
              <a:rPr sz="900" spc="-9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x</a:t>
            </a:r>
            <a:r>
              <a:rPr sz="900" spc="-110" dirty="0">
                <a:latin typeface="Microsoft Sans Serif"/>
                <a:cs typeface="Microsoft Sans Serif"/>
              </a:rPr>
              <a:t> </a:t>
            </a:r>
            <a:r>
              <a:rPr sz="900" spc="65" dirty="0">
                <a:latin typeface="Microsoft Sans Serif"/>
                <a:cs typeface="Microsoft Sans Serif"/>
              </a:rPr>
              <a:t>&gt;0</a:t>
            </a:r>
            <a:r>
              <a:rPr sz="900" spc="-5" dirty="0">
                <a:latin typeface="Microsoft Sans Serif"/>
                <a:cs typeface="Microsoft Sans Serif"/>
              </a:rPr>
              <a:t>)  s</a:t>
            </a:r>
            <a:r>
              <a:rPr sz="900" spc="-140" dirty="0">
                <a:latin typeface="Microsoft Sans Serif"/>
                <a:cs typeface="Microsoft Sans Serif"/>
              </a:rPr>
              <a:t> </a:t>
            </a:r>
            <a:r>
              <a:rPr sz="900" spc="90" dirty="0">
                <a:latin typeface="Microsoft Sans Serif"/>
                <a:cs typeface="Microsoft Sans Serif"/>
              </a:rPr>
              <a:t>i</a:t>
            </a:r>
            <a:r>
              <a:rPr sz="900" spc="95" dirty="0">
                <a:latin typeface="Microsoft Sans Serif"/>
                <a:cs typeface="Microsoft Sans Serif"/>
              </a:rPr>
              <a:t>g</a:t>
            </a:r>
            <a:r>
              <a:rPr sz="900" spc="-5" dirty="0">
                <a:latin typeface="Microsoft Sans Serif"/>
                <a:cs typeface="Microsoft Sans Serif"/>
              </a:rPr>
              <a:t>n</a:t>
            </a:r>
            <a:r>
              <a:rPr sz="900" spc="-120" dirty="0">
                <a:latin typeface="Microsoft Sans Serif"/>
                <a:cs typeface="Microsoft Sans Serif"/>
              </a:rPr>
              <a:t> </a:t>
            </a:r>
            <a:r>
              <a:rPr sz="900" spc="10" dirty="0">
                <a:latin typeface="Microsoft Sans Serif"/>
                <a:cs typeface="Microsoft Sans Serif"/>
              </a:rPr>
              <a:t>=</a:t>
            </a:r>
            <a:r>
              <a:rPr sz="900" spc="-5" dirty="0"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139065">
              <a:lnSpc>
                <a:spcPct val="100000"/>
              </a:lnSpc>
              <a:spcBef>
                <a:spcPts val="15"/>
              </a:spcBef>
            </a:pPr>
            <a:r>
              <a:rPr sz="900" spc="-5" dirty="0">
                <a:latin typeface="Microsoft Sans Serif"/>
                <a:cs typeface="Microsoft Sans Serif"/>
              </a:rPr>
              <a:t>s</a:t>
            </a:r>
            <a:r>
              <a:rPr sz="900" spc="-140" dirty="0">
                <a:latin typeface="Microsoft Sans Serif"/>
                <a:cs typeface="Microsoft Sans Serif"/>
              </a:rPr>
              <a:t> </a:t>
            </a:r>
            <a:r>
              <a:rPr sz="900" spc="90" dirty="0">
                <a:latin typeface="Microsoft Sans Serif"/>
                <a:cs typeface="Microsoft Sans Serif"/>
              </a:rPr>
              <a:t>i</a:t>
            </a:r>
            <a:r>
              <a:rPr sz="900" spc="95" dirty="0">
                <a:latin typeface="Microsoft Sans Serif"/>
                <a:cs typeface="Microsoft Sans Serif"/>
              </a:rPr>
              <a:t>g</a:t>
            </a:r>
            <a:r>
              <a:rPr sz="900" spc="70" dirty="0">
                <a:latin typeface="Microsoft Sans Serif"/>
                <a:cs typeface="Microsoft Sans Serif"/>
              </a:rPr>
              <a:t>n</a:t>
            </a:r>
            <a:r>
              <a:rPr sz="900" spc="-55" dirty="0">
                <a:latin typeface="Microsoft Sans Serif"/>
                <a:cs typeface="Microsoft Sans Serif"/>
              </a:rPr>
              <a:t>=</a:t>
            </a:r>
            <a:r>
              <a:rPr sz="900" spc="-25" dirty="0">
                <a:latin typeface="Lucida Sans Unicode"/>
                <a:cs typeface="Lucida Sans Unicode"/>
              </a:rPr>
              <a:t>−</a:t>
            </a:r>
            <a:r>
              <a:rPr sz="900" spc="-5" dirty="0"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1519" y="1990864"/>
            <a:ext cx="1313815" cy="74295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215"/>
              </a:spcBef>
            </a:pPr>
            <a:r>
              <a:rPr sz="900" spc="55" dirty="0">
                <a:latin typeface="Microsoft Sans Serif"/>
                <a:cs typeface="Microsoft Sans Serif"/>
              </a:rPr>
              <a:t>isodd=x%2==1?1:0;</a:t>
            </a:r>
            <a:endParaRPr sz="900">
              <a:latin typeface="Microsoft Sans Serif"/>
              <a:cs typeface="Microsoft Sans Serif"/>
            </a:endParaRPr>
          </a:p>
          <a:p>
            <a:pPr marL="223520" marR="548005" indent="-126364">
              <a:lnSpc>
                <a:spcPct val="101499"/>
              </a:lnSpc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(</a:t>
            </a:r>
            <a:r>
              <a:rPr sz="900" spc="-75" dirty="0">
                <a:latin typeface="Microsoft Sans Serif"/>
                <a:cs typeface="Microsoft Sans Serif"/>
              </a:rPr>
              <a:t> </a:t>
            </a:r>
            <a:r>
              <a:rPr sz="900" spc="50" dirty="0">
                <a:latin typeface="Microsoft Sans Serif"/>
                <a:cs typeface="Microsoft Sans Serif"/>
              </a:rPr>
              <a:t>x</a:t>
            </a:r>
            <a:r>
              <a:rPr sz="900" spc="5" dirty="0">
                <a:latin typeface="Microsoft Sans Serif"/>
                <a:cs typeface="Microsoft Sans Serif"/>
              </a:rPr>
              <a:t>%2==1</a:t>
            </a:r>
            <a:r>
              <a:rPr sz="900" spc="-5" dirty="0">
                <a:latin typeface="Microsoft Sans Serif"/>
                <a:cs typeface="Microsoft Sans Serif"/>
              </a:rPr>
              <a:t>)  </a:t>
            </a:r>
            <a:r>
              <a:rPr sz="900" spc="65" dirty="0">
                <a:latin typeface="Microsoft Sans Serif"/>
                <a:cs typeface="Microsoft Sans Serif"/>
              </a:rPr>
              <a:t>isodd=1</a:t>
            </a:r>
            <a:endParaRPr sz="900">
              <a:latin typeface="Microsoft Sans Serif"/>
              <a:cs typeface="Microsoft Sans Serif"/>
            </a:endParaRPr>
          </a:p>
          <a:p>
            <a:pPr marL="85725">
              <a:lnSpc>
                <a:spcPct val="100000"/>
              </a:lnSpc>
              <a:spcBef>
                <a:spcPts val="15"/>
              </a:spcBef>
            </a:pP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15"/>
              </a:spcBef>
            </a:pPr>
            <a:r>
              <a:rPr sz="900" spc="65" dirty="0">
                <a:latin typeface="Microsoft Sans Serif"/>
                <a:cs typeface="Microsoft Sans Serif"/>
              </a:rPr>
              <a:t>isodd=0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7294" y="2848049"/>
            <a:ext cx="37287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Microsoft Sans Serif"/>
                <a:cs typeface="Microsoft Sans Serif"/>
              </a:rPr>
              <a:t>Notice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how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ternary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makes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code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shorter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easier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understand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(syntactic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sugar).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5" dirty="0"/>
              <a:t>23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584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5" dirty="0">
                <a:solidFill>
                  <a:srgbClr val="993333"/>
                </a:solidFill>
                <a:latin typeface="Arial"/>
                <a:cs typeface="Arial"/>
              </a:rPr>
              <a:t>Type</a:t>
            </a:r>
            <a:r>
              <a:rPr sz="1400" b="1" spc="-5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Conversions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410615"/>
            <a:ext cx="4178300" cy="2813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8511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Microsoft Sans Serif"/>
                <a:cs typeface="Microsoft Sans Serif"/>
              </a:rPr>
              <a:t>When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variables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are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promoted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higher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precision,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data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5" dirty="0">
                <a:latin typeface="Microsoft Sans Serif"/>
                <a:cs typeface="Microsoft Sans Serif"/>
              </a:rPr>
              <a:t> preserved.</a:t>
            </a:r>
            <a:r>
              <a:rPr sz="1100" spc="8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This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automatically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done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by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compiler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for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mixed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data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type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expressions.</a:t>
            </a:r>
            <a:endParaRPr sz="1100">
              <a:latin typeface="Microsoft Sans Serif"/>
              <a:cs typeface="Microsoft Sans Serif"/>
            </a:endParaRPr>
          </a:p>
          <a:p>
            <a:pPr marL="165735">
              <a:lnSpc>
                <a:spcPct val="100000"/>
              </a:lnSpc>
              <a:spcBef>
                <a:spcPts val="575"/>
              </a:spcBef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i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endParaRPr sz="900">
              <a:latin typeface="Microsoft Sans Serif"/>
              <a:cs typeface="Microsoft Sans Serif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f</a:t>
            </a:r>
            <a:r>
              <a:rPr sz="900" spc="4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endParaRPr sz="900">
              <a:latin typeface="Microsoft Sans Serif"/>
              <a:cs typeface="Microsoft Sans Serif"/>
            </a:endParaRPr>
          </a:p>
          <a:p>
            <a:pPr marL="167005">
              <a:lnSpc>
                <a:spcPct val="100000"/>
              </a:lnSpc>
              <a:spcBef>
                <a:spcPts val="15"/>
              </a:spcBef>
            </a:pPr>
            <a:r>
              <a:rPr sz="900" spc="-5" dirty="0">
                <a:latin typeface="Microsoft Sans Serif"/>
                <a:cs typeface="Microsoft Sans Serif"/>
              </a:rPr>
              <a:t>f</a:t>
            </a:r>
            <a:r>
              <a:rPr sz="900" spc="-9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=</a:t>
            </a:r>
            <a:r>
              <a:rPr sz="900" spc="-65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i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+</a:t>
            </a:r>
            <a:r>
              <a:rPr sz="900" spc="-16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3</a:t>
            </a:r>
            <a:r>
              <a:rPr sz="900" spc="-16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.</a:t>
            </a:r>
            <a:r>
              <a:rPr sz="900" spc="-160" dirty="0">
                <a:latin typeface="Microsoft Sans Serif"/>
                <a:cs typeface="Microsoft Sans Serif"/>
              </a:rPr>
              <a:t> </a:t>
            </a:r>
            <a:r>
              <a:rPr sz="900" spc="60" dirty="0">
                <a:latin typeface="Microsoft Sans Serif"/>
                <a:cs typeface="Microsoft Sans Serif"/>
              </a:rPr>
              <a:t>14159</a:t>
            </a:r>
            <a:r>
              <a:rPr sz="900" spc="-16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r>
              <a:rPr sz="900" spc="50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1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6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</a:t>
            </a:r>
            <a:r>
              <a:rPr sz="900" spc="5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45" dirty="0">
                <a:solidFill>
                  <a:srgbClr val="B50A0A"/>
                </a:solidFill>
                <a:latin typeface="Microsoft Sans Serif"/>
                <a:cs typeface="Microsoft Sans Serif"/>
              </a:rPr>
              <a:t>promoted </a:t>
            </a:r>
            <a:r>
              <a:rPr sz="900" spc="18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Microsoft Sans Serif"/>
                <a:cs typeface="Microsoft Sans Serif"/>
              </a:rPr>
              <a:t>to </a:t>
            </a:r>
            <a:r>
              <a:rPr sz="900" spc="26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f</a:t>
            </a:r>
            <a:r>
              <a:rPr sz="900" spc="-1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l</a:t>
            </a:r>
            <a:r>
              <a:rPr sz="900" spc="-1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o</a:t>
            </a:r>
            <a:r>
              <a:rPr sz="900" spc="-1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</a:t>
            </a:r>
            <a:r>
              <a:rPr sz="900" spc="-9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19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,</a:t>
            </a:r>
            <a:r>
              <a:rPr sz="900" spc="58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f</a:t>
            </a:r>
            <a:r>
              <a:rPr sz="900" spc="-1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40" dirty="0">
                <a:solidFill>
                  <a:srgbClr val="B50A0A"/>
                </a:solidFill>
                <a:latin typeface="Microsoft Sans Serif"/>
                <a:cs typeface="Microsoft Sans Serif"/>
              </a:rPr>
              <a:t>=(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f</a:t>
            </a:r>
            <a:r>
              <a:rPr sz="900" spc="-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l</a:t>
            </a:r>
            <a:r>
              <a:rPr sz="900" spc="-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o</a:t>
            </a:r>
            <a:r>
              <a:rPr sz="900" spc="-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</a:t>
            </a:r>
            <a:r>
              <a:rPr sz="900" spc="-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4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)</a:t>
            </a:r>
            <a:r>
              <a:rPr sz="900" spc="4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 </a:t>
            </a:r>
            <a:r>
              <a:rPr sz="900" spc="50" dirty="0">
                <a:solidFill>
                  <a:srgbClr val="B50A0A"/>
                </a:solidFill>
                <a:latin typeface="Microsoft Sans Serif"/>
                <a:cs typeface="Microsoft Sans Serif"/>
              </a:rPr>
              <a:t>+3.14159</a:t>
            </a:r>
            <a:r>
              <a:rPr sz="900" spc="-5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00" spc="-5" dirty="0">
                <a:latin typeface="Microsoft Sans Serif"/>
                <a:cs typeface="Microsoft Sans Serif"/>
              </a:rPr>
              <a:t>Another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conversion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done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automatically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by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compiler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’char’</a:t>
            </a:r>
            <a:endParaRPr sz="1100">
              <a:latin typeface="Microsoft Sans Serif"/>
              <a:cs typeface="Microsoft Sans Serif"/>
            </a:endParaRPr>
          </a:p>
          <a:p>
            <a:pPr marL="12700" marR="485775">
              <a:lnSpc>
                <a:spcPct val="102600"/>
              </a:lnSpc>
            </a:pPr>
            <a:r>
              <a:rPr sz="1100" i="1" spc="-10" dirty="0">
                <a:latin typeface="Arial"/>
                <a:cs typeface="Arial"/>
              </a:rPr>
              <a:t>→ </a:t>
            </a:r>
            <a:r>
              <a:rPr sz="1100" spc="-5" dirty="0">
                <a:latin typeface="Microsoft Sans Serif"/>
                <a:cs typeface="Microsoft Sans Serif"/>
              </a:rPr>
              <a:t>’int’.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This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allows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comparisons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well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manupilations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 </a:t>
            </a:r>
            <a:r>
              <a:rPr sz="1100" spc="-2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character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variables.</a:t>
            </a:r>
            <a:endParaRPr sz="1100">
              <a:latin typeface="Microsoft Sans Serif"/>
              <a:cs typeface="Microsoft Sans Serif"/>
            </a:endParaRPr>
          </a:p>
          <a:p>
            <a:pPr marL="161925">
              <a:lnSpc>
                <a:spcPct val="100000"/>
              </a:lnSpc>
              <a:spcBef>
                <a:spcPts val="570"/>
              </a:spcBef>
            </a:pPr>
            <a:r>
              <a:rPr sz="900" spc="-10" dirty="0">
                <a:latin typeface="Microsoft Sans Serif"/>
                <a:cs typeface="Microsoft Sans Serif"/>
              </a:rPr>
              <a:t>i</a:t>
            </a:r>
            <a:r>
              <a:rPr sz="900" spc="-140" dirty="0">
                <a:latin typeface="Microsoft Sans Serif"/>
                <a:cs typeface="Microsoft Sans Serif"/>
              </a:rPr>
              <a:t> </a:t>
            </a:r>
            <a:r>
              <a:rPr sz="900" spc="80" dirty="0">
                <a:latin typeface="Microsoft Sans Serif"/>
                <a:cs typeface="Microsoft Sans Serif"/>
              </a:rPr>
              <a:t>supper</a:t>
            </a:r>
            <a:r>
              <a:rPr sz="900" spc="-55" dirty="0">
                <a:latin typeface="Microsoft Sans Serif"/>
                <a:cs typeface="Microsoft Sans Serif"/>
              </a:rPr>
              <a:t> </a:t>
            </a:r>
            <a:r>
              <a:rPr sz="900" spc="40" dirty="0">
                <a:latin typeface="Microsoft Sans Serif"/>
                <a:cs typeface="Microsoft Sans Serif"/>
              </a:rPr>
              <a:t>=(</a:t>
            </a:r>
            <a:r>
              <a:rPr sz="900" spc="-130" dirty="0">
                <a:latin typeface="Microsoft Sans Serif"/>
                <a:cs typeface="Microsoft Sans Serif"/>
              </a:rPr>
              <a:t> </a:t>
            </a:r>
            <a:r>
              <a:rPr sz="900" spc="10" dirty="0">
                <a:latin typeface="Microsoft Sans Serif"/>
                <a:cs typeface="Microsoft Sans Serif"/>
              </a:rPr>
              <a:t>c&gt;=</a:t>
            </a:r>
            <a:r>
              <a:rPr sz="900" spc="10" dirty="0">
                <a:latin typeface="Courier New"/>
                <a:cs typeface="Courier New"/>
              </a:rPr>
              <a:t>’A’</a:t>
            </a:r>
            <a:r>
              <a:rPr sz="900" spc="-45" dirty="0">
                <a:latin typeface="Courier New"/>
                <a:cs typeface="Courier New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&amp;&amp;</a:t>
            </a:r>
            <a:r>
              <a:rPr sz="900" spc="290" dirty="0">
                <a:latin typeface="Microsoft Sans Serif"/>
                <a:cs typeface="Microsoft Sans Serif"/>
              </a:rPr>
              <a:t> </a:t>
            </a:r>
            <a:r>
              <a:rPr sz="900" spc="10" dirty="0">
                <a:latin typeface="Microsoft Sans Serif"/>
                <a:cs typeface="Microsoft Sans Serif"/>
              </a:rPr>
              <a:t>c&lt;=</a:t>
            </a:r>
            <a:r>
              <a:rPr sz="900" spc="10" dirty="0">
                <a:latin typeface="Courier New"/>
                <a:cs typeface="Courier New"/>
              </a:rPr>
              <a:t>’Z’</a:t>
            </a:r>
            <a:r>
              <a:rPr sz="900" spc="-409" dirty="0">
                <a:latin typeface="Courier New"/>
                <a:cs typeface="Courier New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)</a:t>
            </a:r>
            <a:r>
              <a:rPr sz="900" spc="-1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?</a:t>
            </a:r>
            <a:r>
              <a:rPr sz="900" spc="-1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1</a:t>
            </a:r>
            <a:r>
              <a:rPr sz="900" spc="-1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:</a:t>
            </a:r>
            <a:r>
              <a:rPr sz="900" spc="-1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0</a:t>
            </a:r>
            <a:r>
              <a:rPr sz="900" spc="-1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r>
              <a:rPr sz="900" spc="55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7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c</a:t>
            </a:r>
            <a:r>
              <a:rPr sz="900" spc="3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and  </a:t>
            </a:r>
            <a:r>
              <a:rPr sz="900" spc="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l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r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</a:t>
            </a:r>
            <a:r>
              <a:rPr sz="900" spc="-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l</a:t>
            </a:r>
            <a:r>
              <a:rPr sz="900" spc="6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85" dirty="0">
                <a:solidFill>
                  <a:srgbClr val="B50A0A"/>
                </a:solidFill>
                <a:latin typeface="Microsoft Sans Serif"/>
                <a:cs typeface="Microsoft Sans Serif"/>
              </a:rPr>
              <a:t>constants</a:t>
            </a:r>
            <a:endParaRPr sz="900">
              <a:latin typeface="Microsoft Sans Serif"/>
              <a:cs typeface="Microsoft Sans Serif"/>
            </a:endParaRPr>
          </a:p>
          <a:p>
            <a:pPr marL="2618740">
              <a:lnSpc>
                <a:spcPct val="100000"/>
              </a:lnSpc>
              <a:spcBef>
                <a:spcPts val="20"/>
              </a:spcBef>
            </a:pPr>
            <a:r>
              <a:rPr sz="900" spc="70" dirty="0">
                <a:solidFill>
                  <a:srgbClr val="B50A0A"/>
                </a:solidFill>
                <a:latin typeface="Microsoft Sans Serif"/>
                <a:cs typeface="Microsoft Sans Serif"/>
              </a:rPr>
              <a:t>ar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85" dirty="0">
                <a:solidFill>
                  <a:srgbClr val="B50A0A"/>
                </a:solidFill>
                <a:latin typeface="Microsoft Sans Serif"/>
                <a:cs typeface="Microsoft Sans Serif"/>
              </a:rPr>
              <a:t>conver</a:t>
            </a:r>
            <a:r>
              <a:rPr sz="900" spc="80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85" dirty="0">
                <a:solidFill>
                  <a:srgbClr val="B50A0A"/>
                </a:solidFill>
                <a:latin typeface="Microsoft Sans Serif"/>
                <a:cs typeface="Microsoft Sans Serif"/>
              </a:rPr>
              <a:t>e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d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2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100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o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9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-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n</a:t>
            </a:r>
            <a:r>
              <a:rPr sz="900" spc="-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4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171450">
              <a:lnSpc>
                <a:spcPct val="100000"/>
              </a:lnSpc>
              <a:spcBef>
                <a:spcPts val="15"/>
              </a:spcBef>
            </a:pP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(</a:t>
            </a:r>
            <a:r>
              <a:rPr sz="900" spc="-6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!</a:t>
            </a:r>
            <a:r>
              <a:rPr sz="900" spc="4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i</a:t>
            </a:r>
            <a:r>
              <a:rPr sz="900" spc="-140" dirty="0">
                <a:latin typeface="Microsoft Sans Serif"/>
                <a:cs typeface="Microsoft Sans Serif"/>
              </a:rPr>
              <a:t> </a:t>
            </a:r>
            <a:r>
              <a:rPr sz="900" spc="95" dirty="0">
                <a:latin typeface="Microsoft Sans Serif"/>
                <a:cs typeface="Microsoft Sans Serif"/>
              </a:rPr>
              <a:t>suppe</a:t>
            </a:r>
            <a:r>
              <a:rPr sz="900" spc="-5" dirty="0">
                <a:latin typeface="Microsoft Sans Serif"/>
                <a:cs typeface="Microsoft Sans Serif"/>
              </a:rPr>
              <a:t>r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)</a:t>
            </a:r>
            <a:endParaRPr sz="900">
              <a:latin typeface="Microsoft Sans Serif"/>
              <a:cs typeface="Microsoft Sans Serif"/>
            </a:endParaRPr>
          </a:p>
          <a:p>
            <a:pPr marL="291465">
              <a:lnSpc>
                <a:spcPct val="100000"/>
              </a:lnSpc>
              <a:spcBef>
                <a:spcPts val="15"/>
              </a:spcBef>
            </a:pPr>
            <a:r>
              <a:rPr sz="900" spc="45" dirty="0">
                <a:latin typeface="Microsoft Sans Serif"/>
                <a:cs typeface="Microsoft Sans Serif"/>
              </a:rPr>
              <a:t>c</a:t>
            </a:r>
            <a:r>
              <a:rPr sz="900" spc="30" dirty="0">
                <a:latin typeface="Microsoft Sans Serif"/>
                <a:cs typeface="Microsoft Sans Serif"/>
              </a:rPr>
              <a:t>=</a:t>
            </a:r>
            <a:r>
              <a:rPr sz="900" spc="-35" dirty="0">
                <a:latin typeface="Microsoft Sans Serif"/>
                <a:cs typeface="Microsoft Sans Serif"/>
              </a:rPr>
              <a:t>c</a:t>
            </a:r>
            <a:r>
              <a:rPr sz="900" spc="-90" dirty="0">
                <a:latin typeface="Lucida Sans Unicode"/>
                <a:cs typeface="Lucida Sans Unicode"/>
              </a:rPr>
              <a:t>−</a:t>
            </a:r>
            <a:r>
              <a:rPr sz="900" spc="-5" dirty="0">
                <a:latin typeface="Courier New"/>
                <a:cs typeface="Courier New"/>
              </a:rPr>
              <a:t>’a</a:t>
            </a:r>
            <a:r>
              <a:rPr sz="900" dirty="0">
                <a:latin typeface="Courier New"/>
                <a:cs typeface="Courier New"/>
              </a:rPr>
              <a:t>’</a:t>
            </a:r>
            <a:r>
              <a:rPr sz="900" dirty="0">
                <a:latin typeface="Microsoft Sans Serif"/>
                <a:cs typeface="Microsoft Sans Serif"/>
              </a:rPr>
              <a:t>+</a:t>
            </a:r>
            <a:r>
              <a:rPr sz="900" spc="-5" dirty="0">
                <a:latin typeface="Courier New"/>
                <a:cs typeface="Courier New"/>
              </a:rPr>
              <a:t>’A’</a:t>
            </a:r>
            <a:r>
              <a:rPr sz="900" spc="-400" dirty="0">
                <a:latin typeface="Courier New"/>
                <a:cs typeface="Courier New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;</a:t>
            </a:r>
            <a:r>
              <a:rPr sz="900" dirty="0">
                <a:latin typeface="Microsoft Sans Serif"/>
                <a:cs typeface="Microsoft Sans Serif"/>
              </a:rPr>
              <a:t>  </a:t>
            </a:r>
            <a:r>
              <a:rPr sz="900" spc="8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4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u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b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r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c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n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9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7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p</a:t>
            </a:r>
            <a:r>
              <a:rPr sz="900" spc="-1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</a:t>
            </a:r>
            <a:r>
              <a:rPr sz="900" spc="-1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s</a:t>
            </a:r>
            <a:r>
              <a:rPr sz="900" spc="-1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b</a:t>
            </a:r>
            <a:r>
              <a:rPr sz="900" spc="-1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l</a:t>
            </a:r>
            <a:r>
              <a:rPr sz="900" spc="-13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</a:t>
            </a:r>
            <a:endParaRPr sz="900">
              <a:latin typeface="Microsoft Sans Serif"/>
              <a:cs typeface="Microsoft Sans Serif"/>
            </a:endParaRPr>
          </a:p>
          <a:p>
            <a:pPr marL="1590040">
              <a:lnSpc>
                <a:spcPct val="100000"/>
              </a:lnSpc>
              <a:spcBef>
                <a:spcPts val="15"/>
              </a:spcBef>
            </a:pPr>
            <a:r>
              <a:rPr sz="900" spc="40" dirty="0">
                <a:solidFill>
                  <a:srgbClr val="B50A0A"/>
                </a:solidFill>
                <a:latin typeface="Microsoft Sans Serif"/>
                <a:cs typeface="Microsoft Sans Serif"/>
              </a:rPr>
              <a:t>becaus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-2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105" dirty="0">
                <a:solidFill>
                  <a:srgbClr val="B50A0A"/>
                </a:solidFill>
                <a:latin typeface="Microsoft Sans Serif"/>
                <a:cs typeface="Microsoft Sans Serif"/>
              </a:rPr>
              <a:t>o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f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n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t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g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e</a:t>
            </a:r>
            <a:r>
              <a:rPr sz="900" spc="-114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r</a:t>
            </a:r>
            <a:r>
              <a:rPr sz="900" dirty="0">
                <a:solidFill>
                  <a:srgbClr val="B50A0A"/>
                </a:solidFill>
                <a:latin typeface="Microsoft Sans Serif"/>
                <a:cs typeface="Microsoft Sans Serif"/>
              </a:rPr>
              <a:t>  </a:t>
            </a:r>
            <a:r>
              <a:rPr sz="900" spc="4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90" dirty="0">
                <a:solidFill>
                  <a:srgbClr val="B50A0A"/>
                </a:solidFill>
                <a:latin typeface="Microsoft Sans Serif"/>
                <a:cs typeface="Microsoft Sans Serif"/>
              </a:rPr>
              <a:t>convers</a:t>
            </a:r>
            <a:r>
              <a:rPr sz="900" spc="85" dirty="0">
                <a:solidFill>
                  <a:srgbClr val="B50A0A"/>
                </a:solidFill>
                <a:latin typeface="Microsoft Sans Serif"/>
                <a:cs typeface="Microsoft Sans Serif"/>
              </a:rPr>
              <a:t>i</a:t>
            </a:r>
            <a:r>
              <a:rPr sz="900" spc="90" dirty="0">
                <a:solidFill>
                  <a:srgbClr val="B50A0A"/>
                </a:solidFill>
                <a:latin typeface="Microsoft Sans Serif"/>
                <a:cs typeface="Microsoft Sans Serif"/>
              </a:rPr>
              <a:t>o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n</a:t>
            </a:r>
            <a:r>
              <a:rPr sz="900" spc="-2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254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>
              <a:latin typeface="Microsoft Sans Serif"/>
              <a:cs typeface="Microsoft Sans Serif"/>
            </a:endParaRPr>
          </a:p>
          <a:p>
            <a:pPr marL="12700" marR="282575">
              <a:lnSpc>
                <a:spcPct val="102600"/>
              </a:lnSpc>
              <a:spcBef>
                <a:spcPts val="640"/>
              </a:spcBef>
            </a:pPr>
            <a:r>
              <a:rPr sz="1100" spc="-10" dirty="0">
                <a:latin typeface="Microsoft Sans Serif"/>
                <a:cs typeface="Microsoft Sans Serif"/>
              </a:rPr>
              <a:t>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rule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(with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exceptions),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compiler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promotes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each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term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binary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highest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precision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operand.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Microsoft Sans Serif"/>
                <a:cs typeface="Microsoft Sans Serif"/>
              </a:rPr>
              <a:t>24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157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Precedence</a:t>
            </a:r>
            <a:r>
              <a:rPr sz="1400" b="1" spc="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993333"/>
                </a:solidFill>
                <a:latin typeface="Arial"/>
                <a:cs typeface="Arial"/>
              </a:rPr>
              <a:t>and</a:t>
            </a:r>
            <a:r>
              <a:rPr sz="1400" b="1" spc="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Order </a:t>
            </a:r>
            <a:r>
              <a:rPr sz="1400" b="1" spc="15" dirty="0">
                <a:solidFill>
                  <a:srgbClr val="993333"/>
                </a:solidFill>
                <a:latin typeface="Arial"/>
                <a:cs typeface="Arial"/>
              </a:rPr>
              <a:t>of</a:t>
            </a:r>
            <a:r>
              <a:rPr sz="1400" b="1" spc="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993333"/>
                </a:solidFill>
                <a:latin typeface="Arial"/>
                <a:cs typeface="Arial"/>
              </a:rPr>
              <a:t>Evaluation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623034"/>
            <a:ext cx="3272154" cy="19513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9560" indent="-133350">
              <a:lnSpc>
                <a:spcPct val="100000"/>
              </a:lnSpc>
              <a:spcBef>
                <a:spcPts val="434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10" dirty="0">
                <a:latin typeface="Microsoft Sans Serif"/>
                <a:cs typeface="Microsoft Sans Serif"/>
              </a:rPr>
              <a:t>++,–,(cast),sizeof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have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highest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priority</a:t>
            </a:r>
            <a:endParaRPr sz="1100" dirty="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5" dirty="0">
                <a:latin typeface="Microsoft Sans Serif"/>
                <a:cs typeface="Microsoft Sans Serif"/>
              </a:rPr>
              <a:t>*,/,%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have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higher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priority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than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 smtClean="0">
                <a:latin typeface="Microsoft Sans Serif"/>
                <a:cs typeface="Microsoft Sans Serif"/>
              </a:rPr>
              <a:t>+,­</a:t>
            </a:r>
            <a:r>
              <a:rPr lang="en-IN" sz="1100" spc="-5" dirty="0" smtClean="0">
                <a:latin typeface="Microsoft Sans Serif"/>
                <a:cs typeface="Microsoft Sans Serif"/>
              </a:rPr>
              <a:t>-</a:t>
            </a:r>
            <a:endParaRPr sz="1100" dirty="0">
              <a:latin typeface="Microsoft Sans Serif"/>
              <a:cs typeface="Microsoft Sans Serif"/>
            </a:endParaRPr>
          </a:p>
          <a:p>
            <a:pPr marL="156845">
              <a:lnSpc>
                <a:spcPct val="100000"/>
              </a:lnSpc>
              <a:spcBef>
                <a:spcPts val="330"/>
              </a:spcBef>
            </a:pPr>
            <a:r>
              <a:rPr sz="1500" i="1" spc="217" baseline="2777" dirty="0">
                <a:latin typeface="Arial"/>
                <a:cs typeface="Arial"/>
              </a:rPr>
              <a:t>•</a:t>
            </a:r>
            <a:r>
              <a:rPr sz="1500" i="1" spc="382" baseline="2777" dirty="0">
                <a:latin typeface="Arial"/>
                <a:cs typeface="Arial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==,!=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have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higher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priority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than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&amp;&amp;,||</a:t>
            </a:r>
            <a:endParaRPr sz="1100" dirty="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90195" algn="l"/>
              </a:tabLst>
            </a:pPr>
            <a:r>
              <a:rPr sz="1100" spc="-10" dirty="0">
                <a:latin typeface="Microsoft Sans Serif"/>
                <a:cs typeface="Microsoft Sans Serif"/>
              </a:rPr>
              <a:t>assignment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have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very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low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priority</a:t>
            </a:r>
            <a:endParaRPr sz="11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spc="-10" dirty="0">
                <a:latin typeface="Microsoft Sans Serif"/>
                <a:cs typeface="Microsoft Sans Serif"/>
              </a:rPr>
              <a:t>Use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()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generously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to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avoid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ambiguities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side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effects </a:t>
            </a:r>
            <a:r>
              <a:rPr sz="1100" spc="-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associated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with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precendence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Microsoft Sans Serif"/>
                <a:cs typeface="Microsoft Sans Serif"/>
              </a:rPr>
              <a:t>of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operators.</a:t>
            </a:r>
            <a:endParaRPr sz="1100" dirty="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830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40" dirty="0">
                <a:latin typeface="Microsoft Sans Serif"/>
                <a:cs typeface="Microsoft Sans Serif"/>
              </a:rPr>
              <a:t>y=x</a:t>
            </a:r>
            <a:r>
              <a:rPr sz="900" spc="-40" dirty="0">
                <a:latin typeface="Lucida Sans Unicode"/>
                <a:cs typeface="Lucida Sans Unicode"/>
              </a:rPr>
              <a:t>∗</a:t>
            </a:r>
            <a:r>
              <a:rPr sz="900" spc="-40" dirty="0">
                <a:latin typeface="Microsoft Sans Serif"/>
                <a:cs typeface="Microsoft Sans Serif"/>
              </a:rPr>
              <a:t>3+2</a:t>
            </a:r>
            <a:r>
              <a:rPr sz="900" spc="-10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4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45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spc="-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 </a:t>
            </a:r>
            <a:r>
              <a:rPr sz="900" spc="-50" dirty="0">
                <a:solidFill>
                  <a:srgbClr val="B50A0A"/>
                </a:solidFill>
                <a:latin typeface="Microsoft Sans Serif"/>
                <a:cs typeface="Microsoft Sans Serif"/>
              </a:rPr>
              <a:t>y=(x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0" dirty="0">
                <a:solidFill>
                  <a:srgbClr val="B50A0A"/>
                </a:solidFill>
                <a:latin typeface="Microsoft Sans Serif"/>
                <a:cs typeface="Microsoft Sans Serif"/>
              </a:rPr>
              <a:t>3)+2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0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 dirty="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x!=0</a:t>
            </a:r>
            <a:r>
              <a:rPr sz="900" spc="5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&amp;&amp;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y==0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0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(x!=0)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&amp;&amp;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B50A0A"/>
                </a:solidFill>
                <a:latin typeface="Microsoft Sans Serif"/>
                <a:cs typeface="Microsoft Sans Serif"/>
              </a:rPr>
              <a:t>(y==0)</a:t>
            </a:r>
            <a:r>
              <a:rPr sz="900" spc="-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 dirty="0">
              <a:latin typeface="Microsoft Sans Serif"/>
              <a:cs typeface="Microsoft Sans Serif"/>
            </a:endParaRPr>
          </a:p>
          <a:p>
            <a:pPr marL="289560" indent="-13335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90195" algn="l"/>
              </a:tabLst>
            </a:pPr>
            <a:r>
              <a:rPr sz="900" spc="-5" dirty="0">
                <a:latin typeface="Microsoft Sans Serif"/>
                <a:cs typeface="Microsoft Sans Serif"/>
              </a:rPr>
              <a:t>d=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c&gt;=</a:t>
            </a:r>
            <a:r>
              <a:rPr sz="900" spc="-5" dirty="0">
                <a:latin typeface="Courier New"/>
                <a:cs typeface="Courier New"/>
              </a:rPr>
              <a:t>’0’</a:t>
            </a:r>
            <a:r>
              <a:rPr sz="900" spc="-5" dirty="0">
                <a:latin typeface="Microsoft Sans Serif"/>
                <a:cs typeface="Microsoft Sans Serif"/>
              </a:rPr>
              <a:t>&amp;&amp;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c&lt;=</a:t>
            </a:r>
            <a:r>
              <a:rPr sz="900" spc="-25" dirty="0">
                <a:latin typeface="Courier New"/>
                <a:cs typeface="Courier New"/>
              </a:rPr>
              <a:t>’9’</a:t>
            </a:r>
            <a:r>
              <a:rPr sz="900" spc="-25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Microsoft Sans Serif"/>
                <a:cs typeface="Microsoft Sans Serif"/>
              </a:rPr>
              <a:t>same</a:t>
            </a:r>
            <a:r>
              <a:rPr sz="900" spc="1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as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d=(c&gt;=’0’)</a:t>
            </a:r>
            <a:r>
              <a:rPr sz="900" spc="15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B50A0A"/>
                </a:solidFill>
                <a:latin typeface="Microsoft Sans Serif"/>
                <a:cs typeface="Microsoft Sans Serif"/>
              </a:rPr>
              <a:t>&amp;&amp;</a:t>
            </a:r>
            <a:r>
              <a:rPr sz="900" spc="10" dirty="0">
                <a:solidFill>
                  <a:srgbClr val="B50A0A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B50A0A"/>
                </a:solidFill>
                <a:latin typeface="Microsoft Sans Serif"/>
                <a:cs typeface="Microsoft Sans Serif"/>
              </a:rPr>
              <a:t>(c&lt;=’9’)</a:t>
            </a:r>
            <a:r>
              <a:rPr sz="900" spc="-3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0" dirty="0">
                <a:solidFill>
                  <a:srgbClr val="B50A0A"/>
                </a:solidFill>
                <a:latin typeface="Microsoft Sans Serif"/>
                <a:cs typeface="Microsoft Sans Serif"/>
              </a:rPr>
              <a:t>/</a:t>
            </a:r>
            <a:endParaRPr sz="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Microsoft Sans Serif"/>
                <a:cs typeface="Microsoft Sans Serif"/>
              </a:rPr>
              <a:t>25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Operators Precedence and Associativity in C with Table | Codingee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30175"/>
            <a:ext cx="3200453" cy="323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45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Blocks</a:t>
            </a:r>
            <a:r>
              <a:rPr spc="95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dirty="0"/>
              <a:t>compound</a:t>
            </a:r>
            <a:r>
              <a:rPr spc="95" dirty="0"/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029080"/>
            <a:ext cx="3564254" cy="12515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43510" indent="-130810">
              <a:spcBef>
                <a:spcPts val="38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simple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ends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semicolon: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4780">
              <a:spcBef>
                <a:spcPts val="23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900" kern="0" spc="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foo(x+y);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Consider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multiple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statements: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9225">
              <a:spcBef>
                <a:spcPts val="57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</a:t>
            </a:r>
            <a:r>
              <a:rPr sz="900" kern="0" spc="3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x+y</a:t>
            </a:r>
            <a:r>
              <a:rPr sz="9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50495">
              <a:spcBef>
                <a:spcPts val="1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900" kern="0" spc="3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ysClr val="windowText" lastClr="000000"/>
                </a:solidFill>
                <a:latin typeface="Arial MT"/>
                <a:cs typeface="Arial MT"/>
              </a:rPr>
              <a:t>foo</a:t>
            </a:r>
            <a:r>
              <a:rPr sz="9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</a:t>
            </a:r>
            <a:r>
              <a:rPr sz="9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969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Curly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braces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–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combine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into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compound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statement/</a:t>
            </a:r>
            <a:r>
              <a:rPr sz="11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block</a:t>
            </a:r>
            <a:endParaRPr sz="11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spcBef>
                <a:spcPts val="60"/>
              </a:spcBef>
            </a:pPr>
            <a:r>
              <a:rPr sz="8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endParaRPr sz="8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133684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22881"/>
            <a:ext cx="2669540" cy="17843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Block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can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substitute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for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simple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Compiled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as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single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unit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Variables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can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declared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inside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57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7655" marR="1372235" indent="10160">
              <a:lnSpc>
                <a:spcPct val="101499"/>
              </a:lnSpc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</a:t>
            </a:r>
            <a:r>
              <a:rPr sz="900" kern="0" spc="3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x+y</a:t>
            </a:r>
            <a:r>
              <a:rPr sz="900" kern="0" spc="-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z</a:t>
            </a:r>
            <a:r>
              <a:rPr sz="900" kern="0" spc="3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ysClr val="windowText" lastClr="000000"/>
                </a:solidFill>
                <a:latin typeface="Arial MT"/>
                <a:cs typeface="Arial MT"/>
              </a:rPr>
              <a:t>foo</a:t>
            </a:r>
            <a:r>
              <a:rPr sz="9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</a:t>
            </a:r>
            <a:r>
              <a:rPr sz="9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9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Block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can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empty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5" dirty="0">
                <a:solidFill>
                  <a:sysClr val="windowText" lastClr="000000"/>
                </a:solidFill>
                <a:latin typeface="Courier New"/>
                <a:cs typeface="Courier New"/>
              </a:rPr>
              <a:t>{}</a:t>
            </a:r>
            <a:endParaRPr sz="1100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No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semicolon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at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end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spcBef>
                <a:spcPts val="60"/>
              </a:spcBef>
            </a:pPr>
            <a:r>
              <a:rPr spc="-50" dirty="0">
                <a:solidFill>
                  <a:prstClr val="black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355964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Nested</a:t>
            </a:r>
            <a:r>
              <a:rPr spc="95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74536"/>
            <a:ext cx="2111375" cy="14655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3510" indent="-130810">
              <a:spcBef>
                <a:spcPts val="79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Blocks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nested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inside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each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other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570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7655" marR="814705" indent="10160">
              <a:lnSpc>
                <a:spcPct val="101499"/>
              </a:lnSpc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</a:t>
            </a:r>
            <a:r>
              <a:rPr sz="900" kern="0" spc="3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x+y</a:t>
            </a:r>
            <a:r>
              <a:rPr sz="900" kern="0" spc="-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z</a:t>
            </a:r>
            <a:r>
              <a:rPr sz="900" kern="0" spc="3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ysClr val="windowText" lastClr="000000"/>
                </a:solidFill>
                <a:latin typeface="Arial MT"/>
                <a:cs typeface="Arial MT"/>
              </a:rPr>
              <a:t>foo</a:t>
            </a:r>
            <a:r>
              <a:rPr sz="9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</a:t>
            </a:r>
            <a:r>
              <a:rPr sz="9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6545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424180" marR="473075" indent="10795">
              <a:lnSpc>
                <a:spcPct val="101499"/>
              </a:lnSpc>
              <a:spcBef>
                <a:spcPts val="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900" b="1" kern="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900" b="1" kern="0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900" b="1" kern="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temp2</a:t>
            </a:r>
            <a:r>
              <a:rPr sz="900" kern="0" spc="3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-45" dirty="0">
                <a:solidFill>
                  <a:sysClr val="windowText" lastClr="000000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900" kern="0" spc="-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z</a:t>
            </a:r>
            <a:r>
              <a:rPr sz="900" kern="0" spc="40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+=</a:t>
            </a:r>
            <a:r>
              <a:rPr sz="900" kern="0" spc="45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bar</a:t>
            </a:r>
            <a:r>
              <a:rPr sz="9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temp2</a:t>
            </a:r>
            <a:r>
              <a:rPr sz="9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 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6545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spcBef>
                <a:spcPts val="60"/>
              </a:spcBef>
            </a:pPr>
            <a:r>
              <a:rPr spc="-50" dirty="0">
                <a:solidFill>
                  <a:prstClr val="black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242315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Control</a:t>
            </a:r>
            <a:r>
              <a:rPr spc="85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13384"/>
            <a:ext cx="3370579" cy="16846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43510" indent="-130810">
              <a:spcBef>
                <a:spcPts val="28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Unlike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C++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or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Java,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no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boolean</a:t>
            </a:r>
            <a:r>
              <a:rPr sz="1100" i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type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(in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C89/C90)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422275" lvl="1" indent="-128270"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</a:t>
            </a:r>
            <a:r>
              <a:rPr sz="10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C99,</a:t>
            </a:r>
            <a:r>
              <a:rPr sz="10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bool</a:t>
            </a:r>
            <a:r>
              <a:rPr sz="900" kern="0" spc="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type</a:t>
            </a:r>
            <a:r>
              <a:rPr sz="10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available</a:t>
            </a:r>
            <a:r>
              <a:rPr sz="10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(use</a:t>
            </a:r>
            <a:r>
              <a:rPr sz="10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stdbool.h</a:t>
            </a:r>
            <a:r>
              <a:rPr sz="10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endParaRPr sz="10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5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is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an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expression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(or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series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of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expressions)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4780">
              <a:spcBef>
                <a:spcPts val="35"/>
              </a:spcBef>
            </a:pPr>
            <a:r>
              <a:rPr sz="11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e.g.</a:t>
            </a:r>
            <a:r>
              <a:rPr sz="1100" i="1" kern="0" spc="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900" kern="0" spc="5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</a:t>
            </a:r>
            <a:r>
              <a:rPr sz="900" kern="0" spc="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3</a:t>
            </a:r>
            <a:r>
              <a:rPr sz="9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or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</a:t>
            </a:r>
            <a:r>
              <a:rPr sz="900" kern="0" spc="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900" kern="0" spc="2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||</a:t>
            </a:r>
            <a:r>
              <a:rPr sz="900" kern="0" spc="3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900" kern="0" spc="1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</a:t>
            </a:r>
            <a:r>
              <a:rPr sz="900" kern="0" spc="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Expression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is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non-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zero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50" dirty="0">
                <a:solidFill>
                  <a:sysClr val="windowText" lastClr="000000"/>
                </a:solidFill>
                <a:latin typeface="Lucida Sans Unicode"/>
                <a:cs typeface="Lucida Sans Unicode"/>
              </a:rPr>
              <a:t>⇒</a:t>
            </a:r>
            <a:r>
              <a:rPr sz="1100" kern="0" spc="-65" dirty="0">
                <a:solidFill>
                  <a:sysClr val="windowText" lastClr="000000"/>
                </a:solidFill>
                <a:latin typeface="Lucida Sans Unicode"/>
                <a:cs typeface="Lucida Sans Unicode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true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Expression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must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numeric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(or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pointer)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51130">
              <a:spcBef>
                <a:spcPts val="570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const</a:t>
            </a:r>
            <a:r>
              <a:rPr sz="900" b="1" kern="0" spc="4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kern="0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[</a:t>
            </a:r>
            <a:r>
              <a:rPr sz="9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]</a:t>
            </a:r>
            <a:r>
              <a:rPr sz="900" kern="0" spc="14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"some</a:t>
            </a:r>
            <a:r>
              <a:rPr sz="900" kern="0" spc="3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text"</a:t>
            </a:r>
            <a:r>
              <a:rPr sz="900" kern="0" spc="-39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7005">
              <a:spcBef>
                <a:spcPts val="1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</a:t>
            </a:r>
            <a:r>
              <a:rPr sz="900" kern="0" spc="-1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-1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4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2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s</a:t>
            </a:r>
            <a:r>
              <a:rPr sz="900" kern="0" spc="-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r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0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g</a:t>
            </a:r>
            <a:r>
              <a:rPr sz="900" kern="0" spc="16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1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s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not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u</a:t>
            </a:r>
            <a:r>
              <a:rPr sz="900" kern="0" spc="-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l</a:t>
            </a:r>
            <a:r>
              <a:rPr sz="900" kern="0" spc="-10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l</a:t>
            </a:r>
            <a:r>
              <a:rPr sz="900" kern="0" spc="15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3370">
              <a:spcBef>
                <a:spcPts val="20"/>
              </a:spcBef>
            </a:pPr>
            <a:r>
              <a:rPr sz="900" b="1" kern="0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kern="0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0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spcBef>
                <a:spcPts val="60"/>
              </a:spcBef>
            </a:pPr>
            <a:r>
              <a:rPr sz="8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7</a:t>
            </a:r>
            <a:endParaRPr sz="8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136344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20402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kern="0" dirty="0">
                <a:solidFill>
                  <a:srgbClr val="993333"/>
                </a:solidFill>
                <a:latin typeface="Arial"/>
                <a:cs typeface="Arial"/>
              </a:rPr>
              <a:t>Conditional</a:t>
            </a:r>
            <a:r>
              <a:rPr sz="1400" b="1" kern="0" spc="15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kern="0" spc="-10" dirty="0">
                <a:solidFill>
                  <a:srgbClr val="993333"/>
                </a:solidFill>
                <a:latin typeface="Arial"/>
                <a:cs typeface="Arial"/>
              </a:rPr>
              <a:t>statements</a:t>
            </a:r>
            <a:endParaRPr sz="1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858" y="1358136"/>
            <a:ext cx="158115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if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switch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209526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55" dirty="0"/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390" dirty="0">
                <a:latin typeface="Courier New"/>
                <a:cs typeface="Courier New"/>
              </a:rPr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9658" y="988448"/>
            <a:ext cx="2221230" cy="1394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32715" marR="1490345" indent="-120650">
              <a:lnSpc>
                <a:spcPct val="101499"/>
              </a:lnSpc>
              <a:spcBef>
                <a:spcPts val="80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2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%</a:t>
            </a:r>
            <a:r>
              <a:rPr sz="900" kern="0" spc="25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-1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5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900" kern="0" spc="3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+=</a:t>
            </a:r>
            <a:r>
              <a:rPr sz="900" kern="0" spc="3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-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/</a:t>
            </a:r>
            <a:r>
              <a:rPr sz="900" kern="0" spc="-1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-1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>
              <a:spcBef>
                <a:spcPts val="235"/>
              </a:spcBef>
            </a:pP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65430" indent="-130810">
              <a:buSzPct val="90909"/>
              <a:buFont typeface="Lucida Sans Unicode"/>
              <a:buChar char="•"/>
              <a:tabLst>
                <a:tab pos="26543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Evaluate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3845">
              <a:spcBef>
                <a:spcPts val="23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if</a:t>
            </a:r>
            <a:r>
              <a:rPr sz="900" b="1" kern="0" spc="3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(x</a:t>
            </a:r>
            <a:r>
              <a:rPr sz="900" kern="0" spc="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%</a:t>
            </a:r>
            <a:r>
              <a:rPr sz="9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 ==</a:t>
            </a:r>
            <a:r>
              <a:rPr sz="9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0)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65430" indent="-130810">
              <a:spcBef>
                <a:spcPts val="375"/>
              </a:spcBef>
              <a:buSzPct val="90909"/>
              <a:buFont typeface="Lucida Sans Unicode"/>
              <a:buChar char="•"/>
              <a:tabLst>
                <a:tab pos="26543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If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true,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evaluate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inner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67335">
              <a:spcBef>
                <a:spcPts val="234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900" kern="0" spc="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+=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x/2;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65430" indent="-130810">
              <a:spcBef>
                <a:spcPts val="370"/>
              </a:spcBef>
              <a:buSzPct val="90909"/>
              <a:buFont typeface="Lucida Sans Unicode"/>
              <a:buChar char="•"/>
              <a:tabLst>
                <a:tab pos="26543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Otherwise,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do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nothing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3100075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75" dirty="0"/>
              <a:t> </a:t>
            </a:r>
            <a:r>
              <a:rPr b="0" dirty="0">
                <a:latin typeface="Courier New"/>
                <a:cs typeface="Courier New"/>
              </a:rPr>
              <a:t>else</a:t>
            </a:r>
            <a:r>
              <a:rPr b="0" spc="-375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644" y="946602"/>
            <a:ext cx="2602230" cy="15011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44145" marR="1578610" indent="-120650">
              <a:lnSpc>
                <a:spcPct val="101499"/>
              </a:lnSpc>
              <a:spcBef>
                <a:spcPts val="80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2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%</a:t>
            </a:r>
            <a:r>
              <a:rPr sz="900" kern="0" spc="1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3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==</a:t>
            </a:r>
            <a:r>
              <a:rPr sz="900" kern="0" spc="3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0</a:t>
            </a:r>
            <a:r>
              <a:rPr sz="900" kern="0" spc="-1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y</a:t>
            </a:r>
            <a:r>
              <a:rPr sz="900" kern="0" spc="3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+=</a:t>
            </a:r>
            <a:r>
              <a:rPr sz="900" kern="0" spc="3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-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/</a:t>
            </a:r>
            <a:r>
              <a:rPr sz="900" kern="0" spc="-1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-1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>
              <a:spcBef>
                <a:spcPts val="15"/>
              </a:spcBef>
            </a:pPr>
            <a:r>
              <a:rPr sz="900" b="1" kern="0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44145">
              <a:spcBef>
                <a:spcPts val="1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900" kern="0" spc="3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+=</a:t>
            </a:r>
            <a:r>
              <a:rPr sz="900" kern="0" spc="4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+</a:t>
            </a:r>
            <a:r>
              <a:rPr sz="900" kern="0" spc="-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11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/</a:t>
            </a:r>
            <a:r>
              <a:rPr sz="900" kern="0" spc="-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-11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>
              <a:spcBef>
                <a:spcPts val="235"/>
              </a:spcBef>
            </a:pP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7495" indent="-130810"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Optional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7495" indent="-130810">
              <a:spcBef>
                <a:spcPts val="335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Execute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if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is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false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9400">
              <a:spcBef>
                <a:spcPts val="23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900" kern="0" spc="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+=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(x+1)/2;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7495" indent="-130810">
              <a:spcBef>
                <a:spcPts val="375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Either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inner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may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block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1184096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45" dirty="0"/>
              <a:t> </a:t>
            </a:r>
            <a:r>
              <a:rPr b="0" dirty="0">
                <a:latin typeface="Courier New"/>
                <a:cs typeface="Courier New"/>
              </a:rPr>
              <a:t>else</a:t>
            </a:r>
            <a:r>
              <a:rPr b="0" spc="110" dirty="0">
                <a:latin typeface="Courier New"/>
                <a:cs typeface="Courier New"/>
              </a:rPr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405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44145" marR="2418080" indent="-120650">
              <a:lnSpc>
                <a:spcPct val="101499"/>
              </a:lnSpc>
              <a:spcBef>
                <a:spcPts val="80"/>
              </a:spcBef>
            </a:pP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2</a:t>
            </a:r>
            <a:r>
              <a:rPr spc="310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0</a:t>
            </a:r>
            <a:r>
              <a:rPr spc="-160" dirty="0"/>
              <a:t> </a:t>
            </a:r>
            <a:r>
              <a:rPr spc="-50" dirty="0"/>
              <a:t>)</a:t>
            </a:r>
            <a:r>
              <a:rPr dirty="0"/>
              <a:t> y</a:t>
            </a:r>
            <a:r>
              <a:rPr spc="335" dirty="0"/>
              <a:t> </a:t>
            </a:r>
            <a:r>
              <a:rPr dirty="0"/>
              <a:t>+=</a:t>
            </a:r>
            <a:r>
              <a:rPr spc="340" dirty="0"/>
              <a:t> </a:t>
            </a:r>
            <a:r>
              <a:rPr dirty="0"/>
              <a:t>x</a:t>
            </a:r>
            <a:r>
              <a:rPr spc="-55" dirty="0"/>
              <a:t> </a:t>
            </a:r>
            <a:r>
              <a:rPr spc="-10" dirty="0"/>
              <a:t>/</a:t>
            </a:r>
            <a:r>
              <a:rPr spc="-100" dirty="0"/>
              <a:t> </a:t>
            </a:r>
            <a:r>
              <a:rPr spc="-10" dirty="0"/>
              <a:t>2</a:t>
            </a:r>
            <a:r>
              <a:rPr spc="-100" dirty="0"/>
              <a:t> </a:t>
            </a:r>
            <a:r>
              <a:rPr spc="-50" dirty="0"/>
              <a:t>;</a:t>
            </a:r>
          </a:p>
          <a:p>
            <a:pPr marL="144145" marR="2076450" indent="-132080">
              <a:lnSpc>
                <a:spcPct val="101499"/>
              </a:lnSpc>
            </a:pPr>
            <a:r>
              <a:rPr b="1" spc="5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90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4</a:t>
            </a:r>
            <a:r>
              <a:rPr spc="315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1</a:t>
            </a:r>
            <a:r>
              <a:rPr spc="-160" dirty="0"/>
              <a:t> </a:t>
            </a:r>
            <a:r>
              <a:rPr spc="-50" dirty="0"/>
              <a:t>)</a:t>
            </a:r>
            <a:r>
              <a:rPr dirty="0"/>
              <a:t> y</a:t>
            </a:r>
            <a:r>
              <a:rPr spc="350" dirty="0"/>
              <a:t> </a:t>
            </a:r>
            <a:r>
              <a:rPr dirty="0"/>
              <a:t>+=</a:t>
            </a:r>
            <a:r>
              <a:rPr spc="425" dirty="0"/>
              <a:t> </a:t>
            </a:r>
            <a:r>
              <a:rPr spc="-10" dirty="0"/>
              <a:t>2</a:t>
            </a:r>
            <a:r>
              <a:rPr spc="-130" dirty="0"/>
              <a:t> </a:t>
            </a:r>
            <a:r>
              <a:rPr spc="-260" dirty="0">
                <a:latin typeface="Lucida Sans Unicode"/>
                <a:cs typeface="Lucida Sans Unicode"/>
              </a:rPr>
              <a:t>∗</a:t>
            </a:r>
            <a:r>
              <a:rPr spc="-165" dirty="0">
                <a:latin typeface="Lucida Sans Unicode"/>
                <a:cs typeface="Lucida Sans Unicode"/>
              </a:rPr>
              <a:t> </a:t>
            </a:r>
            <a:r>
              <a:rPr spc="-10" dirty="0"/>
              <a:t>(</a:t>
            </a:r>
            <a:r>
              <a:rPr spc="-130" dirty="0"/>
              <a:t> </a:t>
            </a:r>
            <a:r>
              <a:rPr spc="-10" dirty="0"/>
              <a:t>(</a:t>
            </a:r>
            <a:r>
              <a:rPr spc="-90" dirty="0"/>
              <a:t> </a:t>
            </a:r>
            <a:r>
              <a:rPr spc="-10" dirty="0"/>
              <a:t>x</a:t>
            </a:r>
            <a:r>
              <a:rPr spc="-60" dirty="0"/>
              <a:t> </a:t>
            </a:r>
            <a:r>
              <a:rPr spc="-10" dirty="0"/>
              <a:t>+</a:t>
            </a:r>
            <a:r>
              <a:rPr spc="-105" dirty="0"/>
              <a:t> </a:t>
            </a:r>
            <a:r>
              <a:rPr spc="-10" dirty="0"/>
              <a:t>3</a:t>
            </a:r>
            <a:r>
              <a:rPr spc="-110" dirty="0"/>
              <a:t> </a:t>
            </a:r>
            <a:r>
              <a:rPr spc="-10" dirty="0"/>
              <a:t>)</a:t>
            </a:r>
            <a:r>
              <a:rPr spc="-105" dirty="0"/>
              <a:t> </a:t>
            </a:r>
            <a:r>
              <a:rPr spc="-10" dirty="0"/>
              <a:t>/</a:t>
            </a:r>
            <a:r>
              <a:rPr spc="-110" dirty="0"/>
              <a:t> </a:t>
            </a:r>
            <a:r>
              <a:rPr spc="-10" dirty="0"/>
              <a:t>4</a:t>
            </a:r>
            <a:r>
              <a:rPr spc="-105" dirty="0"/>
              <a:t> </a:t>
            </a:r>
            <a:r>
              <a:rPr spc="-10" dirty="0"/>
              <a:t>)</a:t>
            </a:r>
            <a:r>
              <a:rPr spc="-110" dirty="0"/>
              <a:t> </a:t>
            </a:r>
            <a:r>
              <a:rPr spc="-50" dirty="0"/>
              <a:t>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</a:p>
          <a:p>
            <a:pPr marL="144145">
              <a:lnSpc>
                <a:spcPct val="100000"/>
              </a:lnSpc>
              <a:spcBef>
                <a:spcPts val="15"/>
              </a:spcBef>
            </a:pPr>
            <a:r>
              <a:rPr dirty="0"/>
              <a:t>y</a:t>
            </a:r>
            <a:r>
              <a:rPr spc="345" dirty="0"/>
              <a:t> </a:t>
            </a:r>
            <a:r>
              <a:rPr dirty="0"/>
              <a:t>+=</a:t>
            </a:r>
            <a:r>
              <a:rPr spc="425" dirty="0"/>
              <a:t>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spc="-10" dirty="0"/>
              <a:t>x</a:t>
            </a:r>
            <a:r>
              <a:rPr spc="-80" dirty="0"/>
              <a:t> </a:t>
            </a:r>
            <a:r>
              <a:rPr spc="-10" dirty="0"/>
              <a:t>+</a:t>
            </a:r>
            <a:r>
              <a:rPr spc="-120" dirty="0"/>
              <a:t> </a:t>
            </a:r>
            <a:r>
              <a:rPr spc="-10" dirty="0"/>
              <a:t>1</a:t>
            </a:r>
            <a:r>
              <a:rPr spc="-114" dirty="0"/>
              <a:t> </a:t>
            </a:r>
            <a:r>
              <a:rPr spc="-10" dirty="0"/>
              <a:t>)</a:t>
            </a:r>
            <a:r>
              <a:rPr spc="-120" dirty="0"/>
              <a:t> </a:t>
            </a:r>
            <a:r>
              <a:rPr spc="-10" dirty="0"/>
              <a:t>/</a:t>
            </a:r>
            <a:r>
              <a:rPr spc="-120" dirty="0"/>
              <a:t> </a:t>
            </a:r>
            <a:r>
              <a:rPr spc="-10" dirty="0"/>
              <a:t>2</a:t>
            </a:r>
            <a:r>
              <a:rPr spc="-114" dirty="0"/>
              <a:t> </a:t>
            </a:r>
            <a:r>
              <a:rPr spc="-50" dirty="0"/>
              <a:t>;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pc="-50" dirty="0"/>
          </a:p>
          <a:p>
            <a:pPr marL="277495" indent="-130810">
              <a:lnSpc>
                <a:spcPct val="100000"/>
              </a:lnSpc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spc="-10" dirty="0"/>
              <a:t>Additional</a:t>
            </a:r>
            <a:r>
              <a:rPr sz="1100" spc="-35" dirty="0"/>
              <a:t> </a:t>
            </a:r>
            <a:r>
              <a:rPr sz="1100" dirty="0"/>
              <a:t>alternative</a:t>
            </a:r>
            <a:r>
              <a:rPr sz="1100" spc="-35" dirty="0"/>
              <a:t> </a:t>
            </a:r>
            <a:r>
              <a:rPr sz="1100" dirty="0"/>
              <a:t>control</a:t>
            </a:r>
            <a:r>
              <a:rPr sz="1100" spc="-35" dirty="0"/>
              <a:t> </a:t>
            </a:r>
            <a:r>
              <a:rPr sz="1100" spc="-10" dirty="0"/>
              <a:t>paths</a:t>
            </a:r>
            <a:endParaRPr sz="1100"/>
          </a:p>
          <a:p>
            <a:pPr marL="27749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279400" algn="l"/>
              </a:tabLst>
            </a:pPr>
            <a:r>
              <a:rPr sz="1100" spc="-10" dirty="0"/>
              <a:t>Conditions</a:t>
            </a:r>
            <a:r>
              <a:rPr sz="1100" spc="-30" dirty="0"/>
              <a:t> </a:t>
            </a:r>
            <a:r>
              <a:rPr sz="1100" spc="-10" dirty="0"/>
              <a:t>evaluated</a:t>
            </a:r>
            <a:r>
              <a:rPr sz="1100" spc="-25" dirty="0"/>
              <a:t> </a:t>
            </a:r>
            <a:r>
              <a:rPr sz="1100" dirty="0"/>
              <a:t>in</a:t>
            </a:r>
            <a:r>
              <a:rPr sz="1100" spc="-25" dirty="0"/>
              <a:t> </a:t>
            </a:r>
            <a:r>
              <a:rPr sz="1100" dirty="0"/>
              <a:t>order</a:t>
            </a:r>
            <a:r>
              <a:rPr sz="1100" spc="-25" dirty="0"/>
              <a:t> </a:t>
            </a:r>
            <a:r>
              <a:rPr sz="1100" dirty="0"/>
              <a:t>until</a:t>
            </a:r>
            <a:r>
              <a:rPr sz="1100" spc="-25" dirty="0"/>
              <a:t> </a:t>
            </a:r>
            <a:r>
              <a:rPr sz="1100" dirty="0"/>
              <a:t>one</a:t>
            </a:r>
            <a:r>
              <a:rPr sz="1100" spc="-25" dirty="0"/>
              <a:t> </a:t>
            </a:r>
            <a:r>
              <a:rPr sz="1100" dirty="0"/>
              <a:t>is</a:t>
            </a:r>
            <a:r>
              <a:rPr sz="1100" spc="-30" dirty="0"/>
              <a:t> </a:t>
            </a:r>
            <a:r>
              <a:rPr sz="1100" dirty="0"/>
              <a:t>met;</a:t>
            </a:r>
            <a:r>
              <a:rPr sz="1100" spc="-25" dirty="0"/>
              <a:t> </a:t>
            </a:r>
            <a:r>
              <a:rPr sz="1100" spc="-10" dirty="0"/>
              <a:t>inner 	</a:t>
            </a:r>
            <a:r>
              <a:rPr sz="1100" dirty="0"/>
              <a:t>statement</a:t>
            </a:r>
            <a:r>
              <a:rPr sz="1100" spc="-40" dirty="0"/>
              <a:t> </a:t>
            </a:r>
            <a:r>
              <a:rPr sz="1100" dirty="0"/>
              <a:t>then</a:t>
            </a:r>
            <a:r>
              <a:rPr sz="1100" spc="-40" dirty="0"/>
              <a:t> </a:t>
            </a:r>
            <a:r>
              <a:rPr sz="1100" spc="-10" dirty="0"/>
              <a:t>executed</a:t>
            </a:r>
            <a:endParaRPr sz="1100"/>
          </a:p>
          <a:p>
            <a:pPr marL="277495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dirty="0"/>
              <a:t>If</a:t>
            </a:r>
            <a:r>
              <a:rPr sz="1100" spc="-20" dirty="0"/>
              <a:t> </a:t>
            </a:r>
            <a:r>
              <a:rPr sz="1100" spc="-10" dirty="0"/>
              <a:t>multiple</a:t>
            </a:r>
            <a:r>
              <a:rPr sz="1100" spc="-15" dirty="0"/>
              <a:t> </a:t>
            </a:r>
            <a:r>
              <a:rPr sz="1100" spc="-10" dirty="0"/>
              <a:t>conditions</a:t>
            </a:r>
            <a:r>
              <a:rPr sz="1100" spc="-15" dirty="0"/>
              <a:t> </a:t>
            </a:r>
            <a:r>
              <a:rPr sz="1100" dirty="0"/>
              <a:t>true,</a:t>
            </a:r>
            <a:r>
              <a:rPr sz="1100" spc="-15" dirty="0"/>
              <a:t> </a:t>
            </a:r>
            <a:r>
              <a:rPr sz="1100" dirty="0"/>
              <a:t>only</a:t>
            </a:r>
            <a:r>
              <a:rPr sz="1100" spc="-20" dirty="0"/>
              <a:t> </a:t>
            </a:r>
            <a:r>
              <a:rPr sz="1100" dirty="0"/>
              <a:t>first</a:t>
            </a:r>
            <a:r>
              <a:rPr sz="1100" spc="-15" dirty="0"/>
              <a:t> </a:t>
            </a:r>
            <a:r>
              <a:rPr sz="1100" spc="-10" dirty="0"/>
              <a:t>executed</a:t>
            </a:r>
            <a:endParaRPr sz="1100"/>
          </a:p>
          <a:p>
            <a:pPr marL="277495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spc="-10" dirty="0"/>
              <a:t>Equivalent</a:t>
            </a:r>
            <a:r>
              <a:rPr sz="1100" spc="-25" dirty="0"/>
              <a:t> </a:t>
            </a:r>
            <a:r>
              <a:rPr sz="1100" dirty="0"/>
              <a:t>to</a:t>
            </a:r>
            <a:r>
              <a:rPr sz="1100" spc="-15" dirty="0"/>
              <a:t> </a:t>
            </a:r>
            <a:r>
              <a:rPr sz="1100" dirty="0"/>
              <a:t>nested</a:t>
            </a:r>
            <a:r>
              <a:rPr sz="1100" spc="-15" dirty="0"/>
              <a:t> </a:t>
            </a:r>
            <a:r>
              <a:rPr sz="1100" spc="-20" dirty="0">
                <a:latin typeface="Courier New"/>
                <a:cs typeface="Courier New"/>
              </a:rPr>
              <a:t>if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/>
              <a:t>statements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852223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Nesting</a:t>
            </a:r>
            <a:r>
              <a:rPr spc="70" dirty="0"/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375" dirty="0">
                <a:latin typeface="Courier New"/>
                <a:cs typeface="Courier New"/>
              </a:rPr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866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4</a:t>
            </a:r>
            <a:r>
              <a:rPr spc="310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0</a:t>
            </a:r>
            <a:r>
              <a:rPr spc="-160" dirty="0"/>
              <a:t> </a:t>
            </a:r>
            <a:r>
              <a:rPr spc="-50" dirty="0"/>
              <a:t>)</a:t>
            </a:r>
          </a:p>
          <a:p>
            <a:pPr marL="280670" marR="2264410" indent="-120014">
              <a:lnSpc>
                <a:spcPct val="101499"/>
              </a:lnSpc>
            </a:pP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2</a:t>
            </a:r>
            <a:r>
              <a:rPr spc="310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0</a:t>
            </a:r>
            <a:r>
              <a:rPr spc="-160" dirty="0"/>
              <a:t> </a:t>
            </a:r>
            <a:r>
              <a:rPr spc="-50" dirty="0"/>
              <a:t>)</a:t>
            </a:r>
            <a:r>
              <a:rPr dirty="0"/>
              <a:t> y</a:t>
            </a:r>
            <a:r>
              <a:rPr spc="330" dirty="0"/>
              <a:t> </a:t>
            </a:r>
            <a:r>
              <a:rPr dirty="0"/>
              <a:t>=</a:t>
            </a:r>
            <a:r>
              <a:rPr spc="400" dirty="0"/>
              <a:t> </a:t>
            </a:r>
            <a:r>
              <a:rPr spc="-10" dirty="0"/>
              <a:t>2</a:t>
            </a:r>
            <a:r>
              <a:rPr spc="-145" dirty="0"/>
              <a:t> </a:t>
            </a:r>
            <a:r>
              <a:rPr spc="-50" dirty="0"/>
              <a:t>;</a:t>
            </a:r>
          </a:p>
          <a:p>
            <a:pPr marL="12065">
              <a:lnSpc>
                <a:spcPct val="100000"/>
              </a:lnSpc>
              <a:spcBef>
                <a:spcPts val="15"/>
              </a:spcBef>
            </a:pPr>
            <a:r>
              <a:rPr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</a:p>
          <a:p>
            <a:pPr marL="144145">
              <a:lnSpc>
                <a:spcPct val="100000"/>
              </a:lnSpc>
              <a:spcBef>
                <a:spcPts val="15"/>
              </a:spcBef>
            </a:pPr>
            <a:r>
              <a:rPr dirty="0"/>
              <a:t>y</a:t>
            </a:r>
            <a:r>
              <a:rPr spc="330" dirty="0"/>
              <a:t> </a:t>
            </a:r>
            <a:r>
              <a:rPr dirty="0"/>
              <a:t>=</a:t>
            </a:r>
            <a:r>
              <a:rPr spc="400" dirty="0"/>
              <a:t> </a:t>
            </a:r>
            <a:r>
              <a:rPr spc="-10" dirty="0"/>
              <a:t>1</a:t>
            </a:r>
            <a:r>
              <a:rPr spc="-145" dirty="0"/>
              <a:t> </a:t>
            </a:r>
            <a:r>
              <a:rPr spc="-50" dirty="0"/>
              <a:t>;</a:t>
            </a:r>
          </a:p>
          <a:p>
            <a:pPr marL="1905">
              <a:lnSpc>
                <a:spcPct val="100000"/>
              </a:lnSpc>
              <a:spcBef>
                <a:spcPts val="675"/>
              </a:spcBef>
            </a:pPr>
            <a:r>
              <a:rPr sz="1100" spc="-80" dirty="0"/>
              <a:t>To</a:t>
            </a:r>
            <a:r>
              <a:rPr sz="1100" spc="-5" dirty="0"/>
              <a:t> </a:t>
            </a:r>
            <a:r>
              <a:rPr sz="1100" dirty="0"/>
              <a:t>which</a:t>
            </a:r>
            <a:r>
              <a:rPr sz="1100" spc="-75" dirty="0"/>
              <a:t> </a:t>
            </a:r>
            <a:r>
              <a:rPr sz="1100" spc="-20" dirty="0">
                <a:latin typeface="Courier New"/>
                <a:cs typeface="Courier New"/>
              </a:rPr>
              <a:t>if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/>
              <a:t>statement</a:t>
            </a:r>
            <a:r>
              <a:rPr sz="1100" spc="-30" dirty="0"/>
              <a:t> </a:t>
            </a:r>
            <a:r>
              <a:rPr sz="1100" dirty="0"/>
              <a:t>does</a:t>
            </a:r>
            <a:r>
              <a:rPr sz="1100" spc="-25" dirty="0"/>
              <a:t> </a:t>
            </a:r>
            <a:r>
              <a:rPr sz="1100" dirty="0"/>
              <a:t>the</a:t>
            </a:r>
            <a:r>
              <a:rPr sz="1100" spc="-20" dirty="0"/>
              <a:t> </a:t>
            </a:r>
            <a:r>
              <a:rPr sz="1100" spc="-20" dirty="0">
                <a:latin typeface="Courier New"/>
                <a:cs typeface="Courier New"/>
              </a:rPr>
              <a:t>else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/>
              <a:t>keyword</a:t>
            </a:r>
            <a:r>
              <a:rPr sz="1100" spc="-25" dirty="0"/>
              <a:t> </a:t>
            </a:r>
            <a:r>
              <a:rPr sz="1100" spc="-10" dirty="0"/>
              <a:t>belong?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797227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Nesting</a:t>
            </a:r>
            <a:r>
              <a:rPr spc="70" dirty="0"/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375" dirty="0">
                <a:latin typeface="Courier New"/>
                <a:cs typeface="Courier New"/>
              </a:rPr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6364"/>
            <a:ext cx="3418840" cy="10483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spcBef>
                <a:spcPts val="795"/>
              </a:spcBef>
            </a:pPr>
            <a:r>
              <a:rPr sz="11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associate</a:t>
            </a:r>
            <a:r>
              <a:rPr sz="11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else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with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outer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if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statement:</a:t>
            </a:r>
            <a:r>
              <a:rPr sz="11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use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braces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34925">
              <a:spcBef>
                <a:spcPts val="570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2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%</a:t>
            </a:r>
            <a:r>
              <a:rPr sz="900" kern="0" spc="1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r>
              <a:rPr sz="900" kern="0" spc="3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==</a:t>
            </a:r>
            <a:r>
              <a:rPr sz="900" kern="0" spc="3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0</a:t>
            </a:r>
            <a:r>
              <a:rPr sz="900" kern="0" spc="-1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2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1465" marR="2247900" indent="-120014">
              <a:lnSpc>
                <a:spcPct val="101499"/>
              </a:lnSpc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900" kern="0" spc="2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%</a:t>
            </a:r>
            <a:r>
              <a:rPr sz="900" kern="0" spc="1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3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==</a:t>
            </a:r>
            <a:r>
              <a:rPr sz="900" kern="0" spc="3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0</a:t>
            </a:r>
            <a:r>
              <a:rPr sz="900" kern="0" spc="-1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y</a:t>
            </a:r>
            <a:r>
              <a:rPr sz="900" kern="0" spc="3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305">
              <a:spcBef>
                <a:spcPts val="1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r>
              <a:rPr sz="900" kern="0" spc="4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b="1" kern="0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54940">
              <a:spcBef>
                <a:spcPts val="20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900" kern="0" spc="3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224346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90" dirty="0"/>
              <a:t> </a:t>
            </a:r>
            <a:r>
              <a:rPr b="0" dirty="0">
                <a:latin typeface="Courier New"/>
                <a:cs typeface="Courier New"/>
              </a:rPr>
              <a:t>switch</a:t>
            </a:r>
            <a:r>
              <a:rPr b="0" spc="-360" dirty="0">
                <a:latin typeface="Courier New"/>
                <a:cs typeface="Courier New"/>
              </a:rPr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85150"/>
            <a:ext cx="2501265" cy="22574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Alternative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conditional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Integer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(or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character)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variable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as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input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Considers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cases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for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value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of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variable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1321435" algn="ctr">
              <a:spcBef>
                <a:spcPts val="57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ch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20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5750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kern="0" spc="3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’Y’</a:t>
            </a:r>
            <a:r>
              <a:rPr sz="900" kern="0" spc="-39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r>
              <a:rPr sz="900" kern="0" spc="15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3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ch</a:t>
            </a:r>
            <a:r>
              <a:rPr sz="900" kern="0" spc="35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==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-17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Y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433705">
              <a:spcBef>
                <a:spcPts val="15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1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do</a:t>
            </a:r>
            <a:r>
              <a:rPr sz="900" kern="0" spc="39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something</a:t>
            </a:r>
            <a:r>
              <a:rPr sz="900" kern="0" spc="4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1257935" algn="ctr">
              <a:spcBef>
                <a:spcPts val="20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kern="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518159" algn="r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kern="0" spc="3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’N’</a:t>
            </a:r>
            <a:r>
              <a:rPr sz="900" kern="0" spc="-39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r>
              <a:rPr sz="900" kern="0" spc="16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34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ch</a:t>
            </a:r>
            <a:r>
              <a:rPr sz="900" kern="0" spc="3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==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’N</a:t>
            </a:r>
            <a:r>
              <a:rPr sz="900" kern="0" spc="-7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518159" algn="r">
              <a:spcBef>
                <a:spcPts val="15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do</a:t>
            </a:r>
            <a:r>
              <a:rPr sz="900" kern="0" spc="39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something</a:t>
            </a:r>
            <a:r>
              <a:rPr sz="900" kern="0" spc="47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70" dirty="0">
                <a:solidFill>
                  <a:srgbClr val="B50A0A"/>
                </a:solidFill>
                <a:latin typeface="Arial MT"/>
                <a:cs typeface="Arial MT"/>
              </a:rPr>
              <a:t>else</a:t>
            </a:r>
            <a:r>
              <a:rPr sz="900" kern="0" spc="13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1257935" algn="ctr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kern="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586740" algn="r">
              <a:spcBef>
                <a:spcPts val="15"/>
              </a:spcBef>
            </a:pPr>
            <a:r>
              <a:rPr sz="900" b="1" kern="0" spc="80" dirty="0">
                <a:solidFill>
                  <a:srgbClr val="0000FF"/>
                </a:solidFill>
                <a:latin typeface="Arial"/>
                <a:cs typeface="Arial"/>
              </a:rPr>
              <a:t>default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r>
              <a:rPr sz="900" kern="0" spc="15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9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80" dirty="0">
                <a:solidFill>
                  <a:srgbClr val="B50A0A"/>
                </a:solidFill>
                <a:latin typeface="Arial MT"/>
                <a:cs typeface="Arial MT"/>
              </a:rPr>
              <a:t>otherwise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586740" algn="r">
              <a:spcBef>
                <a:spcPts val="15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do</a:t>
            </a:r>
            <a:r>
              <a:rPr sz="900" kern="0" spc="33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a</a:t>
            </a:r>
            <a:r>
              <a:rPr sz="900" kern="0" spc="47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9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h</a:t>
            </a:r>
            <a:r>
              <a:rPr sz="900" kern="0" spc="-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9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r</a:t>
            </a:r>
            <a:r>
              <a:rPr sz="900" kern="0" spc="-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d</a:t>
            </a:r>
            <a:r>
              <a:rPr sz="900" kern="0" spc="16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h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g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1257935" algn="ctr">
              <a:spcBef>
                <a:spcPts val="20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kern="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143377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Multiple</a:t>
            </a:r>
            <a:r>
              <a:rPr spc="110" dirty="0"/>
              <a:t> </a:t>
            </a:r>
            <a:r>
              <a:rPr spc="-10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54594"/>
            <a:ext cx="3339465" cy="10814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Compares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variable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each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case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order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When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match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found,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starts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executing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inner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code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until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4780">
              <a:spcBef>
                <a:spcPts val="35"/>
              </a:spcBef>
            </a:pP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break;</a:t>
            </a:r>
            <a:r>
              <a:rPr sz="1100" kern="0" spc="-32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reached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Execution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“falls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through”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if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break;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not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included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130425">
              <a:spcBef>
                <a:spcPts val="920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ch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20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838" y="1612933"/>
            <a:ext cx="1494155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95630" algn="ctr">
              <a:spcBef>
                <a:spcPts val="9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ch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20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602615" algn="ctr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kern="0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’Y’</a:t>
            </a:r>
            <a:r>
              <a:rPr sz="900" kern="0" spc="-38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602615" algn="ctr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kern="0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’y’</a:t>
            </a:r>
            <a:r>
              <a:rPr sz="900" kern="0" spc="-38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3370" marR="5080" algn="ctr">
              <a:lnSpc>
                <a:spcPct val="101499"/>
              </a:lnSpc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do</a:t>
            </a:r>
            <a:r>
              <a:rPr sz="900" kern="0" spc="39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something</a:t>
            </a:r>
            <a:r>
              <a:rPr sz="900" kern="0" spc="16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3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f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 ch</a:t>
            </a:r>
            <a:r>
              <a:rPr sz="900" kern="0" spc="34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==</a:t>
            </a:r>
            <a:r>
              <a:rPr sz="900" kern="0" spc="13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-1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Y</a:t>
            </a:r>
            <a:r>
              <a:rPr sz="900" kern="0" spc="-5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12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35" dirty="0">
                <a:solidFill>
                  <a:srgbClr val="B50A0A"/>
                </a:solidFill>
                <a:latin typeface="Arial MT"/>
                <a:cs typeface="Arial MT"/>
              </a:rPr>
              <a:t>or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1940" algn="ctr">
              <a:spcBef>
                <a:spcPts val="20"/>
              </a:spcBef>
            </a:pP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ch</a:t>
            </a:r>
            <a:r>
              <a:rPr sz="900" kern="0" spc="34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==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-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y</a:t>
            </a:r>
            <a:r>
              <a:rPr sz="900" kern="0" spc="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13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R="532130" algn="ctr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kern="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011" y="2587162"/>
            <a:ext cx="63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2739" y="1612933"/>
            <a:ext cx="1361440" cy="1136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kern="0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’Y’</a:t>
            </a:r>
            <a:r>
              <a:rPr sz="900" kern="0" spc="-38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655" marR="5080" algn="ctr">
              <a:lnSpc>
                <a:spcPct val="101499"/>
              </a:lnSpc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do</a:t>
            </a:r>
            <a:r>
              <a:rPr sz="900" kern="0" spc="39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something</a:t>
            </a:r>
            <a:r>
              <a:rPr sz="900" kern="0" spc="16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3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f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 ch</a:t>
            </a:r>
            <a:r>
              <a:rPr sz="900" kern="0" spc="34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==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-17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Y</a:t>
            </a:r>
            <a:r>
              <a:rPr sz="900" kern="0" spc="-5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kern="0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’N’</a:t>
            </a:r>
            <a:r>
              <a:rPr sz="900" kern="0" spc="-38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655" marR="5080" algn="ctr">
              <a:lnSpc>
                <a:spcPct val="101499"/>
              </a:lnSpc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do</a:t>
            </a:r>
            <a:r>
              <a:rPr sz="900" kern="0" spc="39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something</a:t>
            </a:r>
            <a:r>
              <a:rPr sz="900" kern="0" spc="16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3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f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 ch</a:t>
            </a:r>
            <a:r>
              <a:rPr sz="900" kern="0" spc="34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==</a:t>
            </a:r>
            <a:r>
              <a:rPr sz="900" kern="0" spc="13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-1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Y</a:t>
            </a:r>
            <a:r>
              <a:rPr sz="900" kern="0" spc="-5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12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35" dirty="0">
                <a:solidFill>
                  <a:srgbClr val="B50A0A"/>
                </a:solidFill>
                <a:latin typeface="Arial MT"/>
                <a:cs typeface="Arial MT"/>
              </a:rPr>
              <a:t>or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9225" algn="ctr">
              <a:spcBef>
                <a:spcPts val="15"/>
              </a:spcBef>
            </a:pP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ch</a:t>
            </a:r>
            <a:r>
              <a:rPr sz="900" kern="0" spc="35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==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’N</a:t>
            </a:r>
            <a:r>
              <a:rPr sz="900" kern="0" spc="-7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’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51130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kern="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7249" y="2726315"/>
            <a:ext cx="63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564604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90" dirty="0"/>
              <a:t> </a:t>
            </a:r>
            <a:r>
              <a:rPr b="0" dirty="0">
                <a:latin typeface="Courier New"/>
                <a:cs typeface="Courier New"/>
              </a:rPr>
              <a:t>switch</a:t>
            </a:r>
            <a:r>
              <a:rPr b="0" spc="-360" dirty="0">
                <a:latin typeface="Courier New"/>
                <a:cs typeface="Courier New"/>
              </a:rPr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263292"/>
            <a:ext cx="370522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Contents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of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switch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block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Case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labels:</a:t>
            </a:r>
            <a:r>
              <a:rPr sz="1100" kern="0" spc="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different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entry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points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into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block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Similar</a:t>
            </a:r>
            <a:r>
              <a:rPr sz="11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labels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used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with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goto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keyword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(next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lecture.</a:t>
            </a:r>
            <a:r>
              <a:rPr sz="1100" kern="0" spc="-1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.</a:t>
            </a:r>
            <a:r>
              <a:rPr sz="1100" kern="0" spc="-1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.</a:t>
            </a:r>
            <a:r>
              <a:rPr sz="1100" kern="0" spc="-1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349248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Loop</a:t>
            </a:r>
            <a:r>
              <a:rPr spc="105" dirty="0"/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79281"/>
            <a:ext cx="244094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while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for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do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while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break</a:t>
            </a:r>
            <a:r>
              <a:rPr sz="1100" kern="0" spc="-35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and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continue</a:t>
            </a:r>
            <a:r>
              <a:rPr sz="1100" kern="0" spc="-35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keywords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426491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80" dirty="0"/>
              <a:t> </a:t>
            </a:r>
            <a:r>
              <a:rPr b="0" dirty="0">
                <a:latin typeface="Courier New"/>
                <a:cs typeface="Courier New"/>
              </a:rPr>
              <a:t>while</a:t>
            </a:r>
            <a:r>
              <a:rPr b="0" spc="-36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768" y="1141953"/>
            <a:ext cx="3792854" cy="1012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900" b="1" kern="0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kern="0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14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c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d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15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54940">
              <a:spcBef>
                <a:spcPts val="15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60" dirty="0">
                <a:solidFill>
                  <a:srgbClr val="B50A0A"/>
                </a:solidFill>
                <a:latin typeface="Arial MT"/>
                <a:cs typeface="Arial MT"/>
              </a:rPr>
              <a:t>loop</a:t>
            </a:r>
            <a:r>
              <a:rPr sz="900" kern="0" spc="459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body</a:t>
            </a:r>
            <a:r>
              <a:rPr sz="900" kern="0" spc="484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>
              <a:spcBef>
                <a:spcPts val="200"/>
              </a:spcBef>
            </a:pP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8130" marR="414020" indent="-130810">
              <a:lnSpc>
                <a:spcPct val="102600"/>
              </a:lnSpc>
              <a:buSzPct val="90909"/>
              <a:buFont typeface="Lucida Sans Unicode"/>
              <a:buChar char="•"/>
              <a:tabLst>
                <a:tab pos="280035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Simplest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structure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–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evaluate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body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as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long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as 	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is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true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8130" indent="-130810">
              <a:spcBef>
                <a:spcPts val="335"/>
              </a:spcBef>
              <a:buSzPct val="90909"/>
              <a:buFont typeface="Lucida Sans Unicode"/>
              <a:buChar char="•"/>
              <a:tabLst>
                <a:tab pos="27813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evaluated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first,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so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body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may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never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executed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967705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b="0" dirty="0">
                <a:latin typeface="Courier New"/>
                <a:cs typeface="Courier New"/>
              </a:rPr>
              <a:t>for</a:t>
            </a:r>
            <a:r>
              <a:rPr b="0" spc="-38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445" y="617634"/>
            <a:ext cx="3898265" cy="2323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spcBef>
                <a:spcPts val="9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f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o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</a:t>
            </a:r>
            <a:r>
              <a:rPr sz="9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4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50495">
              <a:spcBef>
                <a:spcPts val="1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17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45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2100" marR="2124710" indent="-145415">
              <a:lnSpc>
                <a:spcPct val="101499"/>
              </a:lnSpc>
            </a:pPr>
            <a:r>
              <a:rPr sz="900" b="1" kern="0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kern="0" spc="12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5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15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&lt;=</a:t>
            </a:r>
            <a:r>
              <a:rPr sz="900" kern="0" spc="3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17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++)</a:t>
            </a:r>
            <a:r>
              <a:rPr sz="900" kern="0" spc="5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3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Lucida Sans Unicode"/>
                <a:cs typeface="Lucida Sans Unicode"/>
              </a:rPr>
              <a:t>∗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5415">
              <a:spcBef>
                <a:spcPts val="15"/>
              </a:spcBef>
            </a:pPr>
            <a:r>
              <a:rPr sz="900" b="1" kern="0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kern="0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>
              <a:spcBef>
                <a:spcPts val="235"/>
              </a:spcBef>
            </a:pP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2415" indent="-130810">
              <a:spcBef>
                <a:spcPts val="5"/>
              </a:spcBef>
              <a:buSzPct val="90909"/>
              <a:buFont typeface="Lucida Sans Unicode"/>
              <a:buChar char="•"/>
              <a:tabLst>
                <a:tab pos="272415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“counting”</a:t>
            </a:r>
            <a:r>
              <a:rPr sz="11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2415" marR="40894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27432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Inside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parentheses,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three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expressions,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separated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by 	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semicolons: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551815" lvl="1" indent="-128270">
              <a:lnSpc>
                <a:spcPts val="1200"/>
              </a:lnSpc>
              <a:spcBef>
                <a:spcPts val="470"/>
              </a:spcBef>
              <a:buSzPct val="90000"/>
              <a:buFont typeface="Lucida Sans Unicode"/>
              <a:buChar char="•"/>
              <a:tabLst>
                <a:tab pos="551815" algn="l"/>
              </a:tabLst>
            </a:pP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Initialization:</a:t>
            </a:r>
            <a:r>
              <a:rPr sz="1000" kern="0" spc="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</a:t>
            </a:r>
            <a:r>
              <a:rPr sz="100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0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=</a:t>
            </a:r>
            <a:r>
              <a:rPr sz="100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000" kern="0" spc="-50" dirty="0">
                <a:solidFill>
                  <a:sysClr val="windowText" lastClr="000000"/>
                </a:solidFill>
                <a:latin typeface="Courier New"/>
                <a:cs typeface="Courier New"/>
              </a:rPr>
              <a:t>1</a:t>
            </a:r>
            <a:endParaRPr sz="1000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5181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551815" algn="l"/>
              </a:tabLst>
            </a:pP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Condition:</a:t>
            </a:r>
            <a:r>
              <a:rPr sz="1000" kern="0" spc="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</a:t>
            </a:r>
            <a:r>
              <a:rPr sz="1000" kern="0" spc="-1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0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&lt;=</a:t>
            </a:r>
            <a:r>
              <a:rPr sz="100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000" kern="0" spc="-50" dirty="0">
                <a:solidFill>
                  <a:sysClr val="windowText" lastClr="000000"/>
                </a:solidFill>
                <a:latin typeface="Courier New"/>
                <a:cs typeface="Courier New"/>
              </a:rPr>
              <a:t>n</a:t>
            </a:r>
            <a:endParaRPr sz="1000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5181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551815" algn="l"/>
              </a:tabLst>
            </a:pP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Increment:</a:t>
            </a:r>
            <a:r>
              <a:rPr sz="1000" kern="0" spc="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000" kern="0" spc="-25" dirty="0">
                <a:solidFill>
                  <a:sysClr val="windowText" lastClr="000000"/>
                </a:solidFill>
                <a:latin typeface="Courier New"/>
                <a:cs typeface="Courier New"/>
              </a:rPr>
              <a:t>i++</a:t>
            </a:r>
            <a:endParaRPr sz="1000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272415" indent="-130810">
              <a:spcBef>
                <a:spcPts val="555"/>
              </a:spcBef>
              <a:buSzPct val="90909"/>
              <a:buFont typeface="Lucida Sans Unicode"/>
              <a:buChar char="•"/>
              <a:tabLst>
                <a:tab pos="272415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Expressions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can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empty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(condition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assumed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“true”)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15427140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b="0" dirty="0">
                <a:latin typeface="Courier New"/>
                <a:cs typeface="Courier New"/>
              </a:rPr>
              <a:t>for</a:t>
            </a:r>
            <a:r>
              <a:rPr b="0" spc="-38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03682"/>
            <a:ext cx="2333625" cy="16052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spcBef>
                <a:spcPts val="795"/>
              </a:spcBef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Equivalent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to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while</a:t>
            </a:r>
            <a:r>
              <a:rPr sz="1100" kern="0" spc="-35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loop: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575">
              <a:spcBef>
                <a:spcPts val="570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f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o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</a:t>
            </a:r>
            <a:r>
              <a:rPr sz="9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4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5735">
              <a:spcBef>
                <a:spcPts val="20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4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5735">
              <a:spcBef>
                <a:spcPts val="1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13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4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a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l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z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a</a:t>
            </a:r>
            <a:r>
              <a:rPr sz="900" kern="0" spc="-5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6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17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307340" marR="5080" indent="-149225">
              <a:lnSpc>
                <a:spcPct val="101499"/>
              </a:lnSpc>
            </a:pPr>
            <a:r>
              <a:rPr sz="900" b="1" kern="0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kern="0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&lt;=</a:t>
            </a:r>
            <a:r>
              <a:rPr sz="900" kern="0" spc="3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900" kern="0" spc="43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c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d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4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j</a:t>
            </a:r>
            <a:r>
              <a:rPr sz="900" kern="0" spc="3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Lucida Sans Unicode"/>
                <a:cs typeface="Lucida Sans Unicode"/>
              </a:rPr>
              <a:t>∗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307340">
              <a:spcBef>
                <a:spcPts val="1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++;</a:t>
            </a:r>
            <a:r>
              <a:rPr sz="900" kern="0" spc="14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75" dirty="0">
                <a:solidFill>
                  <a:srgbClr val="B50A0A"/>
                </a:solidFill>
                <a:latin typeface="Arial MT"/>
                <a:cs typeface="Arial MT"/>
              </a:rPr>
              <a:t>increment</a:t>
            </a:r>
            <a:r>
              <a:rPr sz="900" kern="0" spc="15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4465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655">
              <a:spcBef>
                <a:spcPts val="15"/>
              </a:spcBef>
            </a:pPr>
            <a:r>
              <a:rPr sz="900" b="1" kern="0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kern="0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7305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2669222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b="0" dirty="0">
                <a:latin typeface="Courier New"/>
                <a:cs typeface="Courier New"/>
              </a:rPr>
              <a:t>for</a:t>
            </a:r>
            <a:r>
              <a:rPr b="0" spc="-38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37385"/>
            <a:ext cx="3431540" cy="165036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3510" indent="-130810">
              <a:spcBef>
                <a:spcPts val="79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Compound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expressions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separated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by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commas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290">
              <a:spcBef>
                <a:spcPts val="570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f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o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</a:t>
            </a:r>
            <a:r>
              <a:rPr sz="9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4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7815">
              <a:spcBef>
                <a:spcPts val="20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17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4640">
              <a:spcBef>
                <a:spcPts val="15"/>
              </a:spcBef>
            </a:pPr>
            <a:r>
              <a:rPr sz="900" b="1" kern="0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kern="0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13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4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1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14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&lt;=</a:t>
            </a:r>
            <a:r>
              <a:rPr sz="900" kern="0" spc="3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16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4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Lucida Sans Unicode"/>
                <a:cs typeface="Lucida Sans Unicode"/>
              </a:rPr>
              <a:t>∗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11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16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++)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436245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3370">
              <a:spcBef>
                <a:spcPts val="15"/>
              </a:spcBef>
            </a:pPr>
            <a:r>
              <a:rPr sz="900" b="1" kern="0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kern="0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j</a:t>
            </a:r>
            <a:r>
              <a:rPr sz="900" kern="0" spc="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2875" marR="5080" indent="-130810">
              <a:lnSpc>
                <a:spcPct val="102600"/>
              </a:lnSpc>
              <a:spcBef>
                <a:spcPts val="94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Comma:</a:t>
            </a:r>
            <a:r>
              <a:rPr sz="1100" kern="0" spc="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operator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with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lowest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precedence,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evaluated 	left-to-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right;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not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same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as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between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function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arguments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966834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b="0" dirty="0">
                <a:latin typeface="Courier New"/>
                <a:cs typeface="Courier New"/>
              </a:rPr>
              <a:t>do-while</a:t>
            </a:r>
            <a:r>
              <a:rPr b="0" spc="-340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458" y="790620"/>
            <a:ext cx="1994535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>
              <a:spcBef>
                <a:spcPts val="9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kern="0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</a:t>
            </a:r>
            <a:r>
              <a:rPr sz="9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do</a:t>
            </a:r>
            <a:r>
              <a:rPr sz="900" b="1" kern="0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5100">
              <a:spcBef>
                <a:spcPts val="15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60" dirty="0">
                <a:solidFill>
                  <a:srgbClr val="B50A0A"/>
                </a:solidFill>
                <a:latin typeface="Arial MT"/>
                <a:cs typeface="Arial MT"/>
              </a:rPr>
              <a:t>loop</a:t>
            </a:r>
            <a:r>
              <a:rPr sz="900" kern="0" spc="459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body</a:t>
            </a:r>
            <a:r>
              <a:rPr sz="900" kern="0" spc="484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55575" marR="13335" indent="5715">
              <a:lnSpc>
                <a:spcPct val="101499"/>
              </a:lnSpc>
            </a:pPr>
            <a:r>
              <a:rPr sz="900" kern="0" spc="60" dirty="0">
                <a:solidFill>
                  <a:sysClr val="windowText" lastClr="000000"/>
                </a:solidFill>
                <a:latin typeface="Arial MT"/>
                <a:cs typeface="Arial MT"/>
              </a:rPr>
              <a:t>puts</a:t>
            </a:r>
            <a:r>
              <a:rPr sz="9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"Keep</a:t>
            </a:r>
            <a:r>
              <a:rPr sz="900" kern="0" spc="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going? (y/n) "</a:t>
            </a:r>
            <a:r>
              <a:rPr sz="900" kern="0" spc="-36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c</a:t>
            </a:r>
            <a:r>
              <a:rPr sz="900" kern="0" spc="3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75" dirty="0">
                <a:solidFill>
                  <a:sysClr val="windowText" lastClr="000000"/>
                </a:solidFill>
                <a:latin typeface="Arial MT"/>
                <a:cs typeface="Arial MT"/>
              </a:rPr>
              <a:t>getchar</a:t>
            </a:r>
            <a:r>
              <a:rPr sz="900" kern="0" spc="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5100">
              <a:spcBef>
                <a:spcPts val="20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75" dirty="0">
                <a:solidFill>
                  <a:srgbClr val="B50A0A"/>
                </a:solidFill>
                <a:latin typeface="Arial MT"/>
                <a:cs typeface="Arial MT"/>
              </a:rPr>
              <a:t>other</a:t>
            </a:r>
            <a:r>
              <a:rPr sz="900" kern="0" spc="12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80" dirty="0">
                <a:solidFill>
                  <a:srgbClr val="B50A0A"/>
                </a:solidFill>
                <a:latin typeface="Arial MT"/>
                <a:cs typeface="Arial MT"/>
              </a:rPr>
              <a:t>processing</a:t>
            </a:r>
            <a:r>
              <a:rPr sz="900" kern="0" spc="13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575">
              <a:spcBef>
                <a:spcPts val="1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r>
              <a:rPr sz="900" kern="0" spc="4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b="1" kern="0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kern="0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</a:t>
            </a:r>
            <a:r>
              <a:rPr sz="900" kern="0" spc="3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==</a:t>
            </a:r>
            <a:r>
              <a:rPr sz="900" kern="0" spc="2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’y’</a:t>
            </a:r>
            <a:r>
              <a:rPr sz="900" kern="0" spc="-5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&amp;&amp;</a:t>
            </a:r>
            <a:r>
              <a:rPr sz="900" kern="0" spc="36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8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65" dirty="0">
                <a:solidFill>
                  <a:srgbClr val="B50A0A"/>
                </a:solidFill>
                <a:latin typeface="Arial MT"/>
                <a:cs typeface="Arial MT"/>
              </a:rPr>
              <a:t>other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2536" y="1625683"/>
            <a:ext cx="10128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c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d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s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5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58" y="1924925"/>
            <a:ext cx="3619500" cy="784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5080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Differs</a:t>
            </a:r>
            <a:r>
              <a:rPr sz="1100" kern="0" spc="-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from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while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–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evaluated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after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each 	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iteration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Body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executed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at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least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once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Note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semicolon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at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end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90854380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80" dirty="0"/>
              <a:t> </a:t>
            </a:r>
            <a:r>
              <a:rPr b="0" dirty="0">
                <a:latin typeface="Courier New"/>
                <a:cs typeface="Courier New"/>
              </a:rPr>
              <a:t>break</a:t>
            </a:r>
            <a:r>
              <a:rPr b="0" spc="-365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627656"/>
            <a:ext cx="3513454" cy="21513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Sometimes</a:t>
            </a:r>
            <a:r>
              <a:rPr sz="11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want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terminate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early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2875" marR="5080" indent="-130810">
              <a:lnSpc>
                <a:spcPct val="102600"/>
              </a:lnSpc>
              <a:spcBef>
                <a:spcPts val="300"/>
              </a:spcBef>
              <a:buClr>
                <a:srgbClr val="000000"/>
              </a:buClr>
              <a:buSzPct val="111111"/>
              <a:buFont typeface="Lucida Sans Unicode"/>
              <a:buChar char="•"/>
              <a:tabLst>
                <a:tab pos="144780" algn="l"/>
              </a:tabLst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exits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innermost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or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switch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statement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exit 	early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Consider</a:t>
            </a:r>
            <a:r>
              <a:rPr sz="110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modification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of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the</a:t>
            </a:r>
            <a:r>
              <a:rPr sz="11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Courier New"/>
                <a:cs typeface="Courier New"/>
              </a:rPr>
              <a:t>do-while</a:t>
            </a:r>
            <a:r>
              <a:rPr sz="1100" kern="0" spc="-36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example: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51765">
              <a:spcBef>
                <a:spcPts val="57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kern="0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</a:t>
            </a:r>
            <a:r>
              <a:rPr sz="9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4145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do</a:t>
            </a:r>
            <a:r>
              <a:rPr sz="900" b="1" kern="0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7180">
              <a:spcBef>
                <a:spcPts val="20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60" dirty="0">
                <a:solidFill>
                  <a:srgbClr val="B50A0A"/>
                </a:solidFill>
                <a:latin typeface="Arial MT"/>
                <a:cs typeface="Arial MT"/>
              </a:rPr>
              <a:t>loop</a:t>
            </a:r>
            <a:r>
              <a:rPr sz="900" kern="0" spc="459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body</a:t>
            </a:r>
            <a:r>
              <a:rPr sz="900" kern="0" spc="484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87020" marR="1400810" indent="5715">
              <a:lnSpc>
                <a:spcPct val="101499"/>
              </a:lnSpc>
            </a:pPr>
            <a:r>
              <a:rPr sz="900" kern="0" spc="60" dirty="0">
                <a:solidFill>
                  <a:sysClr val="windowText" lastClr="000000"/>
                </a:solidFill>
                <a:latin typeface="Arial MT"/>
                <a:cs typeface="Arial MT"/>
              </a:rPr>
              <a:t>puts</a:t>
            </a:r>
            <a:r>
              <a:rPr sz="900" kern="0" spc="-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"Keep</a:t>
            </a:r>
            <a:r>
              <a:rPr sz="900" kern="0" spc="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going? (y/n) "</a:t>
            </a:r>
            <a:r>
              <a:rPr sz="900" kern="0" spc="-36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 c</a:t>
            </a:r>
            <a:r>
              <a:rPr sz="900" kern="0" spc="3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75" dirty="0">
                <a:solidFill>
                  <a:sysClr val="windowText" lastClr="000000"/>
                </a:solidFill>
                <a:latin typeface="Arial MT"/>
                <a:cs typeface="Arial MT"/>
              </a:rPr>
              <a:t>getchar</a:t>
            </a:r>
            <a:r>
              <a:rPr sz="900" kern="0" spc="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304165">
              <a:spcBef>
                <a:spcPts val="1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c</a:t>
            </a:r>
            <a:r>
              <a:rPr sz="900" kern="0" spc="43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!</a:t>
            </a:r>
            <a:r>
              <a:rPr sz="900" kern="0" spc="-15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’y’</a:t>
            </a:r>
            <a:r>
              <a:rPr sz="900" kern="0" spc="-42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424815">
              <a:spcBef>
                <a:spcPts val="15"/>
              </a:spcBef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kern="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7180">
              <a:spcBef>
                <a:spcPts val="15"/>
              </a:spcBef>
            </a:pP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spc="75" dirty="0">
                <a:solidFill>
                  <a:srgbClr val="B50A0A"/>
                </a:solidFill>
                <a:latin typeface="Arial MT"/>
                <a:cs typeface="Arial MT"/>
              </a:rPr>
              <a:t>other</a:t>
            </a:r>
            <a:r>
              <a:rPr sz="900" kern="0" spc="12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80" dirty="0">
                <a:solidFill>
                  <a:srgbClr val="B50A0A"/>
                </a:solidFill>
                <a:latin typeface="Arial MT"/>
                <a:cs typeface="Arial MT"/>
              </a:rPr>
              <a:t>processing</a:t>
            </a:r>
            <a:r>
              <a:rPr sz="900" kern="0" spc="13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15"/>
              </a:spcBef>
            </a:pP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r>
              <a:rPr sz="900" kern="0" spc="4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b="1" kern="0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kern="0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49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75" dirty="0">
                <a:solidFill>
                  <a:srgbClr val="B50A0A"/>
                </a:solidFill>
                <a:latin typeface="Arial MT"/>
                <a:cs typeface="Arial MT"/>
              </a:rPr>
              <a:t>other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c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d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t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n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s</a:t>
            </a:r>
            <a:r>
              <a:rPr sz="900" kern="0" spc="14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5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9602577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b="0" dirty="0">
                <a:latin typeface="Courier New"/>
                <a:cs typeface="Courier New"/>
              </a:rPr>
              <a:t>continue</a:t>
            </a:r>
            <a:r>
              <a:rPr b="0" spc="-340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460639"/>
            <a:ext cx="3832225" cy="25692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Use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skip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an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iteration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2875" marR="104139" indent="-130810">
              <a:lnSpc>
                <a:spcPct val="102600"/>
              </a:lnSpc>
              <a:spcBef>
                <a:spcPts val="300"/>
              </a:spcBef>
              <a:buClr>
                <a:srgbClr val="000000"/>
              </a:buClr>
              <a:buSzPct val="111111"/>
              <a:buFont typeface="Lucida Sans Unicode"/>
              <a:buChar char="•"/>
              <a:tabLst>
                <a:tab pos="144780" algn="l"/>
              </a:tabLst>
            </a:pP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continue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skips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rest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of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innermost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loop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body,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jumping</a:t>
            </a:r>
            <a:r>
              <a:rPr sz="1100" kern="0" spc="-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1100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100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loop 	</a:t>
            </a: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condition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3510" indent="-130810"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Example:</a:t>
            </a:r>
            <a:endParaRPr sz="1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47320">
              <a:spcBef>
                <a:spcPts val="57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kern="0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60" dirty="0">
                <a:solidFill>
                  <a:srgbClr val="0000FF"/>
                </a:solidFill>
                <a:latin typeface="Arial"/>
                <a:cs typeface="Arial"/>
              </a:rPr>
              <a:t>define</a:t>
            </a:r>
            <a:r>
              <a:rPr sz="900" b="1" kern="0" spc="4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min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6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4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</a:t>
            </a:r>
            <a:r>
              <a:rPr sz="900" kern="0" spc="4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</a:t>
            </a:r>
            <a:r>
              <a:rPr sz="900" kern="0" spc="-11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4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?</a:t>
            </a:r>
            <a:r>
              <a:rPr sz="900" kern="0" spc="43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11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5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:</a:t>
            </a:r>
            <a:r>
              <a:rPr sz="900" kern="0" spc="16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1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>
              <a:spcBef>
                <a:spcPts val="75"/>
              </a:spcBef>
            </a:pP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290">
              <a:spcBef>
                <a:spcPts val="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gcd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16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4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b</a:t>
            </a:r>
            <a:r>
              <a:rPr sz="900" kern="0" spc="-11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4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7815">
              <a:spcBef>
                <a:spcPts val="1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kern="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kern="0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12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165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-1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</a:t>
            </a:r>
            <a:r>
              <a:rPr sz="900" kern="0" spc="-1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4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4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70" dirty="0">
                <a:solidFill>
                  <a:sysClr val="windowText" lastClr="000000"/>
                </a:solidFill>
                <a:latin typeface="Arial MT"/>
                <a:cs typeface="Arial MT"/>
              </a:rPr>
              <a:t>minval</a:t>
            </a:r>
            <a:r>
              <a:rPr sz="900" kern="0" spc="3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3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min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-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,</a:t>
            </a:r>
            <a:r>
              <a:rPr sz="900" kern="0" spc="-8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</a:t>
            </a:r>
            <a:r>
              <a:rPr sz="900" kern="0" spc="-5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-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4640">
              <a:spcBef>
                <a:spcPts val="15"/>
              </a:spcBef>
            </a:pPr>
            <a:r>
              <a:rPr sz="900" b="1" kern="0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kern="0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7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0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r>
              <a:rPr sz="900" kern="0" spc="-1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16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9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&lt;=</a:t>
            </a:r>
            <a:r>
              <a:rPr sz="900" kern="0" spc="39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70" dirty="0">
                <a:solidFill>
                  <a:sysClr val="windowText" lastClr="000000"/>
                </a:solidFill>
                <a:latin typeface="Arial MT"/>
                <a:cs typeface="Arial MT"/>
              </a:rPr>
              <a:t>minval</a:t>
            </a:r>
            <a:r>
              <a:rPr sz="900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r>
              <a:rPr sz="900" kern="0" spc="18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-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++)</a:t>
            </a:r>
            <a:r>
              <a:rPr sz="900" kern="0" spc="4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{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440690">
              <a:spcBef>
                <a:spcPts val="15"/>
              </a:spcBef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a</a:t>
            </a:r>
            <a:r>
              <a:rPr sz="900" kern="0" spc="1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%</a:t>
            </a:r>
            <a:r>
              <a:rPr sz="900" kern="0" spc="3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4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3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155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not</a:t>
            </a:r>
            <a:r>
              <a:rPr sz="900" kern="0" spc="14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d</a:t>
            </a:r>
            <a:r>
              <a:rPr sz="900" kern="0" spc="-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v</a:t>
            </a:r>
            <a:r>
              <a:rPr sz="900" kern="0" spc="-10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s</a:t>
            </a:r>
            <a:r>
              <a:rPr sz="900" kern="0" spc="-10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r</a:t>
            </a:r>
            <a:r>
              <a:rPr sz="900" kern="0" spc="15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of</a:t>
            </a:r>
            <a:r>
              <a:rPr sz="900" kern="0" spc="43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a</a:t>
            </a:r>
            <a:r>
              <a:rPr sz="900" kern="0" spc="434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562610">
              <a:spcBef>
                <a:spcPts val="15"/>
              </a:spcBef>
            </a:pPr>
            <a:r>
              <a:rPr sz="900" b="1" kern="0" spc="30" dirty="0">
                <a:solidFill>
                  <a:srgbClr val="0000FF"/>
                </a:solidFill>
                <a:latin typeface="Arial"/>
                <a:cs typeface="Arial"/>
              </a:rPr>
              <a:t>continue</a:t>
            </a:r>
            <a:r>
              <a:rPr sz="900" b="1" kern="0" spc="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572770" marR="5080" indent="-132715">
              <a:lnSpc>
                <a:spcPct val="101499"/>
              </a:lnSpc>
            </a:pPr>
            <a:r>
              <a:rPr sz="900" b="1" kern="0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kern="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kern="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kern="0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(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</a:t>
            </a:r>
            <a:r>
              <a:rPr sz="900" kern="0" spc="18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%</a:t>
            </a:r>
            <a:r>
              <a:rPr sz="900" kern="0" spc="3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47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==</a:t>
            </a:r>
            <a:r>
              <a:rPr sz="900" kern="0" spc="40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0</a:t>
            </a:r>
            <a:r>
              <a:rPr sz="900" kern="0" spc="-1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)</a:t>
            </a:r>
            <a:r>
              <a:rPr sz="900" kern="0" spc="130" dirty="0">
                <a:solidFill>
                  <a:sysClr val="windowText" lastClr="000000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2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13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18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1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s</a:t>
            </a:r>
            <a:r>
              <a:rPr sz="900" kern="0" spc="17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d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0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v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i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s</a:t>
            </a:r>
            <a:r>
              <a:rPr sz="900" kern="0" spc="-10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o</a:t>
            </a:r>
            <a:r>
              <a:rPr sz="900" kern="0" spc="-10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r</a:t>
            </a:r>
            <a:r>
              <a:rPr sz="900" kern="0" spc="150" dirty="0">
                <a:solidFill>
                  <a:srgbClr val="B50A0A"/>
                </a:solidFill>
                <a:latin typeface="Arial MT"/>
                <a:cs typeface="Arial MT"/>
              </a:rPr>
              <a:t> 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of</a:t>
            </a:r>
            <a:r>
              <a:rPr sz="900" kern="0" spc="484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55" dirty="0">
                <a:solidFill>
                  <a:srgbClr val="B50A0A"/>
                </a:solidFill>
                <a:latin typeface="Arial MT"/>
                <a:cs typeface="Arial MT"/>
              </a:rPr>
              <a:t>both</a:t>
            </a:r>
            <a:r>
              <a:rPr sz="900" kern="0" spc="39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a</a:t>
            </a:r>
            <a:r>
              <a:rPr sz="900" kern="0" spc="345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and</a:t>
            </a:r>
            <a:r>
              <a:rPr sz="900" kern="0" spc="34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rgbClr val="B50A0A"/>
                </a:solidFill>
                <a:latin typeface="Arial MT"/>
                <a:cs typeface="Arial MT"/>
              </a:rPr>
              <a:t>b</a:t>
            </a:r>
            <a:r>
              <a:rPr sz="900" kern="0" spc="434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kern="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kern="0" spc="-50" dirty="0">
                <a:solidFill>
                  <a:srgbClr val="B50A0A"/>
                </a:solidFill>
                <a:latin typeface="Arial MT"/>
                <a:cs typeface="Arial MT"/>
              </a:rPr>
              <a:t>/</a:t>
            </a:r>
            <a:r>
              <a:rPr sz="900" kern="0" spc="-10" dirty="0">
                <a:solidFill>
                  <a:srgbClr val="B50A0A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</a:t>
            </a:r>
            <a:r>
              <a:rPr sz="900" kern="0" spc="-1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434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900" kern="0" spc="45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i</a:t>
            </a:r>
            <a:r>
              <a:rPr sz="900" kern="0" spc="6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6545">
              <a:spcBef>
                <a:spcPts val="15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293370">
              <a:spcBef>
                <a:spcPts val="15"/>
              </a:spcBef>
            </a:pPr>
            <a:r>
              <a:rPr sz="900" b="1" kern="0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kern="0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r</a:t>
            </a:r>
            <a:r>
              <a:rPr sz="900" kern="0" spc="-1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e</a:t>
            </a:r>
            <a:r>
              <a:rPr sz="900" kern="0" spc="-10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t</a:t>
            </a:r>
            <a:r>
              <a:rPr sz="900" kern="0" spc="3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;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0020">
              <a:spcBef>
                <a:spcPts val="20"/>
              </a:spcBef>
            </a:pPr>
            <a:r>
              <a:rPr sz="90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}</a:t>
            </a:r>
            <a:endParaRPr sz="9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pc="-25" dirty="0">
                <a:solidFill>
                  <a:prstClr val="black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507823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8714</TotalTime>
  <Words>3712</Words>
  <Application>Microsoft Office PowerPoint</Application>
  <PresentationFormat>Custom</PresentationFormat>
  <Paragraphs>716</Paragraphs>
  <Slides>61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3" baseType="lpstr">
      <vt:lpstr>Office Theme</vt:lpstr>
      <vt:lpstr>1_Office Theme</vt:lpstr>
      <vt:lpstr>BACSE104 (2 4 0 4) Structured and Object Oriented Programming</vt:lpstr>
      <vt:lpstr>Course Outcome</vt:lpstr>
      <vt:lpstr>PowerPoint Presentation</vt:lpstr>
      <vt:lpstr>PowerPoint Presentation</vt:lpstr>
      <vt:lpstr>PowerPoint Presentation</vt:lpstr>
      <vt:lpstr>Theory</vt:lpstr>
      <vt:lpstr>PowerPoint Presentation</vt:lpstr>
      <vt:lpstr>Schedule for PAT</vt:lpstr>
      <vt:lpstr>Schedule for PAT</vt:lpstr>
      <vt:lpstr>What is C?</vt:lpstr>
      <vt:lpstr>Features of C</vt:lpstr>
      <vt:lpstr>What is C used for?</vt:lpstr>
      <vt:lpstr>C vs. related languages</vt:lpstr>
      <vt:lpstr>Warning: low-level language!</vt:lpstr>
      <vt:lpstr>PowerPoint Presentation</vt:lpstr>
      <vt:lpstr>First Code</vt:lpstr>
      <vt:lpstr>C Programming language</vt:lpstr>
      <vt:lpstr>Deﬁnitions</vt:lpstr>
      <vt:lpstr>Deﬁnitions (contd.)</vt:lpstr>
      <vt:lpstr>Variable names</vt:lpstr>
      <vt:lpstr>Data types and sizes</vt:lpstr>
      <vt:lpstr>Numeric data types</vt:lpstr>
      <vt:lpstr>DATA TYPES</vt:lpstr>
      <vt:lpstr>FORMAT SPECTFIERS</vt:lpstr>
      <vt:lpstr>Constants</vt:lpstr>
      <vt:lpstr>PowerPoint Presentation</vt:lpstr>
      <vt:lpstr>Declarations</vt:lpstr>
      <vt:lpstr>PowerPoint Presentation</vt:lpstr>
      <vt:lpstr>PowerPoint Presentation</vt:lpstr>
      <vt:lpstr>Relational Operators</vt:lpstr>
      <vt:lpstr>Relational Operators</vt:lpstr>
      <vt:lpstr>Logical operators</vt:lpstr>
      <vt:lpstr>Increment and decrement operators</vt:lpstr>
      <vt:lpstr>Increment and decrement operators</vt:lpstr>
      <vt:lpstr>Bitwise Operators</vt:lpstr>
      <vt:lpstr>Assignment Operators</vt:lpstr>
      <vt:lpstr>Conditional Expression</vt:lpstr>
      <vt:lpstr>Type Conversions</vt:lpstr>
      <vt:lpstr>Precedence and Order of Evaluation</vt:lpstr>
      <vt:lpstr>PowerPoint Presentation</vt:lpstr>
      <vt:lpstr>Blocks and compound statements</vt:lpstr>
      <vt:lpstr>Blocks</vt:lpstr>
      <vt:lpstr>Nested blocks</vt:lpstr>
      <vt:lpstr>Control conditions</vt:lpstr>
      <vt:lpstr>PowerPoint Presentation</vt:lpstr>
      <vt:lpstr>The if statement</vt:lpstr>
      <vt:lpstr>The else keyword</vt:lpstr>
      <vt:lpstr>The else if keyword</vt:lpstr>
      <vt:lpstr>Nesting if statements</vt:lpstr>
      <vt:lpstr>Nesting if statements</vt:lpstr>
      <vt:lpstr>The switch statement</vt:lpstr>
      <vt:lpstr>Multiple cases</vt:lpstr>
      <vt:lpstr>The switch statement</vt:lpstr>
      <vt:lpstr>Loop statements</vt:lpstr>
      <vt:lpstr>The while loop</vt:lpstr>
      <vt:lpstr>The for loop</vt:lpstr>
      <vt:lpstr>The for loop</vt:lpstr>
      <vt:lpstr>The for loop</vt:lpstr>
      <vt:lpstr>The do-while loop</vt:lpstr>
      <vt:lpstr>The break keyword</vt:lpstr>
      <vt:lpstr>The continue keyword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C?</dc:title>
  <dc:creator>Sharat Chikkerur</dc:creator>
  <cp:lastModifiedBy>Radha Ranganathan</cp:lastModifiedBy>
  <cp:revision>24</cp:revision>
  <dcterms:created xsi:type="dcterms:W3CDTF">2024-01-03T08:48:56Z</dcterms:created>
  <dcterms:modified xsi:type="dcterms:W3CDTF">2025-12-05T08:02:38Z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2010-04-03T00:00:00Z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2024-01-03T00:00:00Z</vt:filetime>
  </property>
</Properties>
</file>