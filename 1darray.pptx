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307" r:id="rId5"/>
    <p:sldId id="310" r:id="rId6"/>
    <p:sldId id="308" r:id="rId7"/>
    <p:sldId id="256" r:id="rId8"/>
    <p:sldId id="257" r:id="rId9"/>
    <p:sldId id="259" r:id="rId10"/>
    <p:sldId id="258" r:id="rId11"/>
    <p:sldId id="260" r:id="rId12"/>
    <p:sldId id="261" r:id="rId13"/>
    <p:sldId id="262" r:id="rId14"/>
    <p:sldId id="263" r:id="rId15"/>
    <p:sldId id="273" r:id="rId16"/>
    <p:sldId id="309" r:id="rId17"/>
    <p:sldId id="272" r:id="rId18"/>
    <p:sldId id="270" r:id="rId19"/>
    <p:sldId id="276" r:id="rId20"/>
    <p:sldId id="277" r:id="rId21"/>
    <p:sldId id="299" r:id="rId22"/>
    <p:sldId id="300" r:id="rId23"/>
    <p:sldId id="278" r:id="rId24"/>
    <p:sldId id="279" r:id="rId25"/>
    <p:sldId id="301" r:id="rId26"/>
    <p:sldId id="303" r:id="rId27"/>
    <p:sldId id="304" r:id="rId28"/>
    <p:sldId id="305" r:id="rId29"/>
    <p:sldId id="306" r:id="rId30"/>
    <p:sldId id="274" r:id="rId31"/>
    <p:sldId id="275"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4624" autoAdjust="0"/>
  </p:normalViewPr>
  <p:slideViewPr>
    <p:cSldViewPr>
      <p:cViewPr>
        <p:scale>
          <a:sx n="80" d="100"/>
          <a:sy n="80" d="100"/>
        </p:scale>
        <p:origin x="-876"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C03CFD-3C1A-41A3-81CC-68CCBF584AAF}" type="datetimeFigureOut">
              <a:rPr lang="en-US" smtClean="0"/>
              <a:pPr/>
              <a:t>1/17/2026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44A91B-9C55-46DE-BC52-8F918EDF2834}" type="slidenum">
              <a:rPr lang="en-GB" smtClean="0"/>
              <a:pPr/>
              <a:t>‹#›</a:t>
            </a:fld>
            <a:endParaRPr lang="en-GB"/>
          </a:p>
        </p:txBody>
      </p:sp>
    </p:spTree>
    <p:extLst>
      <p:ext uri="{BB962C8B-B14F-4D97-AF65-F5344CB8AC3E}">
        <p14:creationId xmlns:p14="http://schemas.microsoft.com/office/powerpoint/2010/main" val="4046892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153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74B0974-B3BA-4748-8B62-1023DA19F1ED}" type="slidenum">
              <a:rPr lang="en-US"/>
              <a:pPr fontAlgn="base">
                <a:spcBef>
                  <a:spcPct val="0"/>
                </a:spcBef>
                <a:spcAft>
                  <a:spcPct val="0"/>
                </a:spcAft>
              </a:pPr>
              <a:t>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153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74B0974-B3BA-4748-8B62-1023DA19F1ED}" type="slidenum">
              <a:rPr lang="en-US"/>
              <a:pPr fontAlgn="base">
                <a:spcBef>
                  <a:spcPct val="0"/>
                </a:spcBef>
                <a:spcAft>
                  <a:spcPct val="0"/>
                </a:spcAft>
              </a:pPr>
              <a:t>25</a:t>
            </a:fld>
            <a:endParaRPr lang="en-US"/>
          </a:p>
        </p:txBody>
      </p:sp>
    </p:spTree>
    <p:extLst>
      <p:ext uri="{BB962C8B-B14F-4D97-AF65-F5344CB8AC3E}">
        <p14:creationId xmlns:p14="http://schemas.microsoft.com/office/powerpoint/2010/main" val="3038836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27F7E33-0294-4AEA-8B64-63B084E368B9}" type="datetimeFigureOut">
              <a:rPr lang="en-US" smtClean="0"/>
              <a:pPr/>
              <a:t>1/17/2026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27F7E33-0294-4AEA-8B64-63B084E368B9}" type="datetimeFigureOut">
              <a:rPr lang="en-US" smtClean="0"/>
              <a:pPr/>
              <a:t>1/17/2026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27F7E33-0294-4AEA-8B64-63B084E368B9}" type="datetimeFigureOut">
              <a:rPr lang="en-US" smtClean="0"/>
              <a:pPr/>
              <a:t>1/17/2026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7F7E33-0294-4AEA-8B64-63B084E368B9}" type="datetimeFigureOut">
              <a:rPr lang="en-US" smtClean="0"/>
              <a:pPr/>
              <a:t>1/17/2026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7F7E33-0294-4AEA-8B64-63B084E368B9}" type="datetimeFigureOut">
              <a:rPr lang="en-US" smtClean="0"/>
              <a:pPr/>
              <a:t>1/17/2026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7F7E33-0294-4AEA-8B64-63B084E368B9}" type="datetimeFigureOut">
              <a:rPr lang="en-US" smtClean="0"/>
              <a:pPr/>
              <a:t>1/17/2026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27F7E33-0294-4AEA-8B64-63B084E368B9}" type="datetimeFigureOut">
              <a:rPr lang="en-US" smtClean="0"/>
              <a:pPr/>
              <a:t>1/17/2026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F1A5E7E-EC26-45B8-88F1-B365ECAFA947}"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7F7E33-0294-4AEA-8B64-63B084E368B9}" type="datetimeFigureOut">
              <a:rPr lang="en-US" smtClean="0"/>
              <a:pPr/>
              <a:t>1/17/2026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1A5E7E-EC26-45B8-88F1-B365ECAFA947}"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Format </a:t>
            </a:r>
            <a:r>
              <a:rPr lang="en-IN" dirty="0" err="1" smtClean="0"/>
              <a:t>specifiers</a:t>
            </a:r>
            <a:r>
              <a:rPr lang="en-IN" dirty="0" smtClean="0"/>
              <a:t> in </a:t>
            </a:r>
            <a:r>
              <a:rPr lang="en-IN" dirty="0" err="1" smtClean="0"/>
              <a:t>printf</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25672620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60575662"/>
              </p:ext>
            </p:extLst>
          </p:nvPr>
        </p:nvGraphicFramePr>
        <p:xfrm>
          <a:off x="179512" y="44624"/>
          <a:ext cx="8712970" cy="7218574"/>
        </p:xfrm>
        <a:graphic>
          <a:graphicData uri="http://schemas.openxmlformats.org/drawingml/2006/table">
            <a:tbl>
              <a:tblPr>
                <a:tableStyleId>{5940675A-B579-460E-94D1-54222C63F5DA}</a:tableStyleId>
              </a:tblPr>
              <a:tblGrid>
                <a:gridCol w="1742594"/>
                <a:gridCol w="1742594"/>
                <a:gridCol w="1742594"/>
                <a:gridCol w="1742594"/>
                <a:gridCol w="1742594"/>
              </a:tblGrid>
              <a:tr h="353459">
                <a:tc>
                  <a:txBody>
                    <a:bodyPr/>
                    <a:lstStyle/>
                    <a:p>
                      <a:r>
                        <a:rPr lang="en-IN" sz="2000" dirty="0"/>
                        <a:t>Flag</a:t>
                      </a:r>
                    </a:p>
                  </a:txBody>
                  <a:tcPr marL="46183" marR="46183" marT="23092" marB="23092" anchor="ctr"/>
                </a:tc>
                <a:tc>
                  <a:txBody>
                    <a:bodyPr/>
                    <a:lstStyle/>
                    <a:p>
                      <a:r>
                        <a:rPr lang="en-IN" sz="2000"/>
                        <a:t>Format</a:t>
                      </a:r>
                    </a:p>
                  </a:txBody>
                  <a:tcPr marL="46183" marR="46183" marT="23092" marB="23092" anchor="ctr"/>
                </a:tc>
                <a:tc>
                  <a:txBody>
                    <a:bodyPr/>
                    <a:lstStyle/>
                    <a:p>
                      <a:r>
                        <a:rPr lang="en-IN" sz="2000"/>
                        <a:t>Value</a:t>
                      </a:r>
                    </a:p>
                  </a:txBody>
                  <a:tcPr marL="46183" marR="46183" marT="23092" marB="23092" anchor="ctr"/>
                </a:tc>
                <a:tc>
                  <a:txBody>
                    <a:bodyPr/>
                    <a:lstStyle/>
                    <a:p>
                      <a:r>
                        <a:rPr lang="en-IN" sz="2000"/>
                        <a:t>Output</a:t>
                      </a:r>
                    </a:p>
                  </a:txBody>
                  <a:tcPr marL="46183" marR="46183" marT="23092" marB="23092" anchor="ctr"/>
                </a:tc>
                <a:tc>
                  <a:txBody>
                    <a:bodyPr/>
                    <a:lstStyle/>
                    <a:p>
                      <a:r>
                        <a:rPr lang="en-IN" sz="2000"/>
                        <a:t>Explanation</a:t>
                      </a:r>
                    </a:p>
                  </a:txBody>
                  <a:tcPr marL="46183" marR="46183" marT="23092" marB="23092" anchor="ctr"/>
                </a:tc>
              </a:tr>
              <a:tr h="650632">
                <a:tc>
                  <a:txBody>
                    <a:bodyPr/>
                    <a:lstStyle/>
                    <a:p>
                      <a:r>
                        <a:rPr lang="en-IN" sz="2000" dirty="0"/>
                        <a:t>-</a:t>
                      </a:r>
                    </a:p>
                  </a:txBody>
                  <a:tcPr marL="46183" marR="46183" marT="23092" marB="23092" anchor="ctr"/>
                </a:tc>
                <a:tc>
                  <a:txBody>
                    <a:bodyPr/>
                    <a:lstStyle/>
                    <a:p>
                      <a:r>
                        <a:rPr lang="en-IN" sz="2000"/>
                        <a:t>%-6d</a:t>
                      </a:r>
                    </a:p>
                  </a:txBody>
                  <a:tcPr marL="46183" marR="46183" marT="23092" marB="23092" anchor="ctr"/>
                </a:tc>
                <a:tc>
                  <a:txBody>
                    <a:bodyPr/>
                    <a:lstStyle/>
                    <a:p>
                      <a:r>
                        <a:rPr lang="en-IN" sz="2000"/>
                        <a:t>12</a:t>
                      </a:r>
                    </a:p>
                  </a:txBody>
                  <a:tcPr marL="46183" marR="46183" marT="23092" marB="23092" anchor="ctr"/>
                </a:tc>
                <a:tc>
                  <a:txBody>
                    <a:bodyPr/>
                    <a:lstStyle/>
                    <a:p>
                      <a:r>
                        <a:rPr lang="en-IN" sz="2000"/>
                        <a:t>12</a:t>
                      </a:r>
                    </a:p>
                  </a:txBody>
                  <a:tcPr marL="46183" marR="46183" marT="23092" marB="23092" anchor="ctr"/>
                </a:tc>
                <a:tc>
                  <a:txBody>
                    <a:bodyPr/>
                    <a:lstStyle/>
                    <a:p>
                      <a:r>
                        <a:rPr lang="en-IN" sz="2000"/>
                        <a:t>Left-justified within width</a:t>
                      </a:r>
                    </a:p>
                  </a:txBody>
                  <a:tcPr marL="46183" marR="46183" marT="23092" marB="23092" anchor="ctr"/>
                </a:tc>
              </a:tr>
              <a:tr h="650632">
                <a:tc>
                  <a:txBody>
                    <a:bodyPr/>
                    <a:lstStyle/>
                    <a:p>
                      <a:r>
                        <a:rPr lang="en-IN" sz="2000" dirty="0"/>
                        <a:t>0</a:t>
                      </a:r>
                    </a:p>
                  </a:txBody>
                  <a:tcPr marL="46183" marR="46183" marT="23092" marB="23092" anchor="ctr"/>
                </a:tc>
                <a:tc>
                  <a:txBody>
                    <a:bodyPr/>
                    <a:lstStyle/>
                    <a:p>
                      <a:r>
                        <a:rPr lang="en-IN" sz="2000" dirty="0"/>
                        <a:t>%06d</a:t>
                      </a:r>
                    </a:p>
                  </a:txBody>
                  <a:tcPr marL="46183" marR="46183" marT="23092" marB="23092" anchor="ctr"/>
                </a:tc>
                <a:tc>
                  <a:txBody>
                    <a:bodyPr/>
                    <a:lstStyle/>
                    <a:p>
                      <a:r>
                        <a:rPr lang="en-IN" sz="2000"/>
                        <a:t>12</a:t>
                      </a:r>
                    </a:p>
                  </a:txBody>
                  <a:tcPr marL="46183" marR="46183" marT="23092" marB="23092" anchor="ctr"/>
                </a:tc>
                <a:tc>
                  <a:txBody>
                    <a:bodyPr/>
                    <a:lstStyle/>
                    <a:p>
                      <a:r>
                        <a:rPr lang="en-IN" sz="2000"/>
                        <a:t>000012</a:t>
                      </a:r>
                    </a:p>
                  </a:txBody>
                  <a:tcPr marL="46183" marR="46183" marT="23092" marB="23092" anchor="ctr"/>
                </a:tc>
                <a:tc>
                  <a:txBody>
                    <a:bodyPr/>
                    <a:lstStyle/>
                    <a:p>
                      <a:r>
                        <a:rPr lang="en-IN" sz="2000"/>
                        <a:t>Zero-padded on the left</a:t>
                      </a:r>
                    </a:p>
                  </a:txBody>
                  <a:tcPr marL="46183" marR="46183" marT="23092" marB="23092" anchor="ctr"/>
                </a:tc>
              </a:tr>
              <a:tr h="775669">
                <a:tc>
                  <a:txBody>
                    <a:bodyPr/>
                    <a:lstStyle/>
                    <a:p>
                      <a:r>
                        <a:rPr lang="en-IN" sz="2000"/>
                        <a:t>+</a:t>
                      </a:r>
                    </a:p>
                  </a:txBody>
                  <a:tcPr marL="46183" marR="46183" marT="23092" marB="23092" anchor="ctr"/>
                </a:tc>
                <a:tc>
                  <a:txBody>
                    <a:bodyPr/>
                    <a:lstStyle/>
                    <a:p>
                      <a:r>
                        <a:rPr lang="en-IN" sz="2000" dirty="0"/>
                        <a:t>%+d</a:t>
                      </a:r>
                    </a:p>
                  </a:txBody>
                  <a:tcPr marL="46183" marR="46183" marT="23092" marB="23092" anchor="ctr"/>
                </a:tc>
                <a:tc>
                  <a:txBody>
                    <a:bodyPr/>
                    <a:lstStyle/>
                    <a:p>
                      <a:r>
                        <a:rPr lang="en-IN" sz="2000"/>
                        <a:t>12</a:t>
                      </a:r>
                    </a:p>
                  </a:txBody>
                  <a:tcPr marL="46183" marR="46183" marT="23092" marB="23092" anchor="ctr"/>
                </a:tc>
                <a:tc>
                  <a:txBody>
                    <a:bodyPr/>
                    <a:lstStyle/>
                    <a:p>
                      <a:r>
                        <a:rPr lang="en-IN" sz="2000"/>
                        <a:t>+12</a:t>
                      </a:r>
                    </a:p>
                  </a:txBody>
                  <a:tcPr marL="46183" marR="46183" marT="23092" marB="23092" anchor="ctr"/>
                </a:tc>
                <a:tc>
                  <a:txBody>
                    <a:bodyPr/>
                    <a:lstStyle/>
                    <a:p>
                      <a:r>
                        <a:rPr lang="en-US" sz="2000"/>
                        <a:t>Forces sign for positive number</a:t>
                      </a:r>
                    </a:p>
                  </a:txBody>
                  <a:tcPr marL="46183" marR="46183" marT="23092" marB="23092" anchor="ctr"/>
                </a:tc>
              </a:tr>
              <a:tr h="775669">
                <a:tc>
                  <a:txBody>
                    <a:bodyPr/>
                    <a:lstStyle/>
                    <a:p>
                      <a:r>
                        <a:rPr lang="en-IN" sz="2000"/>
                        <a:t>space</a:t>
                      </a:r>
                    </a:p>
                  </a:txBody>
                  <a:tcPr marL="46183" marR="46183" marT="23092" marB="23092" anchor="ctr"/>
                </a:tc>
                <a:tc>
                  <a:txBody>
                    <a:bodyPr/>
                    <a:lstStyle/>
                    <a:p>
                      <a:r>
                        <a:rPr lang="en-IN" sz="2000" dirty="0"/>
                        <a:t>% d</a:t>
                      </a:r>
                    </a:p>
                  </a:txBody>
                  <a:tcPr marL="46183" marR="46183" marT="23092" marB="23092" anchor="ctr"/>
                </a:tc>
                <a:tc>
                  <a:txBody>
                    <a:bodyPr/>
                    <a:lstStyle/>
                    <a:p>
                      <a:r>
                        <a:rPr lang="en-IN" sz="2000" dirty="0"/>
                        <a:t>12</a:t>
                      </a:r>
                    </a:p>
                  </a:txBody>
                  <a:tcPr marL="46183" marR="46183" marT="23092" marB="23092" anchor="ctr"/>
                </a:tc>
                <a:tc>
                  <a:txBody>
                    <a:bodyPr/>
                    <a:lstStyle/>
                    <a:p>
                      <a:r>
                        <a:rPr lang="en-IN" sz="2000"/>
                        <a:t>12</a:t>
                      </a:r>
                    </a:p>
                  </a:txBody>
                  <a:tcPr marL="46183" marR="46183" marT="23092" marB="23092" anchor="ctr"/>
                </a:tc>
                <a:tc>
                  <a:txBody>
                    <a:bodyPr/>
                    <a:lstStyle/>
                    <a:p>
                      <a:r>
                        <a:rPr lang="en-US" sz="2000"/>
                        <a:t>Leading space for positive number</a:t>
                      </a:r>
                    </a:p>
                  </a:txBody>
                  <a:tcPr marL="46183" marR="46183" marT="23092" marB="23092" anchor="ctr"/>
                </a:tc>
              </a:tr>
              <a:tr h="542968">
                <a:tc>
                  <a:txBody>
                    <a:bodyPr/>
                    <a:lstStyle/>
                    <a:p>
                      <a:r>
                        <a:rPr lang="en-IN" sz="2000" dirty="0"/>
                        <a:t>- + width</a:t>
                      </a:r>
                    </a:p>
                  </a:txBody>
                  <a:tcPr marL="46183" marR="46183" marT="23092" marB="23092" anchor="ctr"/>
                </a:tc>
                <a:tc>
                  <a:txBody>
                    <a:bodyPr/>
                    <a:lstStyle/>
                    <a:p>
                      <a:r>
                        <a:rPr lang="en-IN" sz="2000"/>
                        <a:t>%-8.2f</a:t>
                      </a:r>
                    </a:p>
                  </a:txBody>
                  <a:tcPr marL="46183" marR="46183" marT="23092" marB="23092" anchor="ctr"/>
                </a:tc>
                <a:tc>
                  <a:txBody>
                    <a:bodyPr/>
                    <a:lstStyle/>
                    <a:p>
                      <a:r>
                        <a:rPr lang="en-IN" sz="2000" dirty="0"/>
                        <a:t>12.3</a:t>
                      </a:r>
                    </a:p>
                  </a:txBody>
                  <a:tcPr marL="46183" marR="46183" marT="23092" marB="23092" anchor="ctr"/>
                </a:tc>
                <a:tc>
                  <a:txBody>
                    <a:bodyPr/>
                    <a:lstStyle/>
                    <a:p>
                      <a:r>
                        <a:rPr lang="en-IN" sz="2000"/>
                        <a:t>12.30</a:t>
                      </a:r>
                    </a:p>
                  </a:txBody>
                  <a:tcPr marL="46183" marR="46183" marT="23092" marB="23092" anchor="ctr"/>
                </a:tc>
                <a:tc>
                  <a:txBody>
                    <a:bodyPr/>
                    <a:lstStyle/>
                    <a:p>
                      <a:r>
                        <a:rPr lang="en-IN" sz="2000"/>
                        <a:t>Left-aligned float</a:t>
                      </a:r>
                    </a:p>
                  </a:txBody>
                  <a:tcPr marL="46183" marR="46183" marT="23092" marB="23092" anchor="ctr"/>
                </a:tc>
              </a:tr>
              <a:tr h="650632">
                <a:tc>
                  <a:txBody>
                    <a:bodyPr/>
                    <a:lstStyle/>
                    <a:p>
                      <a:r>
                        <a:rPr lang="en-IN" sz="2000"/>
                        <a:t>0 + width</a:t>
                      </a:r>
                    </a:p>
                  </a:txBody>
                  <a:tcPr marL="46183" marR="46183" marT="23092" marB="23092" anchor="ctr"/>
                </a:tc>
                <a:tc>
                  <a:txBody>
                    <a:bodyPr/>
                    <a:lstStyle/>
                    <a:p>
                      <a:r>
                        <a:rPr lang="en-IN" sz="2000"/>
                        <a:t>%08.2f</a:t>
                      </a:r>
                    </a:p>
                  </a:txBody>
                  <a:tcPr marL="46183" marR="46183" marT="23092" marB="23092" anchor="ctr"/>
                </a:tc>
                <a:tc>
                  <a:txBody>
                    <a:bodyPr/>
                    <a:lstStyle/>
                    <a:p>
                      <a:r>
                        <a:rPr lang="en-IN" sz="2000"/>
                        <a:t>12.3</a:t>
                      </a:r>
                    </a:p>
                  </a:txBody>
                  <a:tcPr marL="46183" marR="46183" marT="23092" marB="23092" anchor="ctr"/>
                </a:tc>
                <a:tc>
                  <a:txBody>
                    <a:bodyPr/>
                    <a:lstStyle/>
                    <a:p>
                      <a:r>
                        <a:rPr lang="en-IN" sz="2000" dirty="0"/>
                        <a:t>00012.30</a:t>
                      </a:r>
                    </a:p>
                  </a:txBody>
                  <a:tcPr marL="46183" marR="46183" marT="23092" marB="23092" anchor="ctr"/>
                </a:tc>
                <a:tc>
                  <a:txBody>
                    <a:bodyPr/>
                    <a:lstStyle/>
                    <a:p>
                      <a:r>
                        <a:rPr lang="en-IN" sz="2000"/>
                        <a:t>Zero-padded float</a:t>
                      </a:r>
                    </a:p>
                  </a:txBody>
                  <a:tcPr marL="46183" marR="46183" marT="23092" marB="23092" anchor="ctr"/>
                </a:tc>
              </a:tr>
              <a:tr h="650632">
                <a:tc>
                  <a:txBody>
                    <a:bodyPr/>
                    <a:lstStyle/>
                    <a:p>
                      <a:r>
                        <a:rPr lang="en-IN" sz="2000" dirty="0"/>
                        <a:t>+ + width</a:t>
                      </a:r>
                    </a:p>
                  </a:txBody>
                  <a:tcPr marL="46183" marR="46183" marT="23092" marB="23092" anchor="ctr"/>
                </a:tc>
                <a:tc>
                  <a:txBody>
                    <a:bodyPr/>
                    <a:lstStyle/>
                    <a:p>
                      <a:r>
                        <a:rPr lang="en-IN" sz="2000"/>
                        <a:t>%+8.2f</a:t>
                      </a:r>
                    </a:p>
                  </a:txBody>
                  <a:tcPr marL="46183" marR="46183" marT="23092" marB="23092" anchor="ctr"/>
                </a:tc>
                <a:tc>
                  <a:txBody>
                    <a:bodyPr/>
                    <a:lstStyle/>
                    <a:p>
                      <a:r>
                        <a:rPr lang="en-IN" sz="2000"/>
                        <a:t>12.3</a:t>
                      </a:r>
                    </a:p>
                  </a:txBody>
                  <a:tcPr marL="46183" marR="46183" marT="23092" marB="23092" anchor="ctr"/>
                </a:tc>
                <a:tc>
                  <a:txBody>
                    <a:bodyPr/>
                    <a:lstStyle/>
                    <a:p>
                      <a:r>
                        <a:rPr lang="en-IN" sz="2000" dirty="0"/>
                        <a:t>+12.30</a:t>
                      </a:r>
                    </a:p>
                  </a:txBody>
                  <a:tcPr marL="46183" marR="46183" marT="23092" marB="23092" anchor="ctr"/>
                </a:tc>
                <a:tc>
                  <a:txBody>
                    <a:bodyPr/>
                    <a:lstStyle/>
                    <a:p>
                      <a:r>
                        <a:rPr lang="en-IN" sz="2000" dirty="0"/>
                        <a:t>Sign with alignment</a:t>
                      </a:r>
                    </a:p>
                  </a:txBody>
                  <a:tcPr marL="46183" marR="46183" marT="23092" marB="23092" anchor="ctr"/>
                </a:tc>
              </a:tr>
              <a:tr h="353459">
                <a:tc>
                  <a:txBody>
                    <a:bodyPr/>
                    <a:lstStyle/>
                    <a:p>
                      <a:r>
                        <a:rPr lang="en-IN" sz="2000"/>
                        <a:t>- + 0</a:t>
                      </a:r>
                    </a:p>
                  </a:txBody>
                  <a:tcPr marL="46183" marR="46183" marT="23092" marB="23092" anchor="ctr"/>
                </a:tc>
                <a:tc>
                  <a:txBody>
                    <a:bodyPr/>
                    <a:lstStyle/>
                    <a:p>
                      <a:r>
                        <a:rPr lang="en-IN" sz="2000"/>
                        <a:t>%-08d</a:t>
                      </a:r>
                    </a:p>
                  </a:txBody>
                  <a:tcPr marL="46183" marR="46183" marT="23092" marB="23092" anchor="ctr"/>
                </a:tc>
                <a:tc>
                  <a:txBody>
                    <a:bodyPr/>
                    <a:lstStyle/>
                    <a:p>
                      <a:r>
                        <a:rPr lang="en-IN" sz="2000"/>
                        <a:t>12</a:t>
                      </a:r>
                    </a:p>
                  </a:txBody>
                  <a:tcPr marL="46183" marR="46183" marT="23092" marB="23092" anchor="ctr"/>
                </a:tc>
                <a:tc>
                  <a:txBody>
                    <a:bodyPr/>
                    <a:lstStyle/>
                    <a:p>
                      <a:r>
                        <a:rPr lang="en-IN" sz="2000"/>
                        <a:t>12</a:t>
                      </a:r>
                    </a:p>
                  </a:txBody>
                  <a:tcPr marL="46183" marR="46183" marT="23092" marB="23092" anchor="ctr"/>
                </a:tc>
                <a:tc>
                  <a:txBody>
                    <a:bodyPr/>
                    <a:lstStyle/>
                    <a:p>
                      <a:r>
                        <a:rPr lang="en-IN" sz="2000" dirty="0"/>
                        <a:t>- overrides 0</a:t>
                      </a:r>
                    </a:p>
                  </a:txBody>
                  <a:tcPr marL="46183" marR="46183" marT="23092" marB="23092" anchor="ctr"/>
                </a:tc>
              </a:tr>
              <a:tr h="542968">
                <a:tc>
                  <a:txBody>
                    <a:bodyPr/>
                    <a:lstStyle/>
                    <a:p>
                      <a:r>
                        <a:rPr lang="en-IN" sz="2000"/>
                        <a:t>+ + space</a:t>
                      </a:r>
                    </a:p>
                  </a:txBody>
                  <a:tcPr marL="46183" marR="46183" marT="23092" marB="23092" anchor="ctr"/>
                </a:tc>
                <a:tc>
                  <a:txBody>
                    <a:bodyPr/>
                    <a:lstStyle/>
                    <a:p>
                      <a:r>
                        <a:rPr lang="en-IN" sz="2000" dirty="0"/>
                        <a:t>%+ d</a:t>
                      </a:r>
                    </a:p>
                  </a:txBody>
                  <a:tcPr marL="46183" marR="46183" marT="23092" marB="23092" anchor="ctr"/>
                </a:tc>
                <a:tc>
                  <a:txBody>
                    <a:bodyPr/>
                    <a:lstStyle/>
                    <a:p>
                      <a:r>
                        <a:rPr lang="en-IN" sz="2000"/>
                        <a:t>12</a:t>
                      </a:r>
                    </a:p>
                  </a:txBody>
                  <a:tcPr marL="46183" marR="46183" marT="23092" marB="23092" anchor="ctr"/>
                </a:tc>
                <a:tc>
                  <a:txBody>
                    <a:bodyPr/>
                    <a:lstStyle/>
                    <a:p>
                      <a:r>
                        <a:rPr lang="en-IN" sz="2000"/>
                        <a:t>+12</a:t>
                      </a:r>
                    </a:p>
                  </a:txBody>
                  <a:tcPr marL="46183" marR="46183" marT="23092" marB="23092" anchor="ctr"/>
                </a:tc>
                <a:tc>
                  <a:txBody>
                    <a:bodyPr/>
                    <a:lstStyle/>
                    <a:p>
                      <a:r>
                        <a:rPr lang="en-IN" sz="2000" dirty="0"/>
                        <a:t>+ overrides space</a:t>
                      </a:r>
                    </a:p>
                  </a:txBody>
                  <a:tcPr marL="46183" marR="46183" marT="23092" marB="23092" anchor="ctr"/>
                </a:tc>
              </a:tr>
              <a:tr h="650632">
                <a:tc>
                  <a:txBody>
                    <a:bodyPr/>
                    <a:lstStyle/>
                    <a:p>
                      <a:r>
                        <a:rPr lang="en-IN" sz="2000"/>
                        <a:t>precision vs 0</a:t>
                      </a:r>
                    </a:p>
                  </a:txBody>
                  <a:tcPr marL="46183" marR="46183" marT="23092" marB="23092" anchor="ctr"/>
                </a:tc>
                <a:tc>
                  <a:txBody>
                    <a:bodyPr/>
                    <a:lstStyle/>
                    <a:p>
                      <a:r>
                        <a:rPr lang="en-IN" sz="2000"/>
                        <a:t>%08.4d</a:t>
                      </a:r>
                    </a:p>
                  </a:txBody>
                  <a:tcPr marL="46183" marR="46183" marT="23092" marB="23092" anchor="ctr"/>
                </a:tc>
                <a:tc>
                  <a:txBody>
                    <a:bodyPr/>
                    <a:lstStyle/>
                    <a:p>
                      <a:r>
                        <a:rPr lang="en-IN" sz="2000"/>
                        <a:t>25</a:t>
                      </a:r>
                    </a:p>
                  </a:txBody>
                  <a:tcPr marL="46183" marR="46183" marT="23092" marB="23092" anchor="ctr"/>
                </a:tc>
                <a:tc>
                  <a:txBody>
                    <a:bodyPr/>
                    <a:lstStyle/>
                    <a:p>
                      <a:r>
                        <a:rPr lang="en-IN" sz="2000"/>
                        <a:t>00000025</a:t>
                      </a:r>
                    </a:p>
                  </a:txBody>
                  <a:tcPr marL="46183" marR="46183" marT="23092" marB="23092" anchor="ctr"/>
                </a:tc>
                <a:tc>
                  <a:txBody>
                    <a:bodyPr/>
                    <a:lstStyle/>
                    <a:p>
                      <a:r>
                        <a:rPr lang="en-IN" sz="2000" dirty="0"/>
                        <a:t>Precision ignores 0 flag</a:t>
                      </a:r>
                    </a:p>
                  </a:txBody>
                  <a:tcPr marL="46183" marR="46183" marT="23092" marB="23092" anchor="ctr"/>
                </a:tc>
              </a:tr>
            </a:tbl>
          </a:graphicData>
        </a:graphic>
      </p:graphicFrame>
    </p:spTree>
    <p:extLst>
      <p:ext uri="{BB962C8B-B14F-4D97-AF65-F5344CB8AC3E}">
        <p14:creationId xmlns:p14="http://schemas.microsoft.com/office/powerpoint/2010/main" val="38064451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73016"/>
            <a:ext cx="8935628"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548679"/>
            <a:ext cx="9278938"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95951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Single dimensional </a:t>
            </a:r>
            <a:r>
              <a:rPr lang="en-GB" dirty="0"/>
              <a:t>	Arrays</a:t>
            </a:r>
          </a:p>
        </p:txBody>
      </p:sp>
      <p:sp>
        <p:nvSpPr>
          <p:cNvPr id="3" name="Subtitle 2"/>
          <p:cNvSpPr>
            <a:spLocks noGrp="1"/>
          </p:cNvSpPr>
          <p:nvPr>
            <p:ph type="subTitle" idx="1"/>
          </p:nvPr>
        </p:nvSpPr>
        <p:spPr/>
        <p:txBody>
          <a:bodyPr/>
          <a:lstStyle/>
          <a:p>
            <a:endParaRPr lang="en-GB"/>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796908"/>
          </a:xfrm>
        </p:spPr>
        <p:txBody>
          <a:bodyPr/>
          <a:lstStyle/>
          <a:p>
            <a:r>
              <a:rPr lang="en-GB" dirty="0"/>
              <a:t>Accident Problem</a:t>
            </a:r>
          </a:p>
        </p:txBody>
      </p:sp>
      <p:sp>
        <p:nvSpPr>
          <p:cNvPr id="3" name="Content Placeholder 2"/>
          <p:cNvSpPr>
            <a:spLocks noGrp="1"/>
          </p:cNvSpPr>
          <p:nvPr>
            <p:ph idx="1"/>
          </p:nvPr>
        </p:nvSpPr>
        <p:spPr>
          <a:xfrm>
            <a:off x="457200" y="1000108"/>
            <a:ext cx="8229600" cy="5572164"/>
          </a:xfrm>
        </p:spPr>
        <p:txBody>
          <a:bodyPr>
            <a:normAutofit/>
          </a:bodyPr>
          <a:lstStyle/>
          <a:p>
            <a:pPr algn="just">
              <a:buNone/>
            </a:pPr>
            <a:r>
              <a:rPr lang="en-GB" dirty="0"/>
              <a:t>	Each year the Department of Traffic Accidents receives accident count reports from a number of cities and towns across the country. Given details of ‘n’ days, develop an algorithm and write a program to determine the average number of accidents and for each day, print the difference between the number of accidents on that day and average. For example, if the number </a:t>
            </a:r>
            <a:r>
              <a:rPr lang="en-GB"/>
              <a:t>of days </a:t>
            </a:r>
            <a:r>
              <a:rPr lang="en-GB" dirty="0"/>
              <a:t>is 5 and the values are 10, 12, 15, 13, 5 then average is 11 and the difference of values are 1, 1, 4, 2, 6</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1414"/>
            <a:ext cx="8229600" cy="714380"/>
          </a:xfrm>
        </p:spPr>
        <p:txBody>
          <a:bodyPr>
            <a:normAutofit fontScale="90000"/>
          </a:bodyPr>
          <a:lstStyle/>
          <a:p>
            <a:r>
              <a:rPr lang="en-GB" b="1" dirty="0"/>
              <a:t>Accident problem</a:t>
            </a:r>
          </a:p>
        </p:txBody>
      </p:sp>
      <p:graphicFrame>
        <p:nvGraphicFramePr>
          <p:cNvPr id="7" name="Table 6"/>
          <p:cNvGraphicFramePr>
            <a:graphicFrameLocks noGrp="1"/>
          </p:cNvGraphicFramePr>
          <p:nvPr/>
        </p:nvGraphicFramePr>
        <p:xfrm>
          <a:off x="214282" y="1500174"/>
          <a:ext cx="8715435" cy="3705875"/>
        </p:xfrm>
        <a:graphic>
          <a:graphicData uri="http://schemas.openxmlformats.org/drawingml/2006/table">
            <a:tbl>
              <a:tblPr firstRow="1" bandRow="1">
                <a:tableStyleId>{5C22544A-7EE6-4342-B048-85BDC9FD1C3A}</a:tableStyleId>
              </a:tblPr>
              <a:tblGrid>
                <a:gridCol w="2905145">
                  <a:extLst>
                    <a:ext uri="{9D8B030D-6E8A-4147-A177-3AD203B41FA5}">
                      <a16:colId xmlns:a16="http://schemas.microsoft.com/office/drawing/2014/main" xmlns="" val="20000"/>
                    </a:ext>
                  </a:extLst>
                </a:gridCol>
                <a:gridCol w="3024209">
                  <a:extLst>
                    <a:ext uri="{9D8B030D-6E8A-4147-A177-3AD203B41FA5}">
                      <a16:colId xmlns:a16="http://schemas.microsoft.com/office/drawing/2014/main" xmlns="" val="20001"/>
                    </a:ext>
                  </a:extLst>
                </a:gridCol>
                <a:gridCol w="2786081">
                  <a:extLst>
                    <a:ext uri="{9D8B030D-6E8A-4147-A177-3AD203B41FA5}">
                      <a16:colId xmlns:a16="http://schemas.microsoft.com/office/drawing/2014/main" xmlns="" val="20002"/>
                    </a:ext>
                  </a:extLst>
                </a:gridCol>
              </a:tblGrid>
              <a:tr h="1176035">
                <a:tc>
                  <a:txBody>
                    <a:bodyPr/>
                    <a:lstStyle/>
                    <a:p>
                      <a:r>
                        <a:rPr lang="en-GB" sz="3200" dirty="0"/>
                        <a:t>Input</a:t>
                      </a:r>
                    </a:p>
                  </a:txBody>
                  <a:tcPr/>
                </a:tc>
                <a:tc>
                  <a:txBody>
                    <a:bodyPr/>
                    <a:lstStyle/>
                    <a:p>
                      <a:r>
                        <a:rPr lang="en-GB" sz="3200" dirty="0"/>
                        <a:t>Output</a:t>
                      </a:r>
                    </a:p>
                  </a:txBody>
                  <a:tcPr/>
                </a:tc>
                <a:tc>
                  <a:txBody>
                    <a:bodyPr/>
                    <a:lstStyle/>
                    <a:p>
                      <a:r>
                        <a:rPr lang="en-GB" sz="3200" dirty="0"/>
                        <a:t>Logic Involved</a:t>
                      </a:r>
                    </a:p>
                  </a:txBody>
                  <a:tcPr/>
                </a:tc>
                <a:extLst>
                  <a:ext uri="{0D108BD9-81ED-4DB2-BD59-A6C34878D82A}">
                    <a16:rowId xmlns:a16="http://schemas.microsoft.com/office/drawing/2014/main" xmlns="" val="10000"/>
                  </a:ext>
                </a:extLst>
              </a:tr>
              <a:tr h="681353">
                <a:tc>
                  <a:txBody>
                    <a:bodyPr/>
                    <a:lstStyle/>
                    <a:p>
                      <a:r>
                        <a:rPr lang="en-GB" sz="3200" dirty="0"/>
                        <a:t>Value</a:t>
                      </a:r>
                      <a:r>
                        <a:rPr lang="en-GB" sz="3200" baseline="0" dirty="0"/>
                        <a:t> of ‘n’, ‘n’ numbers</a:t>
                      </a:r>
                      <a:endParaRPr lang="en-GB" sz="3200" dirty="0"/>
                    </a:p>
                  </a:txBody>
                  <a:tcPr/>
                </a:tc>
                <a:tc>
                  <a:txBody>
                    <a:bodyPr/>
                    <a:lstStyle/>
                    <a:p>
                      <a:r>
                        <a:rPr lang="en-GB" sz="3200" dirty="0"/>
                        <a:t>Average and</a:t>
                      </a:r>
                      <a:r>
                        <a:rPr lang="en-GB" sz="3200" baseline="0" dirty="0"/>
                        <a:t> ‘n’ values that is the difference between average and value</a:t>
                      </a:r>
                      <a:endParaRPr lang="en-GB" sz="3200" dirty="0"/>
                    </a:p>
                  </a:txBody>
                  <a:tcPr/>
                </a:tc>
                <a:tc>
                  <a:txBody>
                    <a:bodyPr/>
                    <a:lstStyle/>
                    <a:p>
                      <a:r>
                        <a:rPr lang="en-GB" sz="3100" dirty="0"/>
                        <a:t>Find</a:t>
                      </a:r>
                      <a:r>
                        <a:rPr lang="en-GB" sz="3100" baseline="0" dirty="0"/>
                        <a:t> a</a:t>
                      </a:r>
                      <a:r>
                        <a:rPr lang="en-GB" sz="3100" dirty="0"/>
                        <a:t>verage and difference</a:t>
                      </a:r>
                    </a:p>
                  </a:txBody>
                  <a:tcPr/>
                </a:tc>
                <a:extLst>
                  <a:ext uri="{0D108BD9-81ED-4DB2-BD59-A6C34878D82A}">
                    <a16:rowId xmlns:a16="http://schemas.microsoft.com/office/drawing/2014/main" xmlns="" val="10001"/>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796908"/>
          </a:xfrm>
        </p:spPr>
        <p:txBody>
          <a:bodyPr/>
          <a:lstStyle/>
          <a:p>
            <a:r>
              <a:rPr lang="en-GB" dirty="0"/>
              <a:t>Algorithm</a:t>
            </a:r>
          </a:p>
        </p:txBody>
      </p:sp>
      <p:sp>
        <p:nvSpPr>
          <p:cNvPr id="3" name="Content Placeholder 2"/>
          <p:cNvSpPr>
            <a:spLocks noGrp="1"/>
          </p:cNvSpPr>
          <p:nvPr>
            <p:ph idx="1"/>
          </p:nvPr>
        </p:nvSpPr>
        <p:spPr>
          <a:xfrm>
            <a:off x="457200" y="1000108"/>
            <a:ext cx="8229600" cy="5572164"/>
          </a:xfrm>
        </p:spPr>
        <p:txBody>
          <a:bodyPr>
            <a:normAutofit/>
          </a:bodyPr>
          <a:lstStyle/>
          <a:p>
            <a:pPr marL="514350" indent="-514350" algn="just">
              <a:buAutoNum type="arabicPeriod"/>
            </a:pPr>
            <a:r>
              <a:rPr lang="en-GB" dirty="0"/>
              <a:t>Read the value of ‘n’</a:t>
            </a:r>
          </a:p>
          <a:p>
            <a:pPr marL="514350" indent="-514350" algn="just">
              <a:buAutoNum type="arabicPeriod"/>
            </a:pPr>
            <a:r>
              <a:rPr lang="en-GB" dirty="0"/>
              <a:t>Read the number of accidents happened in ‘n’ days</a:t>
            </a:r>
          </a:p>
          <a:p>
            <a:pPr marL="514350" indent="-514350" algn="just">
              <a:buAutoNum type="arabicPeriod"/>
            </a:pPr>
            <a:r>
              <a:rPr lang="en-GB" dirty="0"/>
              <a:t>Find average</a:t>
            </a:r>
          </a:p>
          <a:p>
            <a:pPr marL="514350" indent="-514350" algn="just">
              <a:buAutoNum type="arabicPeriod"/>
            </a:pPr>
            <a:r>
              <a:rPr lang="en-GB" dirty="0"/>
              <a:t>For each value print the difference between average and the value</a:t>
            </a:r>
          </a:p>
          <a:p>
            <a:pPr marL="514350" indent="-514350" algn="just">
              <a:buAutoNum type="arabicPeriod"/>
            </a:pPr>
            <a:endParaRPr lang="en-GB" dirty="0"/>
          </a:p>
          <a:p>
            <a:pPr marL="514350" indent="-514350" algn="just">
              <a:buAutoNum type="arabicPeriod"/>
            </a:pPr>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796908"/>
          </a:xfrm>
        </p:spPr>
        <p:txBody>
          <a:bodyPr/>
          <a:lstStyle/>
          <a:p>
            <a:r>
              <a:rPr lang="en-GB" dirty="0"/>
              <a:t>New Stuff...	</a:t>
            </a:r>
          </a:p>
        </p:txBody>
      </p:sp>
      <p:sp>
        <p:nvSpPr>
          <p:cNvPr id="3" name="Content Placeholder 2"/>
          <p:cNvSpPr>
            <a:spLocks noGrp="1"/>
          </p:cNvSpPr>
          <p:nvPr>
            <p:ph idx="1"/>
          </p:nvPr>
        </p:nvSpPr>
        <p:spPr>
          <a:xfrm>
            <a:off x="457200" y="1000108"/>
            <a:ext cx="8229600" cy="5572164"/>
          </a:xfrm>
        </p:spPr>
        <p:txBody>
          <a:bodyPr>
            <a:normAutofit/>
          </a:bodyPr>
          <a:lstStyle/>
          <a:p>
            <a:pPr marL="514350" indent="-514350" algn="just"/>
            <a:r>
              <a:rPr lang="en-GB" dirty="0"/>
              <a:t>We can find the difference between average and the number of accidents on a particular day only after reading all numbers from the user</a:t>
            </a:r>
          </a:p>
          <a:p>
            <a:pPr marL="514350" indent="-514350" algn="just"/>
            <a:r>
              <a:rPr lang="en-GB" dirty="0"/>
              <a:t>So data has to be stored</a:t>
            </a:r>
          </a:p>
          <a:p>
            <a:pPr marL="514350" indent="-514350" algn="just"/>
            <a:r>
              <a:rPr lang="en-GB" dirty="0"/>
              <a:t>Same type of data is to be stored</a:t>
            </a:r>
          </a:p>
          <a:p>
            <a:pPr marL="514350" indent="-514350" algn="just"/>
            <a:r>
              <a:rPr lang="en-GB" dirty="0"/>
              <a:t>Number of items not known prior</a:t>
            </a:r>
          </a:p>
          <a:p>
            <a:pPr marL="514350" indent="-514350" algn="just"/>
            <a:r>
              <a:rPr lang="en-GB" dirty="0"/>
              <a:t>Best choice would be using arrays in C</a:t>
            </a:r>
          </a:p>
          <a:p>
            <a:pPr marL="514350" indent="-514350" algn="just"/>
            <a:r>
              <a:rPr lang="en-GB" dirty="0"/>
              <a:t>Array - Can store a fixed-size sequential collection of elements of the same type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60324"/>
            <a:ext cx="8229600" cy="796908"/>
          </a:xfrm>
        </p:spPr>
        <p:txBody>
          <a:bodyPr/>
          <a:lstStyle/>
          <a:p>
            <a:r>
              <a:rPr lang="en-GB" dirty="0"/>
              <a:t>Arrays in C</a:t>
            </a:r>
          </a:p>
        </p:txBody>
      </p:sp>
      <p:sp>
        <p:nvSpPr>
          <p:cNvPr id="3" name="Content Placeholder 2"/>
          <p:cNvSpPr>
            <a:spLocks noGrp="1"/>
          </p:cNvSpPr>
          <p:nvPr>
            <p:ph idx="1"/>
          </p:nvPr>
        </p:nvSpPr>
        <p:spPr>
          <a:xfrm>
            <a:off x="500034" y="928670"/>
            <a:ext cx="8229600" cy="4214842"/>
          </a:xfrm>
        </p:spPr>
        <p:txBody>
          <a:bodyPr>
            <a:normAutofit/>
          </a:bodyPr>
          <a:lstStyle/>
          <a:p>
            <a:r>
              <a:rPr lang="en-GB" dirty="0"/>
              <a:t> Consist of contiguous memory locations</a:t>
            </a:r>
          </a:p>
          <a:p>
            <a:r>
              <a:rPr lang="en-GB" dirty="0"/>
              <a:t>lowest address corresponds to the first element </a:t>
            </a:r>
          </a:p>
          <a:p>
            <a:r>
              <a:rPr lang="en-GB" dirty="0"/>
              <a:t>highest address to the last element</a:t>
            </a:r>
          </a:p>
          <a:p>
            <a:r>
              <a:rPr lang="en-GB" dirty="0"/>
              <a:t>Array indices start with zero</a:t>
            </a:r>
          </a:p>
          <a:p>
            <a:r>
              <a:rPr lang="en-GB" dirty="0"/>
              <a:t>The elements have indices from 0 to ‘n-1’</a:t>
            </a:r>
          </a:p>
          <a:p>
            <a:r>
              <a:rPr lang="en-GB" dirty="0"/>
              <a:t>Similar to list in Python but homogenous</a:t>
            </a:r>
          </a:p>
        </p:txBody>
      </p:sp>
      <p:pic>
        <p:nvPicPr>
          <p:cNvPr id="1026" name="Picture 2"/>
          <p:cNvPicPr>
            <a:picLocks noChangeAspect="1" noChangeArrowheads="1"/>
          </p:cNvPicPr>
          <p:nvPr/>
        </p:nvPicPr>
        <p:blipFill>
          <a:blip r:embed="rId2"/>
          <a:srcRect/>
          <a:stretch>
            <a:fillRect/>
          </a:stretch>
        </p:blipFill>
        <p:spPr bwMode="auto">
          <a:xfrm>
            <a:off x="2000232" y="5429264"/>
            <a:ext cx="4229100" cy="1152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796908"/>
          </a:xfrm>
        </p:spPr>
        <p:txBody>
          <a:bodyPr/>
          <a:lstStyle/>
          <a:p>
            <a:r>
              <a:rPr lang="en-GB" dirty="0"/>
              <a:t>Compare List and Arrays</a:t>
            </a:r>
          </a:p>
        </p:txBody>
      </p:sp>
      <p:graphicFrame>
        <p:nvGraphicFramePr>
          <p:cNvPr id="4" name="Content Placeholder 3"/>
          <p:cNvGraphicFramePr>
            <a:graphicFrameLocks noGrp="1"/>
          </p:cNvGraphicFramePr>
          <p:nvPr>
            <p:ph idx="1"/>
          </p:nvPr>
        </p:nvGraphicFramePr>
        <p:xfrm>
          <a:off x="285720" y="1000108"/>
          <a:ext cx="8643966" cy="5333046"/>
        </p:xfrm>
        <a:graphic>
          <a:graphicData uri="http://schemas.openxmlformats.org/drawingml/2006/table">
            <a:tbl>
              <a:tblPr firstRow="1" bandRow="1">
                <a:tableStyleId>{5C22544A-7EE6-4342-B048-85BDC9FD1C3A}</a:tableStyleId>
              </a:tblPr>
              <a:tblGrid>
                <a:gridCol w="4786346">
                  <a:extLst>
                    <a:ext uri="{9D8B030D-6E8A-4147-A177-3AD203B41FA5}">
                      <a16:colId xmlns:a16="http://schemas.microsoft.com/office/drawing/2014/main" xmlns="" val="20000"/>
                    </a:ext>
                  </a:extLst>
                </a:gridCol>
                <a:gridCol w="3857620">
                  <a:extLst>
                    <a:ext uri="{9D8B030D-6E8A-4147-A177-3AD203B41FA5}">
                      <a16:colId xmlns:a16="http://schemas.microsoft.com/office/drawing/2014/main" xmlns="" val="20001"/>
                    </a:ext>
                  </a:extLst>
                </a:gridCol>
              </a:tblGrid>
              <a:tr h="700086">
                <a:tc>
                  <a:txBody>
                    <a:bodyPr/>
                    <a:lstStyle/>
                    <a:p>
                      <a:r>
                        <a:rPr lang="en-GB" sz="2800" dirty="0"/>
                        <a:t>List</a:t>
                      </a:r>
                    </a:p>
                  </a:txBody>
                  <a:tcPr/>
                </a:tc>
                <a:tc>
                  <a:txBody>
                    <a:bodyPr/>
                    <a:lstStyle/>
                    <a:p>
                      <a:r>
                        <a:rPr lang="en-GB" sz="2800" dirty="0"/>
                        <a:t>Arrays</a:t>
                      </a:r>
                    </a:p>
                  </a:txBody>
                  <a:tcPr/>
                </a:tc>
                <a:extLst>
                  <a:ext uri="{0D108BD9-81ED-4DB2-BD59-A6C34878D82A}">
                    <a16:rowId xmlns:a16="http://schemas.microsoft.com/office/drawing/2014/main" xmlns="" val="10000"/>
                  </a:ext>
                </a:extLst>
              </a:tr>
              <a:tr h="700086">
                <a:tc>
                  <a:txBody>
                    <a:bodyPr/>
                    <a:lstStyle/>
                    <a:p>
                      <a:r>
                        <a:rPr lang="en-GB" sz="2800" dirty="0"/>
                        <a:t>Can have mixed type of elements</a:t>
                      </a:r>
                    </a:p>
                  </a:txBody>
                  <a:tcPr/>
                </a:tc>
                <a:tc>
                  <a:txBody>
                    <a:bodyPr/>
                    <a:lstStyle/>
                    <a:p>
                      <a:r>
                        <a:rPr lang="en-GB" sz="2800" dirty="0"/>
                        <a:t>Can have only one type of element</a:t>
                      </a:r>
                    </a:p>
                  </a:txBody>
                  <a:tcPr/>
                </a:tc>
                <a:extLst>
                  <a:ext uri="{0D108BD9-81ED-4DB2-BD59-A6C34878D82A}">
                    <a16:rowId xmlns:a16="http://schemas.microsoft.com/office/drawing/2014/main" xmlns="" val="10001"/>
                  </a:ext>
                </a:extLst>
              </a:tr>
              <a:tr h="700086">
                <a:tc>
                  <a:txBody>
                    <a:bodyPr/>
                    <a:lstStyle/>
                    <a:p>
                      <a:r>
                        <a:rPr lang="en-GB" sz="2800" dirty="0"/>
                        <a:t>Size is not given in the beginning L = []</a:t>
                      </a:r>
                    </a:p>
                  </a:txBody>
                  <a:tcPr/>
                </a:tc>
                <a:tc>
                  <a:txBody>
                    <a:bodyPr/>
                    <a:lstStyle/>
                    <a:p>
                      <a:r>
                        <a:rPr lang="en-GB" sz="2800" dirty="0"/>
                        <a:t>Size has to be specified during</a:t>
                      </a:r>
                      <a:r>
                        <a:rPr lang="en-GB" sz="2800" baseline="0" dirty="0"/>
                        <a:t> declaration</a:t>
                      </a:r>
                    </a:p>
                    <a:p>
                      <a:r>
                        <a:rPr lang="en-GB" sz="2800" baseline="0" dirty="0" err="1"/>
                        <a:t>int</a:t>
                      </a:r>
                      <a:r>
                        <a:rPr lang="en-GB" sz="2800" baseline="0" dirty="0"/>
                        <a:t> a[10];</a:t>
                      </a:r>
                      <a:endParaRPr lang="en-GB" sz="2800" dirty="0"/>
                    </a:p>
                  </a:txBody>
                  <a:tcPr/>
                </a:tc>
                <a:extLst>
                  <a:ext uri="{0D108BD9-81ED-4DB2-BD59-A6C34878D82A}">
                    <a16:rowId xmlns:a16="http://schemas.microsoft.com/office/drawing/2014/main" xmlns="" val="10002"/>
                  </a:ext>
                </a:extLst>
              </a:tr>
              <a:tr h="700086">
                <a:tc>
                  <a:txBody>
                    <a:bodyPr/>
                    <a:lstStyle/>
                    <a:p>
                      <a:r>
                        <a:rPr lang="en-GB" sz="2800" dirty="0"/>
                        <a:t>Elements</a:t>
                      </a:r>
                      <a:r>
                        <a:rPr lang="en-GB" sz="2800" baseline="0" dirty="0"/>
                        <a:t> are accessed by subscript operator L[0], L[1]...</a:t>
                      </a:r>
                      <a:endParaRPr lang="en-GB" sz="2800" dirty="0"/>
                    </a:p>
                  </a:txBody>
                  <a:tcPr/>
                </a:tc>
                <a:tc>
                  <a:txBody>
                    <a:bodyPr/>
                    <a:lstStyle/>
                    <a:p>
                      <a:r>
                        <a:rPr lang="en-GB" sz="2800" dirty="0"/>
                        <a:t>Same way</a:t>
                      </a:r>
                    </a:p>
                    <a:p>
                      <a:r>
                        <a:rPr lang="en-GB" sz="2800" dirty="0"/>
                        <a:t>a[0], a[1], a[2],...</a:t>
                      </a:r>
                    </a:p>
                  </a:txBody>
                  <a:tcPr/>
                </a:tc>
                <a:extLst>
                  <a:ext uri="{0D108BD9-81ED-4DB2-BD59-A6C34878D82A}">
                    <a16:rowId xmlns:a16="http://schemas.microsoft.com/office/drawing/2014/main" xmlns="" val="10003"/>
                  </a:ext>
                </a:extLst>
              </a:tr>
              <a:tr h="700086">
                <a:tc>
                  <a:txBody>
                    <a:bodyPr/>
                    <a:lstStyle/>
                    <a:p>
                      <a:r>
                        <a:rPr lang="en-GB" sz="2800" dirty="0"/>
                        <a:t>Size is dynamic,</a:t>
                      </a:r>
                      <a:r>
                        <a:rPr lang="en-GB" sz="2800" baseline="0" dirty="0"/>
                        <a:t> increases when elements are added and decreases when removed</a:t>
                      </a:r>
                      <a:endParaRPr lang="en-GB" sz="2800" dirty="0"/>
                    </a:p>
                  </a:txBody>
                  <a:tcPr/>
                </a:tc>
                <a:tc>
                  <a:txBody>
                    <a:bodyPr/>
                    <a:lstStyle/>
                    <a:p>
                      <a:r>
                        <a:rPr lang="en-GB" sz="2800" dirty="0"/>
                        <a:t>Size</a:t>
                      </a:r>
                      <a:r>
                        <a:rPr lang="en-GB" sz="2800" baseline="0" dirty="0"/>
                        <a:t> is static and memory</a:t>
                      </a:r>
                      <a:endParaRPr lang="en-GB" sz="2800" dirty="0"/>
                    </a:p>
                  </a:txBody>
                  <a:tcPr/>
                </a:tc>
                <a:extLst>
                  <a:ext uri="{0D108BD9-81ED-4DB2-BD59-A6C34878D82A}">
                    <a16:rowId xmlns:a16="http://schemas.microsoft.com/office/drawing/2014/main" xmlns="" val="10004"/>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60324"/>
            <a:ext cx="8229600" cy="796908"/>
          </a:xfrm>
        </p:spPr>
        <p:txBody>
          <a:bodyPr/>
          <a:lstStyle/>
          <a:p>
            <a:r>
              <a:rPr lang="en-GB" dirty="0"/>
              <a:t>Declaration of Arrays in C</a:t>
            </a:r>
          </a:p>
        </p:txBody>
      </p:sp>
      <p:sp>
        <p:nvSpPr>
          <p:cNvPr id="3" name="Content Placeholder 2"/>
          <p:cNvSpPr>
            <a:spLocks noGrp="1"/>
          </p:cNvSpPr>
          <p:nvPr>
            <p:ph idx="1"/>
          </p:nvPr>
        </p:nvSpPr>
        <p:spPr>
          <a:xfrm>
            <a:off x="500034" y="928670"/>
            <a:ext cx="8229600" cy="3857652"/>
          </a:xfrm>
        </p:spPr>
        <p:txBody>
          <a:bodyPr>
            <a:normAutofit/>
          </a:bodyPr>
          <a:lstStyle/>
          <a:p>
            <a:r>
              <a:rPr lang="en-GB" dirty="0"/>
              <a:t>type </a:t>
            </a:r>
            <a:r>
              <a:rPr lang="en-GB" dirty="0" err="1"/>
              <a:t>arrayName</a:t>
            </a:r>
            <a:r>
              <a:rPr lang="en-GB" dirty="0"/>
              <a:t> [ </a:t>
            </a:r>
            <a:r>
              <a:rPr lang="en-GB" dirty="0" err="1"/>
              <a:t>arraySize</a:t>
            </a:r>
            <a:r>
              <a:rPr lang="en-GB" dirty="0"/>
              <a:t> ];</a:t>
            </a:r>
          </a:p>
          <a:p>
            <a:r>
              <a:rPr lang="en-GB" dirty="0"/>
              <a:t>double balance[10];</a:t>
            </a:r>
          </a:p>
          <a:p>
            <a:pPr>
              <a:buNone/>
            </a:pPr>
            <a:endParaRPr lang="en-GB" sz="1600" dirty="0"/>
          </a:p>
          <a:p>
            <a:pPr>
              <a:buNone/>
            </a:pPr>
            <a:r>
              <a:rPr lang="en-GB" b="1" dirty="0"/>
              <a:t>Initializing Arrays</a:t>
            </a:r>
          </a:p>
          <a:p>
            <a:pPr>
              <a:buNone/>
            </a:pPr>
            <a:r>
              <a:rPr lang="fr-FR" dirty="0"/>
              <a:t>double balance[] = {1000.0, 2.0, 3.4, 7.0, 50.0};</a:t>
            </a:r>
          </a:p>
          <a:p>
            <a:pPr algn="ctr">
              <a:buNone/>
            </a:pPr>
            <a:r>
              <a:rPr lang="fr-FR" dirty="0"/>
              <a:t>(or)</a:t>
            </a:r>
          </a:p>
          <a:p>
            <a:pPr>
              <a:buNone/>
            </a:pPr>
            <a:r>
              <a:rPr lang="fr-FR" dirty="0"/>
              <a:t>double balance[5] = {1000.0, 2.0, 3.4, 7.0, 50.0};</a:t>
            </a:r>
          </a:p>
          <a:p>
            <a:pPr>
              <a:buNone/>
            </a:pPr>
            <a:endParaRPr lang="en-GB" dirty="0"/>
          </a:p>
        </p:txBody>
      </p:sp>
      <p:pic>
        <p:nvPicPr>
          <p:cNvPr id="1026" name="Picture 2"/>
          <p:cNvPicPr>
            <a:picLocks noChangeAspect="1" noChangeArrowheads="1"/>
          </p:cNvPicPr>
          <p:nvPr/>
        </p:nvPicPr>
        <p:blipFill>
          <a:blip r:embed="rId2"/>
          <a:srcRect/>
          <a:stretch>
            <a:fillRect/>
          </a:stretch>
        </p:blipFill>
        <p:spPr bwMode="auto">
          <a:xfrm>
            <a:off x="785786" y="5000635"/>
            <a:ext cx="6143668" cy="15359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725470"/>
          </a:xfrm>
        </p:spPr>
        <p:txBody>
          <a:bodyPr>
            <a:normAutofit fontScale="90000"/>
          </a:bodyPr>
          <a:lstStyle/>
          <a:p>
            <a:r>
              <a:rPr lang="en-GB" b="1" dirty="0"/>
              <a:t>Cannot assign one array to other</a:t>
            </a:r>
            <a:endParaRPr lang="en-GB" dirty="0"/>
          </a:p>
        </p:txBody>
      </p:sp>
      <p:sp>
        <p:nvSpPr>
          <p:cNvPr id="3" name="Content Placeholder 2"/>
          <p:cNvSpPr>
            <a:spLocks noGrp="1"/>
          </p:cNvSpPr>
          <p:nvPr>
            <p:ph idx="1"/>
          </p:nvPr>
        </p:nvSpPr>
        <p:spPr>
          <a:xfrm>
            <a:off x="428596" y="857232"/>
            <a:ext cx="8229600" cy="5643602"/>
          </a:xfrm>
        </p:spPr>
        <p:txBody>
          <a:bodyPr>
            <a:normAutofit fontScale="92500" lnSpcReduction="20000"/>
          </a:bodyPr>
          <a:lstStyle/>
          <a:p>
            <a:pPr>
              <a:buNone/>
            </a:pPr>
            <a:r>
              <a:rPr lang="en-GB" dirty="0"/>
              <a:t>	</a:t>
            </a:r>
            <a:r>
              <a:rPr lang="en-GB" dirty="0" err="1"/>
              <a:t>int</a:t>
            </a:r>
            <a:r>
              <a:rPr lang="en-GB" dirty="0"/>
              <a:t> </a:t>
            </a:r>
            <a:r>
              <a:rPr lang="en-GB" dirty="0" err="1"/>
              <a:t>ia</a:t>
            </a:r>
            <a:r>
              <a:rPr lang="en-GB" dirty="0"/>
              <a:t>[] = {0, 1, 2}; // ok: array of </a:t>
            </a:r>
            <a:r>
              <a:rPr lang="en-GB" dirty="0" err="1"/>
              <a:t>ints</a:t>
            </a:r>
            <a:r>
              <a:rPr lang="en-GB" dirty="0"/>
              <a:t> </a:t>
            </a:r>
          </a:p>
          <a:p>
            <a:pPr>
              <a:buNone/>
            </a:pPr>
            <a:r>
              <a:rPr lang="en-GB" dirty="0"/>
              <a:t>	</a:t>
            </a:r>
            <a:r>
              <a:rPr lang="en-GB" dirty="0" err="1"/>
              <a:t>int</a:t>
            </a:r>
            <a:r>
              <a:rPr lang="en-GB" dirty="0"/>
              <a:t> ia2[] = </a:t>
            </a:r>
            <a:r>
              <a:rPr lang="en-GB"/>
              <a:t>ia; </a:t>
            </a:r>
            <a:r>
              <a:rPr lang="en-GB" dirty="0"/>
              <a:t>// error: cannot initialize one array with another </a:t>
            </a:r>
          </a:p>
          <a:p>
            <a:pPr>
              <a:buNone/>
            </a:pPr>
            <a:r>
              <a:rPr lang="en-GB" dirty="0"/>
              <a:t>	</a:t>
            </a:r>
            <a:r>
              <a:rPr lang="en-GB" dirty="0" err="1"/>
              <a:t>int</a:t>
            </a:r>
            <a:r>
              <a:rPr lang="en-GB" dirty="0"/>
              <a:t> main() </a:t>
            </a:r>
          </a:p>
          <a:p>
            <a:pPr>
              <a:buNone/>
            </a:pPr>
            <a:r>
              <a:rPr lang="en-GB" dirty="0"/>
              <a:t>	{ </a:t>
            </a:r>
          </a:p>
          <a:p>
            <a:pPr>
              <a:buNone/>
            </a:pPr>
            <a:r>
              <a:rPr lang="en-GB" dirty="0"/>
              <a:t>	const unsigned </a:t>
            </a:r>
            <a:r>
              <a:rPr lang="en-GB" dirty="0" err="1"/>
              <a:t>array_size</a:t>
            </a:r>
            <a:r>
              <a:rPr lang="en-GB" dirty="0"/>
              <a:t> = 3; </a:t>
            </a:r>
          </a:p>
          <a:p>
            <a:pPr>
              <a:buNone/>
            </a:pPr>
            <a:r>
              <a:rPr lang="en-GB" dirty="0"/>
              <a:t>	</a:t>
            </a:r>
            <a:r>
              <a:rPr lang="en-GB" dirty="0" err="1"/>
              <a:t>int</a:t>
            </a:r>
            <a:r>
              <a:rPr lang="en-GB" dirty="0"/>
              <a:t> ia3[</a:t>
            </a:r>
            <a:r>
              <a:rPr lang="en-GB" dirty="0" err="1"/>
              <a:t>array_size</a:t>
            </a:r>
            <a:r>
              <a:rPr lang="en-GB" dirty="0"/>
              <a:t>]; </a:t>
            </a:r>
          </a:p>
          <a:p>
            <a:pPr>
              <a:buNone/>
            </a:pPr>
            <a:r>
              <a:rPr lang="en-GB" dirty="0"/>
              <a:t>	// ok: but elements are uninitialized! </a:t>
            </a:r>
          </a:p>
          <a:p>
            <a:pPr>
              <a:buNone/>
            </a:pPr>
            <a:r>
              <a:rPr lang="en-GB" dirty="0"/>
              <a:t>	ia3 = </a:t>
            </a:r>
            <a:r>
              <a:rPr lang="en-GB" dirty="0" err="1"/>
              <a:t>ia</a:t>
            </a:r>
            <a:r>
              <a:rPr lang="en-GB" dirty="0"/>
              <a:t>; // error: cannot assign one array to another </a:t>
            </a:r>
          </a:p>
          <a:p>
            <a:pPr>
              <a:buNone/>
            </a:pPr>
            <a:r>
              <a:rPr lang="en-GB" dirty="0"/>
              <a:t>	return 0; </a:t>
            </a:r>
          </a:p>
          <a:p>
            <a:pPr>
              <a:buNone/>
            </a:pPr>
            <a:r>
              <a:rPr lang="en-GB" dirty="0"/>
              <a:t>	}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285752" y="214290"/>
            <a:ext cx="8429652" cy="6486498"/>
          </a:xfrm>
          <a:prstGeom prst="rect">
            <a:avLst/>
          </a:prstGeom>
          <a:noFill/>
          <a:ln w="9525">
            <a:noFill/>
            <a:miter lim="800000"/>
            <a:headEnd/>
            <a:tailEnd/>
          </a:ln>
          <a:effectLst/>
        </p:spPr>
      </p:pic>
    </p:spTree>
    <p:extLst>
      <p:ext uri="{BB962C8B-B14F-4D97-AF65-F5344CB8AC3E}">
        <p14:creationId xmlns:p14="http://schemas.microsoft.com/office/powerpoint/2010/main" val="5372628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939784"/>
          </a:xfrm>
        </p:spPr>
        <p:txBody>
          <a:bodyPr>
            <a:normAutofit/>
          </a:bodyPr>
          <a:lstStyle/>
          <a:p>
            <a:r>
              <a:rPr lang="en-GB" b="1" dirty="0"/>
              <a:t>Strings in C</a:t>
            </a:r>
            <a:endParaRPr lang="en-GB" dirty="0"/>
          </a:p>
        </p:txBody>
      </p:sp>
      <p:sp>
        <p:nvSpPr>
          <p:cNvPr id="3" name="Content Placeholder 2"/>
          <p:cNvSpPr>
            <a:spLocks noGrp="1"/>
          </p:cNvSpPr>
          <p:nvPr>
            <p:ph idx="1"/>
          </p:nvPr>
        </p:nvSpPr>
        <p:spPr>
          <a:xfrm>
            <a:off x="428596" y="1071546"/>
            <a:ext cx="8229600" cy="2071702"/>
          </a:xfrm>
        </p:spPr>
        <p:txBody>
          <a:bodyPr>
            <a:normAutofit/>
          </a:bodyPr>
          <a:lstStyle/>
          <a:p>
            <a:pPr marL="514350" indent="-514350" algn="just">
              <a:lnSpc>
                <a:spcPct val="150000"/>
              </a:lnSpc>
            </a:pPr>
            <a:r>
              <a:rPr lang="en-GB" dirty="0"/>
              <a:t>No data type string</a:t>
            </a:r>
          </a:p>
          <a:p>
            <a:pPr marL="514350" indent="-514350" algn="just">
              <a:lnSpc>
                <a:spcPct val="150000"/>
              </a:lnSpc>
            </a:pPr>
            <a:r>
              <a:rPr lang="en-GB" dirty="0"/>
              <a:t>Represented as array of characters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939784"/>
          </a:xfrm>
        </p:spPr>
        <p:txBody>
          <a:bodyPr>
            <a:normAutofit/>
          </a:bodyPr>
          <a:lstStyle/>
          <a:p>
            <a:r>
              <a:rPr lang="en-GB" b="1" dirty="0"/>
              <a:t>Character Arrays Are Special</a:t>
            </a:r>
            <a:endParaRPr lang="en-GB" dirty="0"/>
          </a:p>
        </p:txBody>
      </p:sp>
      <p:sp>
        <p:nvSpPr>
          <p:cNvPr id="3" name="Content Placeholder 2"/>
          <p:cNvSpPr>
            <a:spLocks noGrp="1"/>
          </p:cNvSpPr>
          <p:nvPr>
            <p:ph idx="1"/>
          </p:nvPr>
        </p:nvSpPr>
        <p:spPr>
          <a:xfrm>
            <a:off x="428596" y="1071546"/>
            <a:ext cx="8229600" cy="4572032"/>
          </a:xfrm>
        </p:spPr>
        <p:txBody>
          <a:bodyPr>
            <a:normAutofit lnSpcReduction="10000"/>
          </a:bodyPr>
          <a:lstStyle/>
          <a:p>
            <a:pPr>
              <a:lnSpc>
                <a:spcPct val="150000"/>
              </a:lnSpc>
            </a:pPr>
            <a:r>
              <a:rPr lang="en-GB" dirty="0"/>
              <a:t>Can be initialized with either a list of comma-separated character literals enclosed in braces or a string literal</a:t>
            </a:r>
          </a:p>
          <a:p>
            <a:pPr>
              <a:lnSpc>
                <a:spcPct val="150000"/>
              </a:lnSpc>
            </a:pPr>
            <a:r>
              <a:rPr lang="en-GB" dirty="0"/>
              <a:t>Two forms are not equivalent</a:t>
            </a:r>
          </a:p>
          <a:p>
            <a:pPr>
              <a:lnSpc>
                <a:spcPct val="150000"/>
              </a:lnSpc>
            </a:pPr>
            <a:r>
              <a:rPr lang="en-GB" dirty="0"/>
              <a:t>String literal contains an additional terminating null character</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Strcpy</a:t>
            </a:r>
            <a:endParaRPr lang="en-GB" dirty="0"/>
          </a:p>
        </p:txBody>
      </p:sp>
      <p:sp>
        <p:nvSpPr>
          <p:cNvPr id="3" name="Content Placeholder 2"/>
          <p:cNvSpPr>
            <a:spLocks noGrp="1"/>
          </p:cNvSpPr>
          <p:nvPr>
            <p:ph idx="1"/>
          </p:nvPr>
        </p:nvSpPr>
        <p:spPr>
          <a:xfrm>
            <a:off x="457200" y="1600201"/>
            <a:ext cx="8229600" cy="2328866"/>
          </a:xfrm>
        </p:spPr>
        <p:txBody>
          <a:bodyPr/>
          <a:lstStyle/>
          <a:p>
            <a:r>
              <a:rPr lang="en-GB" dirty="0"/>
              <a:t>used to copy a string and can be as </a:t>
            </a:r>
            <a:r>
              <a:rPr lang="en-GB" dirty="0" err="1"/>
              <a:t>strcpy</a:t>
            </a:r>
            <a:r>
              <a:rPr lang="en-GB" dirty="0"/>
              <a:t>(destination, source)</a:t>
            </a:r>
          </a:p>
          <a:p>
            <a:r>
              <a:rPr lang="en-GB" dirty="0"/>
              <a:t>Will not perform any boundary checking, and thus there is a risk of overrunning the strings</a:t>
            </a:r>
          </a:p>
        </p:txBody>
      </p:sp>
      <p:pic>
        <p:nvPicPr>
          <p:cNvPr id="7170" name="Picture 2"/>
          <p:cNvPicPr>
            <a:picLocks noChangeAspect="1" noChangeArrowheads="1"/>
          </p:cNvPicPr>
          <p:nvPr/>
        </p:nvPicPr>
        <p:blipFill>
          <a:blip r:embed="rId2"/>
          <a:srcRect/>
          <a:stretch>
            <a:fillRect/>
          </a:stretch>
        </p:blipFill>
        <p:spPr bwMode="auto">
          <a:xfrm>
            <a:off x="285720" y="4071942"/>
            <a:ext cx="8004303" cy="14287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GB" dirty="0" err="1"/>
              <a:t>Strcmp</a:t>
            </a:r>
            <a:endParaRPr lang="en-GB" dirty="0"/>
          </a:p>
        </p:txBody>
      </p:sp>
      <p:sp>
        <p:nvSpPr>
          <p:cNvPr id="3" name="Content Placeholder 2"/>
          <p:cNvSpPr>
            <a:spLocks noGrp="1"/>
          </p:cNvSpPr>
          <p:nvPr>
            <p:ph idx="1"/>
          </p:nvPr>
        </p:nvSpPr>
        <p:spPr>
          <a:xfrm>
            <a:off x="428596" y="928670"/>
            <a:ext cx="8229600" cy="4429156"/>
          </a:xfrm>
        </p:spPr>
        <p:txBody>
          <a:bodyPr/>
          <a:lstStyle/>
          <a:p>
            <a:r>
              <a:rPr lang="en-GB" dirty="0"/>
              <a:t>used to compare two strings and can be used as </a:t>
            </a:r>
            <a:r>
              <a:rPr lang="en-GB" dirty="0" err="1"/>
              <a:t>strcmp</a:t>
            </a:r>
            <a:r>
              <a:rPr lang="en-GB" dirty="0"/>
              <a:t>(str1, str2)</a:t>
            </a:r>
          </a:p>
          <a:p>
            <a:r>
              <a:rPr lang="en-GB" dirty="0"/>
              <a:t>If the first string is greater than the second string a number greater than null is returned.</a:t>
            </a:r>
          </a:p>
          <a:p>
            <a:r>
              <a:rPr lang="en-GB" dirty="0"/>
              <a:t>If the first string is less than the second string a number less than null is returned.</a:t>
            </a:r>
          </a:p>
          <a:p>
            <a:r>
              <a:rPr lang="en-GB" dirty="0"/>
              <a:t>If the first and the second string are equal a null is returned.</a:t>
            </a:r>
          </a:p>
          <a:p>
            <a:endParaRPr lang="en-GB" dirty="0"/>
          </a:p>
        </p:txBody>
      </p:sp>
      <p:pic>
        <p:nvPicPr>
          <p:cNvPr id="8194" name="Picture 2"/>
          <p:cNvPicPr>
            <a:picLocks noChangeAspect="1" noChangeArrowheads="1"/>
          </p:cNvPicPr>
          <p:nvPr/>
        </p:nvPicPr>
        <p:blipFill>
          <a:blip r:embed="rId2"/>
          <a:srcRect/>
          <a:stretch>
            <a:fillRect/>
          </a:stretch>
        </p:blipFill>
        <p:spPr bwMode="auto">
          <a:xfrm>
            <a:off x="1071538" y="5143512"/>
            <a:ext cx="6357982" cy="14554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3C26033-334E-4821-93A7-CBE110BEF02B}"/>
              </a:ext>
            </a:extLst>
          </p:cNvPr>
          <p:cNvSpPr>
            <a:spLocks noGrp="1"/>
          </p:cNvSpPr>
          <p:nvPr>
            <p:ph idx="1"/>
          </p:nvPr>
        </p:nvSpPr>
        <p:spPr>
          <a:xfrm>
            <a:off x="457200" y="188640"/>
            <a:ext cx="8229600" cy="5937523"/>
          </a:xfrm>
        </p:spPr>
        <p:txBody>
          <a:bodyPr>
            <a:normAutofit fontScale="85000" lnSpcReduction="10000"/>
          </a:bodyPr>
          <a:lstStyle/>
          <a:p>
            <a:pPr marL="0" indent="0">
              <a:buNone/>
            </a:pPr>
            <a:r>
              <a:rPr lang="en-US" dirty="0"/>
              <a:t>#include &lt;</a:t>
            </a:r>
            <a:r>
              <a:rPr lang="en-US" dirty="0" err="1"/>
              <a:t>stdio.h</a:t>
            </a:r>
            <a:r>
              <a:rPr lang="en-US" dirty="0"/>
              <a:t>&gt;</a:t>
            </a:r>
          </a:p>
          <a:p>
            <a:pPr marL="0" indent="0">
              <a:buNone/>
            </a:pPr>
            <a:r>
              <a:rPr lang="en-US" dirty="0"/>
              <a:t>#include &lt;</a:t>
            </a:r>
            <a:r>
              <a:rPr lang="en-US" dirty="0" err="1"/>
              <a:t>string.h</a:t>
            </a:r>
            <a:r>
              <a:rPr lang="en-US" dirty="0"/>
              <a:t>&gt;</a:t>
            </a:r>
          </a:p>
          <a:p>
            <a:pPr marL="0" indent="0">
              <a:buNone/>
            </a:pPr>
            <a:r>
              <a:rPr lang="en-US" dirty="0" err="1"/>
              <a:t>int</a:t>
            </a:r>
            <a:r>
              <a:rPr lang="en-US" dirty="0"/>
              <a:t> main()</a:t>
            </a:r>
          </a:p>
          <a:p>
            <a:pPr marL="0" indent="0">
              <a:buNone/>
            </a:pPr>
            <a:r>
              <a:rPr lang="en-US" dirty="0"/>
              <a:t>{</a:t>
            </a:r>
          </a:p>
          <a:p>
            <a:pPr marL="0" indent="0">
              <a:buNone/>
            </a:pPr>
            <a:r>
              <a:rPr lang="en-US" dirty="0"/>
              <a:t>    char str1[] = "</a:t>
            </a:r>
            <a:r>
              <a:rPr lang="en-US" dirty="0" err="1"/>
              <a:t>abcd</a:t>
            </a:r>
            <a:r>
              <a:rPr lang="en-US" dirty="0"/>
              <a:t>", str2[] = "</a:t>
            </a:r>
            <a:r>
              <a:rPr lang="en-US" dirty="0" err="1"/>
              <a:t>abCd</a:t>
            </a:r>
            <a:r>
              <a:rPr lang="en-US" dirty="0"/>
              <a:t>", str3[] = "</a:t>
            </a:r>
            <a:r>
              <a:rPr lang="en-US" dirty="0" err="1"/>
              <a:t>abcd</a:t>
            </a:r>
            <a:r>
              <a:rPr lang="en-US" dirty="0"/>
              <a:t>";</a:t>
            </a:r>
          </a:p>
          <a:p>
            <a:pPr marL="0" indent="0">
              <a:buNone/>
            </a:pPr>
            <a:r>
              <a:rPr lang="en-US" dirty="0"/>
              <a:t>    </a:t>
            </a:r>
            <a:r>
              <a:rPr lang="en-US" dirty="0" err="1"/>
              <a:t>int</a:t>
            </a:r>
            <a:r>
              <a:rPr lang="en-US" dirty="0"/>
              <a:t> result;</a:t>
            </a:r>
          </a:p>
          <a:p>
            <a:pPr marL="0" indent="0">
              <a:buNone/>
            </a:pPr>
            <a:r>
              <a:rPr lang="en-US" dirty="0"/>
              <a:t>    // comparing strings str1 and str2</a:t>
            </a:r>
          </a:p>
          <a:p>
            <a:pPr marL="0" indent="0">
              <a:buNone/>
            </a:pPr>
            <a:r>
              <a:rPr lang="en-US" dirty="0"/>
              <a:t>    result = </a:t>
            </a:r>
            <a:r>
              <a:rPr lang="en-US" dirty="0" err="1"/>
              <a:t>strcmp</a:t>
            </a:r>
            <a:r>
              <a:rPr lang="en-US" dirty="0"/>
              <a:t>(str1, str2);</a:t>
            </a:r>
          </a:p>
          <a:p>
            <a:pPr marL="0" indent="0">
              <a:buNone/>
            </a:pPr>
            <a:r>
              <a:rPr lang="en-US" dirty="0"/>
              <a:t>    </a:t>
            </a:r>
            <a:r>
              <a:rPr lang="en-US" dirty="0" err="1"/>
              <a:t>printf</a:t>
            </a:r>
            <a:r>
              <a:rPr lang="en-US" dirty="0"/>
              <a:t>("</a:t>
            </a:r>
            <a:r>
              <a:rPr lang="en-US" dirty="0" err="1"/>
              <a:t>strcmp</a:t>
            </a:r>
            <a:r>
              <a:rPr lang="en-US" dirty="0"/>
              <a:t>(str1, str2) = %d\n", result);</a:t>
            </a:r>
          </a:p>
          <a:p>
            <a:pPr marL="0" indent="0">
              <a:buNone/>
            </a:pPr>
            <a:r>
              <a:rPr lang="en-US" dirty="0"/>
              <a:t>    // comparing strings str1 and str3</a:t>
            </a:r>
          </a:p>
          <a:p>
            <a:pPr marL="0" indent="0">
              <a:buNone/>
            </a:pPr>
            <a:r>
              <a:rPr lang="en-US" dirty="0"/>
              <a:t>    result = </a:t>
            </a:r>
            <a:r>
              <a:rPr lang="en-US" dirty="0" err="1"/>
              <a:t>strcmp</a:t>
            </a:r>
            <a:r>
              <a:rPr lang="en-US" dirty="0"/>
              <a:t>(str1, str3);</a:t>
            </a:r>
          </a:p>
          <a:p>
            <a:pPr marL="0" indent="0">
              <a:buNone/>
            </a:pPr>
            <a:r>
              <a:rPr lang="en-US" dirty="0"/>
              <a:t>    </a:t>
            </a:r>
            <a:r>
              <a:rPr lang="en-US" dirty="0" err="1"/>
              <a:t>printf</a:t>
            </a:r>
            <a:r>
              <a:rPr lang="en-US" dirty="0"/>
              <a:t>("</a:t>
            </a:r>
            <a:r>
              <a:rPr lang="en-US" dirty="0" err="1"/>
              <a:t>strcmp</a:t>
            </a:r>
            <a:r>
              <a:rPr lang="en-US" dirty="0"/>
              <a:t>(str1, str3) = %d\n", result);</a:t>
            </a:r>
          </a:p>
          <a:p>
            <a:pPr marL="0" indent="0">
              <a:buNone/>
            </a:pPr>
            <a:r>
              <a:rPr lang="en-US" dirty="0"/>
              <a:t>    return 0;</a:t>
            </a:r>
          </a:p>
        </p:txBody>
      </p:sp>
    </p:spTree>
    <p:extLst>
      <p:ext uri="{BB962C8B-B14F-4D97-AF65-F5344CB8AC3E}">
        <p14:creationId xmlns:p14="http://schemas.microsoft.com/office/powerpoint/2010/main" val="8480467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26418F-6049-4C2C-93AD-0BDEA54CA7CB}"/>
              </a:ext>
            </a:extLst>
          </p:cNvPr>
          <p:cNvSpPr>
            <a:spLocks noGrp="1"/>
          </p:cNvSpPr>
          <p:nvPr>
            <p:ph type="title"/>
          </p:nvPr>
        </p:nvSpPr>
        <p:spPr/>
        <p:txBody>
          <a:bodyPr/>
          <a:lstStyle/>
          <a:p>
            <a:r>
              <a:rPr lang="en-US" dirty="0"/>
              <a:t>Output</a:t>
            </a:r>
          </a:p>
        </p:txBody>
      </p:sp>
      <p:sp>
        <p:nvSpPr>
          <p:cNvPr id="3" name="Content Placeholder 2">
            <a:extLst>
              <a:ext uri="{FF2B5EF4-FFF2-40B4-BE49-F238E27FC236}">
                <a16:creationId xmlns:a16="http://schemas.microsoft.com/office/drawing/2014/main" xmlns="" id="{857DB6A0-5738-4797-9FBB-C21A7F29C326}"/>
              </a:ext>
            </a:extLst>
          </p:cNvPr>
          <p:cNvSpPr>
            <a:spLocks noGrp="1"/>
          </p:cNvSpPr>
          <p:nvPr>
            <p:ph idx="1"/>
          </p:nvPr>
        </p:nvSpPr>
        <p:spPr/>
        <p:txBody>
          <a:bodyPr>
            <a:normAutofit lnSpcReduction="10000"/>
          </a:bodyPr>
          <a:lstStyle/>
          <a:p>
            <a:r>
              <a:rPr lang="en-US" dirty="0" err="1"/>
              <a:t>strcmp</a:t>
            </a:r>
            <a:r>
              <a:rPr lang="en-US" dirty="0"/>
              <a:t>(str1, str2) = 32</a:t>
            </a:r>
          </a:p>
          <a:p>
            <a:r>
              <a:rPr lang="en-US" dirty="0" err="1"/>
              <a:t>strcmp</a:t>
            </a:r>
            <a:r>
              <a:rPr lang="en-US" dirty="0"/>
              <a:t>(str1, str3) = 0</a:t>
            </a:r>
          </a:p>
          <a:p>
            <a:r>
              <a:rPr lang="en-US" dirty="0"/>
              <a:t>The first unmatched character between string str1 and str2 is third character. The ASCII value of 'c' is 99 and the ASCII value of 'C' is 67. Hence, when strings str1 and str2 are compared, the return value is 32.</a:t>
            </a:r>
          </a:p>
          <a:p>
            <a:r>
              <a:rPr lang="en-US" dirty="0"/>
              <a:t>When strings str1 and str3 are compared, the result is 0 because both strings are identical.</a:t>
            </a:r>
          </a:p>
        </p:txBody>
      </p:sp>
    </p:spTree>
    <p:extLst>
      <p:ext uri="{BB962C8B-B14F-4D97-AF65-F5344CB8AC3E}">
        <p14:creationId xmlns:p14="http://schemas.microsoft.com/office/powerpoint/2010/main" val="30682884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GB" b="1" dirty="0" err="1"/>
              <a:t>strcat</a:t>
            </a:r>
            <a:endParaRPr lang="en-GB" b="1" dirty="0"/>
          </a:p>
        </p:txBody>
      </p:sp>
      <p:sp>
        <p:nvSpPr>
          <p:cNvPr id="3" name="Content Placeholder 2"/>
          <p:cNvSpPr>
            <a:spLocks noGrp="1"/>
          </p:cNvSpPr>
          <p:nvPr>
            <p:ph idx="1"/>
          </p:nvPr>
        </p:nvSpPr>
        <p:spPr>
          <a:xfrm>
            <a:off x="457200" y="1285861"/>
            <a:ext cx="8229600" cy="3214710"/>
          </a:xfrm>
        </p:spPr>
        <p:txBody>
          <a:bodyPr/>
          <a:lstStyle/>
          <a:p>
            <a:r>
              <a:rPr lang="en-GB" dirty="0"/>
              <a:t>concatenates a string onto the end of the other string and the resultant string is returned</a:t>
            </a:r>
          </a:p>
          <a:p>
            <a:r>
              <a:rPr lang="en-GB" dirty="0" err="1"/>
              <a:t>strcat</a:t>
            </a:r>
            <a:r>
              <a:rPr lang="en-GB" dirty="0"/>
              <a:t>() will not perform any </a:t>
            </a:r>
            <a:r>
              <a:rPr lang="en-GB" baseline="-25000" dirty="0"/>
              <a:t>boundary</a:t>
            </a:r>
            <a:r>
              <a:rPr lang="en-GB" dirty="0"/>
              <a:t> checking, and thus there is a risk of overrunning the strings.</a:t>
            </a:r>
          </a:p>
        </p:txBody>
      </p:sp>
      <p:pic>
        <p:nvPicPr>
          <p:cNvPr id="9219" name="Picture 3"/>
          <p:cNvPicPr>
            <a:picLocks noChangeAspect="1" noChangeArrowheads="1"/>
          </p:cNvPicPr>
          <p:nvPr/>
        </p:nvPicPr>
        <p:blipFill>
          <a:blip r:embed="rId2"/>
          <a:srcRect/>
          <a:stretch>
            <a:fillRect/>
          </a:stretch>
        </p:blipFill>
        <p:spPr bwMode="auto">
          <a:xfrm>
            <a:off x="928662" y="4572008"/>
            <a:ext cx="6593575" cy="12858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GB" b="1" dirty="0" err="1"/>
              <a:t>strlen</a:t>
            </a:r>
            <a:endParaRPr lang="en-GB" b="1" dirty="0"/>
          </a:p>
        </p:txBody>
      </p:sp>
      <p:sp>
        <p:nvSpPr>
          <p:cNvPr id="3" name="Content Placeholder 2"/>
          <p:cNvSpPr>
            <a:spLocks noGrp="1"/>
          </p:cNvSpPr>
          <p:nvPr>
            <p:ph idx="1"/>
          </p:nvPr>
        </p:nvSpPr>
        <p:spPr>
          <a:xfrm>
            <a:off x="457200" y="1285860"/>
            <a:ext cx="8229600" cy="4840303"/>
          </a:xfrm>
        </p:spPr>
        <p:txBody>
          <a:bodyPr/>
          <a:lstStyle/>
          <a:p>
            <a:r>
              <a:rPr lang="en-GB" dirty="0"/>
              <a:t>returns the length of a string</a:t>
            </a:r>
          </a:p>
          <a:p>
            <a:r>
              <a:rPr lang="en-GB" dirty="0"/>
              <a:t>All characters before the null termination</a:t>
            </a:r>
          </a:p>
        </p:txBody>
      </p:sp>
      <p:pic>
        <p:nvPicPr>
          <p:cNvPr id="10242" name="Picture 2"/>
          <p:cNvPicPr>
            <a:picLocks noChangeAspect="1" noChangeArrowheads="1"/>
          </p:cNvPicPr>
          <p:nvPr/>
        </p:nvPicPr>
        <p:blipFill>
          <a:blip r:embed="rId2"/>
          <a:srcRect/>
          <a:stretch>
            <a:fillRect/>
          </a:stretch>
        </p:blipFill>
        <p:spPr bwMode="auto">
          <a:xfrm>
            <a:off x="287677" y="2928934"/>
            <a:ext cx="8284851" cy="1214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2CFE18-35D0-4918-A814-7636A0C007A3}"/>
              </a:ext>
            </a:extLst>
          </p:cNvPr>
          <p:cNvSpPr>
            <a:spLocks noGrp="1"/>
          </p:cNvSpPr>
          <p:nvPr>
            <p:ph type="title"/>
          </p:nvPr>
        </p:nvSpPr>
        <p:spPr>
          <a:xfrm>
            <a:off x="457200" y="274638"/>
            <a:ext cx="8229600" cy="706090"/>
          </a:xfrm>
        </p:spPr>
        <p:txBody>
          <a:bodyPr>
            <a:normAutofit fontScale="90000"/>
          </a:bodyPr>
          <a:lstStyle/>
          <a:p>
            <a:r>
              <a:rPr lang="en-US" dirty="0"/>
              <a:t>Palindrome</a:t>
            </a:r>
          </a:p>
        </p:txBody>
      </p:sp>
      <p:sp>
        <p:nvSpPr>
          <p:cNvPr id="3" name="Content Placeholder 2">
            <a:extLst>
              <a:ext uri="{FF2B5EF4-FFF2-40B4-BE49-F238E27FC236}">
                <a16:creationId xmlns:a16="http://schemas.microsoft.com/office/drawing/2014/main" xmlns="" id="{57257C54-D3C5-429B-B6DD-91AA49F2A17F}"/>
              </a:ext>
            </a:extLst>
          </p:cNvPr>
          <p:cNvSpPr>
            <a:spLocks noGrp="1"/>
          </p:cNvSpPr>
          <p:nvPr>
            <p:ph idx="1"/>
          </p:nvPr>
        </p:nvSpPr>
        <p:spPr>
          <a:xfrm>
            <a:off x="457200" y="980728"/>
            <a:ext cx="8229600" cy="5602634"/>
          </a:xfrm>
        </p:spPr>
        <p:txBody>
          <a:bodyPr>
            <a:normAutofit/>
          </a:bodyPr>
          <a:lstStyle/>
          <a:p>
            <a:pPr marL="0" indent="0">
              <a:buNone/>
            </a:pPr>
            <a:r>
              <a:rPr lang="en-US" sz="1400" dirty="0"/>
              <a:t>#include &lt;</a:t>
            </a:r>
            <a:r>
              <a:rPr lang="en-US" sz="1400" dirty="0" err="1"/>
              <a:t>stdio.h</a:t>
            </a:r>
            <a:r>
              <a:rPr lang="en-US" sz="1400" dirty="0"/>
              <a:t>&gt;</a:t>
            </a:r>
          </a:p>
          <a:p>
            <a:pPr marL="0" indent="0">
              <a:buNone/>
            </a:pPr>
            <a:r>
              <a:rPr lang="en-US" sz="1400" dirty="0"/>
              <a:t>#include &lt;</a:t>
            </a:r>
            <a:r>
              <a:rPr lang="en-US" sz="1400" dirty="0" err="1"/>
              <a:t>string.h</a:t>
            </a:r>
            <a:r>
              <a:rPr lang="en-US" sz="1400" dirty="0"/>
              <a:t>&gt;</a:t>
            </a:r>
          </a:p>
          <a:p>
            <a:pPr marL="0" indent="0">
              <a:buNone/>
            </a:pPr>
            <a:r>
              <a:rPr lang="en-US" sz="1400" dirty="0"/>
              <a:t>int main(){</a:t>
            </a:r>
          </a:p>
          <a:p>
            <a:pPr marL="0" indent="0">
              <a:buNone/>
            </a:pPr>
            <a:r>
              <a:rPr lang="en-US" sz="1400" dirty="0"/>
              <a:t>    char string1[20];</a:t>
            </a:r>
          </a:p>
          <a:p>
            <a:pPr marL="0" indent="0">
              <a:buNone/>
            </a:pPr>
            <a:r>
              <a:rPr lang="en-US" sz="1400" dirty="0"/>
              <a:t>    int </a:t>
            </a:r>
            <a:r>
              <a:rPr lang="en-US" sz="1400" dirty="0" err="1"/>
              <a:t>i</a:t>
            </a:r>
            <a:r>
              <a:rPr lang="en-US" sz="1400" dirty="0"/>
              <a:t>, length;</a:t>
            </a:r>
          </a:p>
          <a:p>
            <a:pPr marL="0" indent="0">
              <a:buNone/>
            </a:pPr>
            <a:r>
              <a:rPr lang="en-US" sz="1400" dirty="0"/>
              <a:t>    int flag = 0; </a:t>
            </a:r>
          </a:p>
          <a:p>
            <a:pPr marL="0" indent="0">
              <a:buNone/>
            </a:pPr>
            <a:r>
              <a:rPr lang="en-US" sz="1400" dirty="0"/>
              <a:t>    </a:t>
            </a:r>
            <a:r>
              <a:rPr lang="en-US" sz="1400" dirty="0" err="1"/>
              <a:t>printf</a:t>
            </a:r>
            <a:r>
              <a:rPr lang="en-US" sz="1400" dirty="0"/>
              <a:t>("Enter a string:");</a:t>
            </a:r>
          </a:p>
          <a:p>
            <a:pPr marL="0" indent="0">
              <a:buNone/>
            </a:pPr>
            <a:r>
              <a:rPr lang="en-US" sz="1400" dirty="0"/>
              <a:t>    </a:t>
            </a:r>
            <a:r>
              <a:rPr lang="en-US" sz="1400" dirty="0" err="1"/>
              <a:t>scanf</a:t>
            </a:r>
            <a:r>
              <a:rPr lang="en-US" sz="1400" dirty="0"/>
              <a:t>("%s", string1);</a:t>
            </a:r>
          </a:p>
          <a:p>
            <a:pPr marL="0" indent="0">
              <a:buNone/>
            </a:pPr>
            <a:r>
              <a:rPr lang="en-US" sz="1400" dirty="0"/>
              <a:t>    length = </a:t>
            </a:r>
            <a:r>
              <a:rPr lang="en-US" sz="1400" dirty="0" err="1"/>
              <a:t>strlen</a:t>
            </a:r>
            <a:r>
              <a:rPr lang="en-US" sz="1400" dirty="0"/>
              <a:t>(string1);</a:t>
            </a:r>
          </a:p>
          <a:p>
            <a:pPr marL="0" indent="0">
              <a:buNone/>
            </a:pPr>
            <a:r>
              <a:rPr lang="en-US" sz="1400" dirty="0"/>
              <a:t>    for(</a:t>
            </a:r>
            <a:r>
              <a:rPr lang="en-US" sz="1400" dirty="0" err="1"/>
              <a:t>i</a:t>
            </a:r>
            <a:r>
              <a:rPr lang="en-US" sz="1400" dirty="0"/>
              <a:t>=0;i &lt; length ;</a:t>
            </a:r>
            <a:r>
              <a:rPr lang="en-US" sz="1400" dirty="0" err="1"/>
              <a:t>i</a:t>
            </a:r>
            <a:r>
              <a:rPr lang="en-US" sz="1400" dirty="0"/>
              <a:t>++){</a:t>
            </a:r>
          </a:p>
          <a:p>
            <a:pPr marL="0" indent="0">
              <a:buNone/>
            </a:pPr>
            <a:r>
              <a:rPr lang="en-US" sz="1400" dirty="0"/>
              <a:t>        if(string1[</a:t>
            </a:r>
            <a:r>
              <a:rPr lang="en-US" sz="1400" dirty="0" err="1"/>
              <a:t>i</a:t>
            </a:r>
            <a:r>
              <a:rPr lang="en-US" sz="1400" dirty="0"/>
              <a:t>] != string1[length-i-1]){</a:t>
            </a:r>
          </a:p>
          <a:p>
            <a:pPr marL="0" indent="0">
              <a:buNone/>
            </a:pPr>
            <a:r>
              <a:rPr lang="en-US" sz="1400" dirty="0"/>
              <a:t>            flag = 1;</a:t>
            </a:r>
          </a:p>
          <a:p>
            <a:pPr marL="0" indent="0">
              <a:buNone/>
            </a:pPr>
            <a:r>
              <a:rPr lang="en-US" sz="1400" dirty="0"/>
              <a:t>            break; }}</a:t>
            </a:r>
          </a:p>
          <a:p>
            <a:pPr marL="0" indent="0">
              <a:buNone/>
            </a:pPr>
            <a:r>
              <a:rPr lang="en-US" sz="1400" dirty="0"/>
              <a:t>    if (flag) {</a:t>
            </a:r>
          </a:p>
          <a:p>
            <a:pPr marL="0" indent="0">
              <a:buNone/>
            </a:pPr>
            <a:r>
              <a:rPr lang="en-US" sz="1400" dirty="0"/>
              <a:t>        </a:t>
            </a:r>
            <a:r>
              <a:rPr lang="en-US" sz="1400" dirty="0" err="1"/>
              <a:t>printf</a:t>
            </a:r>
            <a:r>
              <a:rPr lang="en-US" sz="1400" dirty="0"/>
              <a:t>("%s is not a palindrome", string1);</a:t>
            </a:r>
          </a:p>
          <a:p>
            <a:pPr marL="0" indent="0">
              <a:buNone/>
            </a:pPr>
            <a:r>
              <a:rPr lang="en-US" sz="1400" dirty="0"/>
              <a:t>    }    </a:t>
            </a:r>
          </a:p>
          <a:p>
            <a:pPr marL="0" indent="0">
              <a:buNone/>
            </a:pPr>
            <a:r>
              <a:rPr lang="en-US" sz="1400" dirty="0"/>
              <a:t>    else {</a:t>
            </a:r>
          </a:p>
          <a:p>
            <a:pPr marL="0" indent="0">
              <a:buNone/>
            </a:pPr>
            <a:r>
              <a:rPr lang="en-US" sz="1400" dirty="0"/>
              <a:t>        </a:t>
            </a:r>
            <a:r>
              <a:rPr lang="en-US" sz="1400" dirty="0" err="1"/>
              <a:t>printf</a:t>
            </a:r>
            <a:r>
              <a:rPr lang="en-US" sz="1400" dirty="0"/>
              <a:t>("%s is a palindrome", string1);</a:t>
            </a:r>
          </a:p>
          <a:p>
            <a:pPr marL="0" indent="0">
              <a:buNone/>
            </a:pPr>
            <a:r>
              <a:rPr lang="en-US" sz="1400" dirty="0"/>
              <a:t>    }</a:t>
            </a:r>
          </a:p>
          <a:p>
            <a:pPr marL="0" indent="0">
              <a:buNone/>
            </a:pPr>
            <a:r>
              <a:rPr lang="en-US" sz="1400" dirty="0"/>
              <a:t>    return 0;</a:t>
            </a:r>
          </a:p>
          <a:p>
            <a:pPr marL="0" indent="0">
              <a:buNone/>
            </a:pPr>
            <a:r>
              <a:rPr lang="en-US" sz="1400" dirty="0"/>
              <a:t>}</a:t>
            </a:r>
          </a:p>
        </p:txBody>
      </p:sp>
    </p:spTree>
    <p:extLst>
      <p:ext uri="{BB962C8B-B14F-4D97-AF65-F5344CB8AC3E}">
        <p14:creationId xmlns:p14="http://schemas.microsoft.com/office/powerpoint/2010/main" val="41687449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2CFE18-35D0-4918-A814-7636A0C007A3}"/>
              </a:ext>
            </a:extLst>
          </p:cNvPr>
          <p:cNvSpPr>
            <a:spLocks noGrp="1"/>
          </p:cNvSpPr>
          <p:nvPr>
            <p:ph type="title"/>
          </p:nvPr>
        </p:nvSpPr>
        <p:spPr>
          <a:xfrm>
            <a:off x="457200" y="274638"/>
            <a:ext cx="8229600" cy="562074"/>
          </a:xfrm>
        </p:spPr>
        <p:txBody>
          <a:bodyPr>
            <a:normAutofit fontScale="90000"/>
          </a:bodyPr>
          <a:lstStyle/>
          <a:p>
            <a:r>
              <a:rPr lang="en-US" dirty="0" err="1"/>
              <a:t>Strrev</a:t>
            </a:r>
            <a:endParaRPr lang="en-US" dirty="0"/>
          </a:p>
        </p:txBody>
      </p:sp>
      <p:sp>
        <p:nvSpPr>
          <p:cNvPr id="3" name="Content Placeholder 2">
            <a:extLst>
              <a:ext uri="{FF2B5EF4-FFF2-40B4-BE49-F238E27FC236}">
                <a16:creationId xmlns:a16="http://schemas.microsoft.com/office/drawing/2014/main" xmlns="" id="{57257C54-D3C5-429B-B6DD-91AA49F2A17F}"/>
              </a:ext>
            </a:extLst>
          </p:cNvPr>
          <p:cNvSpPr>
            <a:spLocks noGrp="1"/>
          </p:cNvSpPr>
          <p:nvPr>
            <p:ph idx="1"/>
          </p:nvPr>
        </p:nvSpPr>
        <p:spPr>
          <a:xfrm>
            <a:off x="457200" y="836712"/>
            <a:ext cx="8229600" cy="5746650"/>
          </a:xfrm>
        </p:spPr>
        <p:txBody>
          <a:bodyPr>
            <a:normAutofit fontScale="92500" lnSpcReduction="20000"/>
          </a:bodyPr>
          <a:lstStyle/>
          <a:p>
            <a:pPr marL="0" indent="0">
              <a:buNone/>
            </a:pPr>
            <a:r>
              <a:rPr lang="en-US" dirty="0" err="1"/>
              <a:t>strrev</a:t>
            </a:r>
            <a:r>
              <a:rPr lang="en-US" dirty="0"/>
              <a:t>(b);</a:t>
            </a:r>
          </a:p>
          <a:p>
            <a:pPr marL="0" indent="0">
              <a:buNone/>
            </a:pPr>
            <a:r>
              <a:rPr lang="en-US" dirty="0" err="1"/>
              <a:t>strrev</a:t>
            </a:r>
            <a:r>
              <a:rPr lang="en-US" dirty="0"/>
              <a:t>( ) function reverses a given string in C language. </a:t>
            </a:r>
          </a:p>
          <a:p>
            <a:pPr marL="0" indent="0">
              <a:buNone/>
            </a:pPr>
            <a:r>
              <a:rPr lang="en-US" dirty="0"/>
              <a:t>#include&lt;</a:t>
            </a:r>
            <a:r>
              <a:rPr lang="en-US" dirty="0" err="1"/>
              <a:t>stdio.h</a:t>
            </a:r>
            <a:r>
              <a:rPr lang="en-US" dirty="0"/>
              <a:t>&gt;</a:t>
            </a:r>
          </a:p>
          <a:p>
            <a:pPr marL="0" indent="0" fontAlgn="base">
              <a:buNone/>
            </a:pPr>
            <a:r>
              <a:rPr lang="en-US" dirty="0"/>
              <a:t>#include&lt;</a:t>
            </a:r>
            <a:r>
              <a:rPr lang="en-US" dirty="0" err="1"/>
              <a:t>string.h</a:t>
            </a:r>
            <a:r>
              <a:rPr lang="en-US" dirty="0"/>
              <a:t>&gt;</a:t>
            </a:r>
          </a:p>
          <a:p>
            <a:pPr marL="0" indent="0" fontAlgn="base">
              <a:buNone/>
            </a:pPr>
            <a:r>
              <a:rPr lang="en-US" b="1" dirty="0" err="1"/>
              <a:t>int</a:t>
            </a:r>
            <a:r>
              <a:rPr lang="en-US" dirty="0"/>
              <a:t> main()</a:t>
            </a:r>
          </a:p>
          <a:p>
            <a:pPr marL="0" indent="0" fontAlgn="base">
              <a:buNone/>
            </a:pPr>
            <a:r>
              <a:rPr lang="en-US" dirty="0"/>
              <a:t>{</a:t>
            </a:r>
          </a:p>
          <a:p>
            <a:pPr marL="0" indent="0" fontAlgn="base">
              <a:buNone/>
            </a:pPr>
            <a:r>
              <a:rPr lang="en-US" dirty="0"/>
              <a:t>   </a:t>
            </a:r>
            <a:r>
              <a:rPr lang="en-US" b="1" dirty="0"/>
              <a:t>char</a:t>
            </a:r>
            <a:r>
              <a:rPr lang="en-US" dirty="0"/>
              <a:t> name[30] = "Hello";</a:t>
            </a:r>
          </a:p>
          <a:p>
            <a:pPr marL="0" indent="0" fontAlgn="base">
              <a:buNone/>
            </a:pPr>
            <a:r>
              <a:rPr lang="en-US" dirty="0"/>
              <a:t>   </a:t>
            </a:r>
            <a:r>
              <a:rPr lang="en-US" b="1" dirty="0" err="1"/>
              <a:t>printf</a:t>
            </a:r>
            <a:r>
              <a:rPr lang="en-US" dirty="0"/>
              <a:t>("String before </a:t>
            </a:r>
            <a:r>
              <a:rPr lang="en-US" dirty="0" err="1"/>
              <a:t>strrev</a:t>
            </a:r>
            <a:r>
              <a:rPr lang="en-US" dirty="0"/>
              <a:t>( ) : %s\</a:t>
            </a:r>
            <a:r>
              <a:rPr lang="en-US" dirty="0" err="1"/>
              <a:t>n",name</a:t>
            </a:r>
            <a:r>
              <a:rPr lang="en-US" dirty="0"/>
              <a:t>);</a:t>
            </a:r>
          </a:p>
          <a:p>
            <a:pPr marL="0" indent="0" fontAlgn="base">
              <a:buNone/>
            </a:pPr>
            <a:r>
              <a:rPr lang="en-US" dirty="0"/>
              <a:t>   </a:t>
            </a:r>
            <a:r>
              <a:rPr lang="en-US" b="1" dirty="0" err="1"/>
              <a:t>printf</a:t>
            </a:r>
            <a:r>
              <a:rPr lang="en-US" dirty="0"/>
              <a:t>("String after </a:t>
            </a:r>
            <a:r>
              <a:rPr lang="en-US" dirty="0" err="1"/>
              <a:t>strrev</a:t>
            </a:r>
            <a:r>
              <a:rPr lang="en-US" dirty="0"/>
              <a:t>( )  : %s",</a:t>
            </a:r>
            <a:r>
              <a:rPr lang="en-US" dirty="0" err="1"/>
              <a:t>strrev</a:t>
            </a:r>
            <a:r>
              <a:rPr lang="en-US" dirty="0"/>
              <a:t>(name));</a:t>
            </a:r>
          </a:p>
          <a:p>
            <a:pPr marL="0" indent="0" fontAlgn="base">
              <a:buNone/>
            </a:pPr>
            <a:r>
              <a:rPr lang="en-US" dirty="0"/>
              <a:t>   </a:t>
            </a:r>
            <a:r>
              <a:rPr lang="en-US" b="1" dirty="0"/>
              <a:t>return</a:t>
            </a:r>
            <a:r>
              <a:rPr lang="en-US" dirty="0"/>
              <a:t> 0;</a:t>
            </a:r>
          </a:p>
          <a:p>
            <a:pPr marL="0" indent="0" fontAlgn="base">
              <a:buNone/>
            </a:pPr>
            <a:r>
              <a:rPr lang="en-US" dirty="0"/>
              <a:t>}</a:t>
            </a:r>
          </a:p>
        </p:txBody>
      </p:sp>
    </p:spTree>
    <p:extLst>
      <p:ext uri="{BB962C8B-B14F-4D97-AF65-F5344CB8AC3E}">
        <p14:creationId xmlns:p14="http://schemas.microsoft.com/office/powerpoint/2010/main" val="11609318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939784"/>
          </a:xfrm>
        </p:spPr>
        <p:txBody>
          <a:bodyPr>
            <a:normAutofit/>
          </a:bodyPr>
          <a:lstStyle/>
          <a:p>
            <a:r>
              <a:rPr lang="en-GB" b="1" dirty="0"/>
              <a:t>Huffman Coding Problem</a:t>
            </a:r>
            <a:endParaRPr lang="en-GB" dirty="0"/>
          </a:p>
        </p:txBody>
      </p:sp>
      <p:sp>
        <p:nvSpPr>
          <p:cNvPr id="3" name="Content Placeholder 2"/>
          <p:cNvSpPr>
            <a:spLocks noGrp="1"/>
          </p:cNvSpPr>
          <p:nvPr>
            <p:ph idx="1"/>
          </p:nvPr>
        </p:nvSpPr>
        <p:spPr>
          <a:xfrm>
            <a:off x="428596" y="1071546"/>
            <a:ext cx="8229600" cy="5000660"/>
          </a:xfrm>
        </p:spPr>
        <p:txBody>
          <a:bodyPr>
            <a:normAutofit fontScale="92500"/>
          </a:bodyPr>
          <a:lstStyle/>
          <a:p>
            <a:pPr algn="just">
              <a:lnSpc>
                <a:spcPct val="150000"/>
              </a:lnSpc>
              <a:buNone/>
            </a:pPr>
            <a:r>
              <a:rPr lang="en-GB" b="1" dirty="0"/>
              <a:t>	Huffman code</a:t>
            </a:r>
            <a:r>
              <a:rPr lang="en-GB" dirty="0"/>
              <a:t> is a particular type of optimal prefix code for characters. It is commonly used for lossless data compression. It is a variable-length code derived from frequency of occurrence. Given a string develop an algorithm and write a C program to determine frequency of occurrence of each character in the string.</a:t>
            </a:r>
          </a:p>
        </p:txBody>
      </p:sp>
    </p:spTree>
    <p:extLst>
      <p:ext uri="{BB962C8B-B14F-4D97-AF65-F5344CB8AC3E}">
        <p14:creationId xmlns:p14="http://schemas.microsoft.com/office/powerpoint/2010/main" val="1659202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1414"/>
            <a:ext cx="8229600" cy="714380"/>
          </a:xfrm>
        </p:spPr>
        <p:txBody>
          <a:bodyPr>
            <a:normAutofit fontScale="90000"/>
          </a:bodyPr>
          <a:lstStyle/>
          <a:p>
            <a:r>
              <a:rPr lang="en-GB" b="1" dirty="0"/>
              <a:t>Huffman Coding problem</a:t>
            </a:r>
          </a:p>
        </p:txBody>
      </p:sp>
      <p:graphicFrame>
        <p:nvGraphicFramePr>
          <p:cNvPr id="7" name="Table 6"/>
          <p:cNvGraphicFramePr>
            <a:graphicFrameLocks noGrp="1"/>
          </p:cNvGraphicFramePr>
          <p:nvPr/>
        </p:nvGraphicFramePr>
        <p:xfrm>
          <a:off x="214282" y="1500174"/>
          <a:ext cx="8715435" cy="3629675"/>
        </p:xfrm>
        <a:graphic>
          <a:graphicData uri="http://schemas.openxmlformats.org/drawingml/2006/table">
            <a:tbl>
              <a:tblPr firstRow="1" bandRow="1">
                <a:tableStyleId>{5C22544A-7EE6-4342-B048-85BDC9FD1C3A}</a:tableStyleId>
              </a:tblPr>
              <a:tblGrid>
                <a:gridCol w="2000264">
                  <a:extLst>
                    <a:ext uri="{9D8B030D-6E8A-4147-A177-3AD203B41FA5}">
                      <a16:colId xmlns:a16="http://schemas.microsoft.com/office/drawing/2014/main" xmlns="" val="20000"/>
                    </a:ext>
                  </a:extLst>
                </a:gridCol>
                <a:gridCol w="2500330">
                  <a:extLst>
                    <a:ext uri="{9D8B030D-6E8A-4147-A177-3AD203B41FA5}">
                      <a16:colId xmlns:a16="http://schemas.microsoft.com/office/drawing/2014/main" xmlns="" val="20001"/>
                    </a:ext>
                  </a:extLst>
                </a:gridCol>
                <a:gridCol w="4214841">
                  <a:extLst>
                    <a:ext uri="{9D8B030D-6E8A-4147-A177-3AD203B41FA5}">
                      <a16:colId xmlns:a16="http://schemas.microsoft.com/office/drawing/2014/main" xmlns="" val="20002"/>
                    </a:ext>
                  </a:extLst>
                </a:gridCol>
              </a:tblGrid>
              <a:tr h="1176035">
                <a:tc>
                  <a:txBody>
                    <a:bodyPr/>
                    <a:lstStyle/>
                    <a:p>
                      <a:r>
                        <a:rPr lang="en-GB" sz="3200" dirty="0"/>
                        <a:t>Input</a:t>
                      </a:r>
                    </a:p>
                  </a:txBody>
                  <a:tcPr/>
                </a:tc>
                <a:tc>
                  <a:txBody>
                    <a:bodyPr/>
                    <a:lstStyle/>
                    <a:p>
                      <a:r>
                        <a:rPr lang="en-GB" sz="3200" dirty="0"/>
                        <a:t>Output</a:t>
                      </a:r>
                    </a:p>
                  </a:txBody>
                  <a:tcPr/>
                </a:tc>
                <a:tc>
                  <a:txBody>
                    <a:bodyPr/>
                    <a:lstStyle/>
                    <a:p>
                      <a:r>
                        <a:rPr lang="en-GB" sz="3200" dirty="0"/>
                        <a:t>Logic Involved</a:t>
                      </a:r>
                    </a:p>
                  </a:txBody>
                  <a:tcPr/>
                </a:tc>
                <a:extLst>
                  <a:ext uri="{0D108BD9-81ED-4DB2-BD59-A6C34878D82A}">
                    <a16:rowId xmlns:a16="http://schemas.microsoft.com/office/drawing/2014/main" xmlns="" val="10000"/>
                  </a:ext>
                </a:extLst>
              </a:tr>
              <a:tr h="681353">
                <a:tc>
                  <a:txBody>
                    <a:bodyPr/>
                    <a:lstStyle/>
                    <a:p>
                      <a:r>
                        <a:rPr lang="en-GB" sz="3200" dirty="0"/>
                        <a:t>A string S</a:t>
                      </a:r>
                    </a:p>
                  </a:txBody>
                  <a:tcPr/>
                </a:tc>
                <a:tc>
                  <a:txBody>
                    <a:bodyPr/>
                    <a:lstStyle/>
                    <a:p>
                      <a:r>
                        <a:rPr lang="en-GB" sz="3200" dirty="0"/>
                        <a:t>Frequency</a:t>
                      </a:r>
                      <a:r>
                        <a:rPr lang="en-GB" sz="3200" baseline="0" dirty="0"/>
                        <a:t> count of each letter in S</a:t>
                      </a:r>
                      <a:endParaRPr lang="en-GB" sz="3200" dirty="0"/>
                    </a:p>
                  </a:txBody>
                  <a:tcPr/>
                </a:tc>
                <a:tc>
                  <a:txBody>
                    <a:bodyPr/>
                    <a:lstStyle/>
                    <a:p>
                      <a:r>
                        <a:rPr lang="en-GB" sz="3100" dirty="0"/>
                        <a:t>Convert all letters to uniform case and</a:t>
                      </a:r>
                      <a:r>
                        <a:rPr lang="en-GB" sz="3100" baseline="0" dirty="0"/>
                        <a:t> check if it is a particular letter and increment corresponding count</a:t>
                      </a:r>
                      <a:endParaRPr lang="en-GB" sz="3100" dirty="0"/>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1102716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31762"/>
            <a:ext cx="8229600" cy="939784"/>
          </a:xfrm>
        </p:spPr>
        <p:txBody>
          <a:bodyPr>
            <a:normAutofit/>
          </a:bodyPr>
          <a:lstStyle/>
          <a:p>
            <a:r>
              <a:rPr lang="en-GB" b="1" dirty="0"/>
              <a:t>Algorithm</a:t>
            </a:r>
            <a:endParaRPr lang="en-GB" dirty="0"/>
          </a:p>
        </p:txBody>
      </p:sp>
      <p:sp>
        <p:nvSpPr>
          <p:cNvPr id="3" name="Content Placeholder 2"/>
          <p:cNvSpPr>
            <a:spLocks noGrp="1"/>
          </p:cNvSpPr>
          <p:nvPr>
            <p:ph idx="1"/>
          </p:nvPr>
        </p:nvSpPr>
        <p:spPr>
          <a:xfrm>
            <a:off x="428596" y="1071546"/>
            <a:ext cx="8229600" cy="5500726"/>
          </a:xfrm>
        </p:spPr>
        <p:txBody>
          <a:bodyPr>
            <a:normAutofit lnSpcReduction="10000"/>
          </a:bodyPr>
          <a:lstStyle/>
          <a:p>
            <a:pPr marL="514350" indent="-514350" algn="just">
              <a:lnSpc>
                <a:spcPct val="150000"/>
              </a:lnSpc>
              <a:buAutoNum type="arabicPeriod"/>
            </a:pPr>
            <a:r>
              <a:rPr lang="en-GB" dirty="0"/>
              <a:t>Read a string</a:t>
            </a:r>
          </a:p>
          <a:p>
            <a:pPr marL="514350" indent="-514350" algn="just">
              <a:lnSpc>
                <a:spcPct val="150000"/>
              </a:lnSpc>
              <a:buAutoNum type="arabicPeriod"/>
            </a:pPr>
            <a:r>
              <a:rPr lang="en-GB" dirty="0"/>
              <a:t>Make all letters in the string to be in lowercase</a:t>
            </a:r>
          </a:p>
          <a:p>
            <a:pPr marL="514350" indent="-514350" algn="just">
              <a:lnSpc>
                <a:spcPct val="150000"/>
              </a:lnSpc>
              <a:buAutoNum type="arabicPeriod"/>
            </a:pPr>
            <a:r>
              <a:rPr lang="en-GB" dirty="0"/>
              <a:t>Process character by character</a:t>
            </a:r>
          </a:p>
          <a:p>
            <a:pPr marL="514350" indent="-514350" algn="just">
              <a:lnSpc>
                <a:spcPct val="150000"/>
              </a:lnSpc>
              <a:buAutoNum type="arabicPeriod"/>
            </a:pPr>
            <a:r>
              <a:rPr lang="en-GB" dirty="0"/>
              <a:t>If the character is an alphabet then increment count of it</a:t>
            </a:r>
          </a:p>
          <a:p>
            <a:pPr marL="514350" indent="-514350" algn="just">
              <a:lnSpc>
                <a:spcPct val="150000"/>
              </a:lnSpc>
              <a:buAutoNum type="arabicPeriod"/>
            </a:pPr>
            <a:r>
              <a:rPr lang="en-GB" dirty="0"/>
              <a:t>Print count of all alphabets</a:t>
            </a:r>
          </a:p>
        </p:txBody>
      </p:sp>
    </p:spTree>
    <p:extLst>
      <p:ext uri="{BB962C8B-B14F-4D97-AF65-F5344CB8AC3E}">
        <p14:creationId xmlns:p14="http://schemas.microsoft.com/office/powerpoint/2010/main" val="23568012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285720" y="142852"/>
            <a:ext cx="8429684" cy="65386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928662" y="71414"/>
            <a:ext cx="5134624" cy="657229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54BBD93E6361045BDDC16B9DEBC7DA6" ma:contentTypeVersion="7" ma:contentTypeDescription="Create a new document." ma:contentTypeScope="" ma:versionID="019a2df849b193964d642781844ddc49">
  <xsd:schema xmlns:xsd="http://www.w3.org/2001/XMLSchema" xmlns:xs="http://www.w3.org/2001/XMLSchema" xmlns:p="http://schemas.microsoft.com/office/2006/metadata/properties" xmlns:ns2="6d170bfe-e2e2-4142-83d5-a6ef40cb8c49" targetNamespace="http://schemas.microsoft.com/office/2006/metadata/properties" ma:root="true" ma:fieldsID="73f12641ada140efdfba7346b11223b3" ns2:_="">
    <xsd:import namespace="6d170bfe-e2e2-4142-83d5-a6ef40cb8c4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70bfe-e2e2-4142-83d5-a6ef40cb8c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3FF6C86-E3F0-47CB-87B7-24A4D841EED4}">
  <ds:schemaRefs>
    <ds:schemaRef ds:uri="http://schemas.microsoft.com/sharepoint/v3/contenttype/forms"/>
  </ds:schemaRefs>
</ds:datastoreItem>
</file>

<file path=customXml/itemProps2.xml><?xml version="1.0" encoding="utf-8"?>
<ds:datastoreItem xmlns:ds="http://schemas.openxmlformats.org/officeDocument/2006/customXml" ds:itemID="{59ACD795-DDF6-4E6F-8032-2CD0C2D71E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70bfe-e2e2-4142-83d5-a6ef40cb8c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66B35ED-935B-4912-9D09-45091D63DCB1}">
  <ds:schemaRefs>
    <ds:schemaRef ds:uri="http://purl.org/dc/elements/1.1/"/>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6d170bfe-e2e2-4142-83d5-a6ef40cb8c4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5431</TotalTime>
  <Words>954</Words>
  <Application>Microsoft Office PowerPoint</Application>
  <PresentationFormat>On-screen Show (4:3)</PresentationFormat>
  <Paragraphs>207</Paragraphs>
  <Slides>28</Slides>
  <Notes>2</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Format specifiers in printf</vt:lpstr>
      <vt:lpstr>PowerPoint Presentation</vt:lpstr>
      <vt:lpstr>PowerPoint Presentation</vt:lpstr>
      <vt:lpstr>Single dimensional  Arrays</vt:lpstr>
      <vt:lpstr>Accident Problem</vt:lpstr>
      <vt:lpstr>Accident problem</vt:lpstr>
      <vt:lpstr>Algorithm</vt:lpstr>
      <vt:lpstr>New Stuff... </vt:lpstr>
      <vt:lpstr>Arrays in C</vt:lpstr>
      <vt:lpstr>Compare List and Arrays</vt:lpstr>
      <vt:lpstr>Declaration of Arrays in C</vt:lpstr>
      <vt:lpstr>Cannot assign one array to other</vt:lpstr>
      <vt:lpstr>PowerPoint Presentation</vt:lpstr>
      <vt:lpstr>Strings in C</vt:lpstr>
      <vt:lpstr>Character Arrays Are Special</vt:lpstr>
      <vt:lpstr>Strcpy</vt:lpstr>
      <vt:lpstr>Strcmp</vt:lpstr>
      <vt:lpstr>PowerPoint Presentation</vt:lpstr>
      <vt:lpstr>Output</vt:lpstr>
      <vt:lpstr>strcat</vt:lpstr>
      <vt:lpstr>strlen</vt:lpstr>
      <vt:lpstr>Palindrome</vt:lpstr>
      <vt:lpstr>Strrev</vt:lpstr>
      <vt:lpstr>Huffman Coding Problem</vt:lpstr>
      <vt:lpstr>Huffman Coding problem</vt:lpstr>
      <vt:lpstr>Algorithm</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Radha Ranganathan</cp:lastModifiedBy>
  <cp:revision>211</cp:revision>
  <dcterms:created xsi:type="dcterms:W3CDTF">2016-01-12T05:48:54Z</dcterms:created>
  <dcterms:modified xsi:type="dcterms:W3CDTF">2026-01-17T03:47:59Z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0x010100954BBD93E6361045BDDC16B9DEBC7DA6</vt:lpwstr>
  </property>
</Properties>
</file>