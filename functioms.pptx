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5"/>
    <p:sldId id="308" r:id="rId6"/>
    <p:sldId id="341" r:id="rId7"/>
    <p:sldId id="342" r:id="rId8"/>
    <p:sldId id="343" r:id="rId9"/>
    <p:sldId id="344" r:id="rId10"/>
    <p:sldId id="345" r:id="rId11"/>
    <p:sldId id="346" r:id="rId12"/>
    <p:sldId id="347" r:id="rId13"/>
    <p:sldId id="312" r:id="rId14"/>
    <p:sldId id="348" r:id="rId15"/>
    <p:sldId id="349" r:id="rId16"/>
    <p:sldId id="350" r:id="rId17"/>
    <p:sldId id="352" r:id="rId18"/>
    <p:sldId id="353" r:id="rId19"/>
    <p:sldId id="354" r:id="rId20"/>
    <p:sldId id="35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7" d="100"/>
          <a:sy n="77" d="100"/>
        </p:scale>
        <p:origin x="-956" y="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C03CFD-3C1A-41A3-81CC-68CCBF584AAF}" type="datetimeFigureOut">
              <a:rPr lang="en-US" smtClean="0"/>
              <a:pPr/>
              <a:t>1/17/2026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44A91B-9C55-46DE-BC52-8F918EDF2834}" type="slidenum">
              <a:rPr lang="en-GB" smtClean="0"/>
              <a:pPr/>
              <a:t>‹#›</a:t>
            </a:fld>
            <a:endParaRPr lang="en-GB"/>
          </a:p>
        </p:txBody>
      </p:sp>
    </p:spTree>
    <p:extLst>
      <p:ext uri="{BB962C8B-B14F-4D97-AF65-F5344CB8AC3E}">
        <p14:creationId xmlns:p14="http://schemas.microsoft.com/office/powerpoint/2010/main" val="1885122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27F7E33-0294-4AEA-8B64-63B084E368B9}" type="datetimeFigureOut">
              <a:rPr lang="en-US" smtClean="0"/>
              <a:pPr/>
              <a:t>1/17/2026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27F7E33-0294-4AEA-8B64-63B084E368B9}" type="datetimeFigureOut">
              <a:rPr lang="en-US" smtClean="0"/>
              <a:pPr/>
              <a:t>1/17/2026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27F7E33-0294-4AEA-8B64-63B084E368B9}" type="datetimeFigureOut">
              <a:rPr lang="en-US" smtClean="0"/>
              <a:pPr/>
              <a:t>1/17/2026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7F7E33-0294-4AEA-8B64-63B084E368B9}" type="datetimeFigureOut">
              <a:rPr lang="en-US" smtClean="0"/>
              <a:pPr/>
              <a:t>1/17/2026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7F7E33-0294-4AEA-8B64-63B084E368B9}" type="datetimeFigureOut">
              <a:rPr lang="en-US" smtClean="0"/>
              <a:pPr/>
              <a:t>1/17/2026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7F7E33-0294-4AEA-8B64-63B084E368B9}" type="datetimeFigureOut">
              <a:rPr lang="en-US" smtClean="0"/>
              <a:pPr/>
              <a:t>1/17/2026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7F7E33-0294-4AEA-8B64-63B084E368B9}" type="datetimeFigureOut">
              <a:rPr lang="en-US" smtClean="0"/>
              <a:pPr/>
              <a:t>1/17/2026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1A5E7E-EC26-45B8-88F1-B365ECAFA947}"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Functions in C</a:t>
            </a:r>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dirty="0"/>
              <a:t>Functions in C</a:t>
            </a:r>
          </a:p>
        </p:txBody>
      </p:sp>
      <p:sp>
        <p:nvSpPr>
          <p:cNvPr id="3" name="Content Placeholder 2"/>
          <p:cNvSpPr>
            <a:spLocks noGrp="1"/>
          </p:cNvSpPr>
          <p:nvPr>
            <p:ph idx="1"/>
          </p:nvPr>
        </p:nvSpPr>
        <p:spPr>
          <a:xfrm>
            <a:off x="428596" y="1071546"/>
            <a:ext cx="8229600" cy="5072098"/>
          </a:xfrm>
        </p:spPr>
        <p:txBody>
          <a:bodyPr>
            <a:normAutofit lnSpcReduction="10000"/>
          </a:bodyPr>
          <a:lstStyle/>
          <a:p>
            <a:pPr marL="514350" indent="-514350" algn="just">
              <a:lnSpc>
                <a:spcPct val="150000"/>
              </a:lnSpc>
            </a:pPr>
            <a:r>
              <a:rPr lang="en-GB" dirty="0"/>
              <a:t>Modularity is supported in C by functions</a:t>
            </a:r>
          </a:p>
          <a:p>
            <a:pPr marL="514350" indent="-514350" algn="just">
              <a:lnSpc>
                <a:spcPct val="150000"/>
              </a:lnSpc>
            </a:pPr>
            <a:r>
              <a:rPr lang="en-US" dirty="0"/>
              <a:t>All variables declared inside functions are local variables</a:t>
            </a:r>
          </a:p>
          <a:p>
            <a:pPr lvl="2">
              <a:lnSpc>
                <a:spcPct val="150000"/>
              </a:lnSpc>
            </a:pPr>
            <a:r>
              <a:rPr lang="en-US" dirty="0"/>
              <a:t>Known only in function defined</a:t>
            </a:r>
          </a:p>
          <a:p>
            <a:pPr>
              <a:lnSpc>
                <a:spcPct val="150000"/>
              </a:lnSpc>
            </a:pPr>
            <a:r>
              <a:rPr lang="en-US" dirty="0"/>
              <a:t>Parameters</a:t>
            </a:r>
          </a:p>
          <a:p>
            <a:pPr lvl="2">
              <a:lnSpc>
                <a:spcPct val="150000"/>
              </a:lnSpc>
            </a:pPr>
            <a:r>
              <a:rPr lang="en-US" dirty="0"/>
              <a:t>Communicate information between functions</a:t>
            </a:r>
          </a:p>
          <a:p>
            <a:pPr lvl="2">
              <a:lnSpc>
                <a:spcPct val="150000"/>
              </a:lnSpc>
            </a:pPr>
            <a:r>
              <a:rPr lang="en-US" dirty="0"/>
              <a:t>Local variables</a:t>
            </a:r>
          </a:p>
          <a:p>
            <a:pPr>
              <a:lnSpc>
                <a:spcPct val="150000"/>
              </a:lnSpc>
            </a:pPr>
            <a:endParaRPr lang="en-US" dirty="0"/>
          </a:p>
          <a:p>
            <a:pPr marL="514350" indent="-514350" algn="just">
              <a:lnSpc>
                <a:spcPct val="150000"/>
              </a:lnSpc>
            </a:pPr>
            <a:endParaRPr lang="en-GB" dirty="0"/>
          </a:p>
        </p:txBody>
      </p:sp>
      <p:sp>
        <p:nvSpPr>
          <p:cNvPr id="1026" name="AutoShape 2"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28" name="AutoShape 4"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30" name="AutoShape 6"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12C2C-AEE8-4CF4-A0CA-BE409329B376}"/>
              </a:ext>
            </a:extLst>
          </p:cNvPr>
          <p:cNvSpPr>
            <a:spLocks noGrp="1"/>
          </p:cNvSpPr>
          <p:nvPr>
            <p:ph type="title"/>
          </p:nvPr>
        </p:nvSpPr>
        <p:spPr/>
        <p:txBody>
          <a:bodyPr>
            <a:normAutofit/>
          </a:bodyPr>
          <a:lstStyle/>
          <a:p>
            <a:r>
              <a:rPr lang="en-US" dirty="0"/>
              <a:t>Defining a Function</a:t>
            </a:r>
          </a:p>
        </p:txBody>
      </p:sp>
      <p:sp>
        <p:nvSpPr>
          <p:cNvPr id="3" name="Content Placeholder 2">
            <a:extLst>
              <a:ext uri="{FF2B5EF4-FFF2-40B4-BE49-F238E27FC236}">
                <a16:creationId xmlns:a16="http://schemas.microsoft.com/office/drawing/2014/main" xmlns="" id="{866A4CBC-D6D6-4CEA-B169-6012723FDB08}"/>
              </a:ext>
            </a:extLst>
          </p:cNvPr>
          <p:cNvSpPr>
            <a:spLocks noGrp="1"/>
          </p:cNvSpPr>
          <p:nvPr>
            <p:ph idx="1"/>
          </p:nvPr>
        </p:nvSpPr>
        <p:spPr/>
        <p:txBody>
          <a:bodyPr/>
          <a:lstStyle/>
          <a:p>
            <a:r>
              <a:rPr lang="en-US" dirty="0"/>
              <a:t>The general form of a function definition in C programming language is as follows −</a:t>
            </a:r>
          </a:p>
          <a:p>
            <a:endParaRPr lang="en-US" dirty="0"/>
          </a:p>
          <a:p>
            <a:pPr marL="0" indent="0">
              <a:buNone/>
            </a:pPr>
            <a:r>
              <a:rPr lang="en-US" dirty="0" err="1"/>
              <a:t>return_type</a:t>
            </a:r>
            <a:r>
              <a:rPr lang="en-US" dirty="0"/>
              <a:t> </a:t>
            </a:r>
            <a:r>
              <a:rPr lang="en-US" dirty="0" err="1"/>
              <a:t>function_name</a:t>
            </a:r>
            <a:r>
              <a:rPr lang="en-US" dirty="0"/>
              <a:t>( parameter list ) {</a:t>
            </a:r>
          </a:p>
          <a:p>
            <a:pPr marL="0" indent="0">
              <a:buNone/>
            </a:pPr>
            <a:r>
              <a:rPr lang="en-US" dirty="0"/>
              <a:t>   body of the function</a:t>
            </a:r>
          </a:p>
          <a:p>
            <a:pPr marL="0" indent="0">
              <a:buNone/>
            </a:pPr>
            <a:r>
              <a:rPr lang="en-US" dirty="0"/>
              <a:t>}</a:t>
            </a:r>
          </a:p>
        </p:txBody>
      </p:sp>
    </p:spTree>
    <p:extLst>
      <p:ext uri="{BB962C8B-B14F-4D97-AF65-F5344CB8AC3E}">
        <p14:creationId xmlns:p14="http://schemas.microsoft.com/office/powerpoint/2010/main" val="2013535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3FB0D7-E2D7-45AC-B129-7995B3ABFBF9}"/>
              </a:ext>
            </a:extLst>
          </p:cNvPr>
          <p:cNvSpPr>
            <a:spLocks noGrp="1"/>
          </p:cNvSpPr>
          <p:nvPr>
            <p:ph type="title"/>
          </p:nvPr>
        </p:nvSpPr>
        <p:spPr>
          <a:xfrm>
            <a:off x="457200" y="274638"/>
            <a:ext cx="8229600" cy="562074"/>
          </a:xfrm>
        </p:spPr>
        <p:txBody>
          <a:bodyPr>
            <a:normAutofit fontScale="90000"/>
          </a:bodyPr>
          <a:lstStyle/>
          <a:p>
            <a:r>
              <a:rPr lang="en-US" dirty="0"/>
              <a:t>Defining a Function</a:t>
            </a:r>
          </a:p>
        </p:txBody>
      </p:sp>
      <p:sp>
        <p:nvSpPr>
          <p:cNvPr id="3" name="Content Placeholder 2">
            <a:extLst>
              <a:ext uri="{FF2B5EF4-FFF2-40B4-BE49-F238E27FC236}">
                <a16:creationId xmlns:a16="http://schemas.microsoft.com/office/drawing/2014/main" xmlns="" id="{43FAC96B-D4E3-4A41-A82E-6085A531CE3E}"/>
              </a:ext>
            </a:extLst>
          </p:cNvPr>
          <p:cNvSpPr>
            <a:spLocks noGrp="1"/>
          </p:cNvSpPr>
          <p:nvPr>
            <p:ph idx="1"/>
          </p:nvPr>
        </p:nvSpPr>
        <p:spPr>
          <a:xfrm>
            <a:off x="457200" y="1196752"/>
            <a:ext cx="8229600" cy="4929411"/>
          </a:xfrm>
        </p:spPr>
        <p:txBody>
          <a:bodyPr numCol="1">
            <a:normAutofit fontScale="92500" lnSpcReduction="10000"/>
          </a:bodyPr>
          <a:lstStyle/>
          <a:p>
            <a:pPr algn="just"/>
            <a:r>
              <a:rPr lang="en-US" sz="2400" dirty="0"/>
              <a:t>Return Type − A function may return a value. The </a:t>
            </a:r>
            <a:r>
              <a:rPr lang="en-US" sz="2400" dirty="0" err="1"/>
              <a:t>return_type</a:t>
            </a:r>
            <a:r>
              <a:rPr lang="en-US" sz="2400" dirty="0"/>
              <a:t> is the data type of the value the function returns. Some functions perform the desired operations without returning a value. In this case, the </a:t>
            </a:r>
            <a:r>
              <a:rPr lang="en-US" sz="2400" dirty="0" err="1"/>
              <a:t>return_type</a:t>
            </a:r>
            <a:r>
              <a:rPr lang="en-US" sz="2400" dirty="0"/>
              <a:t> is the keyword void.</a:t>
            </a:r>
          </a:p>
          <a:p>
            <a:pPr algn="just"/>
            <a:r>
              <a:rPr lang="en-US" sz="2400" dirty="0"/>
              <a:t>Function Name − This is the actual name of the function. The function name and the parameter list together constitute the function signature.</a:t>
            </a:r>
          </a:p>
          <a:p>
            <a:pPr algn="just"/>
            <a:r>
              <a:rPr lang="en-US" sz="2400" dirty="0"/>
              <a:t>Parameters − A parameter is like a placeholder. When a function is invoked, you pass a value to the parameter. This value is referred to as actual parameter or argument. The parameter list refers to the type, order, and number of the parameters of a function. Parameters are optional; that is, a function may contain no parameters.</a:t>
            </a:r>
          </a:p>
          <a:p>
            <a:pPr algn="just"/>
            <a:r>
              <a:rPr lang="en-US" sz="2400" dirty="0"/>
              <a:t>Function Body − The function body contains a collection of statements that define what the function does.</a:t>
            </a:r>
          </a:p>
        </p:txBody>
      </p:sp>
    </p:spTree>
    <p:extLst>
      <p:ext uri="{BB962C8B-B14F-4D97-AF65-F5344CB8AC3E}">
        <p14:creationId xmlns:p14="http://schemas.microsoft.com/office/powerpoint/2010/main" val="54746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DC7EB5-7FA0-4618-AC2D-17A3B9E8400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xmlns="" id="{9DE857EC-6479-4E3B-9A77-30B2E77FA2FE}"/>
              </a:ext>
            </a:extLst>
          </p:cNvPr>
          <p:cNvSpPr>
            <a:spLocks noGrp="1"/>
          </p:cNvSpPr>
          <p:nvPr>
            <p:ph idx="1"/>
          </p:nvPr>
        </p:nvSpPr>
        <p:spPr/>
        <p:txBody>
          <a:bodyPr>
            <a:normAutofit fontScale="70000" lnSpcReduction="20000"/>
          </a:bodyPr>
          <a:lstStyle/>
          <a:p>
            <a:pPr marL="0" indent="0">
              <a:buNone/>
            </a:pPr>
            <a:r>
              <a:rPr lang="en-US" dirty="0"/>
              <a:t>/* function returning the max between two numbers */</a:t>
            </a:r>
          </a:p>
          <a:p>
            <a:pPr marL="0" indent="0">
              <a:buNone/>
            </a:pPr>
            <a:r>
              <a:rPr lang="en-US" dirty="0" err="1"/>
              <a:t>int</a:t>
            </a:r>
            <a:r>
              <a:rPr lang="en-US" dirty="0"/>
              <a:t> max(</a:t>
            </a:r>
            <a:r>
              <a:rPr lang="en-US" dirty="0" err="1"/>
              <a:t>int</a:t>
            </a:r>
            <a:r>
              <a:rPr lang="en-US" dirty="0"/>
              <a:t> num1, </a:t>
            </a:r>
            <a:r>
              <a:rPr lang="en-US" dirty="0" err="1"/>
              <a:t>int</a:t>
            </a:r>
            <a:r>
              <a:rPr lang="en-US" dirty="0"/>
              <a:t> num2) {</a:t>
            </a:r>
          </a:p>
          <a:p>
            <a:pPr marL="0" indent="0">
              <a:buNone/>
            </a:pPr>
            <a:endParaRPr lang="en-US" dirty="0"/>
          </a:p>
          <a:p>
            <a:pPr marL="0" indent="0">
              <a:buNone/>
            </a:pPr>
            <a:r>
              <a:rPr lang="en-US" dirty="0"/>
              <a:t>   /* local variable declaration */</a:t>
            </a:r>
          </a:p>
          <a:p>
            <a:pPr marL="0" indent="0">
              <a:buNone/>
            </a:pPr>
            <a:r>
              <a:rPr lang="en-US" dirty="0"/>
              <a:t>   </a:t>
            </a:r>
            <a:r>
              <a:rPr lang="en-US" dirty="0" err="1"/>
              <a:t>int</a:t>
            </a:r>
            <a:r>
              <a:rPr lang="en-US" dirty="0"/>
              <a:t> result;</a:t>
            </a:r>
          </a:p>
          <a:p>
            <a:pPr marL="0" indent="0">
              <a:buNone/>
            </a:pPr>
            <a:r>
              <a:rPr lang="en-US" dirty="0"/>
              <a:t> </a:t>
            </a:r>
          </a:p>
          <a:p>
            <a:pPr marL="0" indent="0">
              <a:buNone/>
            </a:pPr>
            <a:r>
              <a:rPr lang="en-US" dirty="0"/>
              <a:t>   if (num1 &gt; num2)</a:t>
            </a:r>
          </a:p>
          <a:p>
            <a:pPr marL="0" indent="0">
              <a:buNone/>
            </a:pPr>
            <a:r>
              <a:rPr lang="en-US" dirty="0"/>
              <a:t>      result = num1;</a:t>
            </a:r>
          </a:p>
          <a:p>
            <a:pPr marL="0" indent="0">
              <a:buNone/>
            </a:pPr>
            <a:r>
              <a:rPr lang="en-US" dirty="0"/>
              <a:t>   else</a:t>
            </a:r>
          </a:p>
          <a:p>
            <a:pPr marL="0" indent="0">
              <a:buNone/>
            </a:pPr>
            <a:r>
              <a:rPr lang="en-US" dirty="0"/>
              <a:t>      result = num2;</a:t>
            </a:r>
          </a:p>
          <a:p>
            <a:pPr marL="0" indent="0">
              <a:buNone/>
            </a:pPr>
            <a:r>
              <a:rPr lang="en-US" dirty="0"/>
              <a:t> </a:t>
            </a:r>
          </a:p>
          <a:p>
            <a:pPr marL="0" indent="0">
              <a:buNone/>
            </a:pPr>
            <a:r>
              <a:rPr lang="en-US" dirty="0"/>
              <a:t>   return result; </a:t>
            </a:r>
          </a:p>
          <a:p>
            <a:pPr marL="0" indent="0">
              <a:buNone/>
            </a:pPr>
            <a:r>
              <a:rPr lang="en-US" dirty="0"/>
              <a:t>}</a:t>
            </a:r>
          </a:p>
        </p:txBody>
      </p:sp>
    </p:spTree>
    <p:extLst>
      <p:ext uri="{BB962C8B-B14F-4D97-AF65-F5344CB8AC3E}">
        <p14:creationId xmlns:p14="http://schemas.microsoft.com/office/powerpoint/2010/main" val="281762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4D6815-3709-4374-B7DC-61588DC761F9}"/>
              </a:ext>
            </a:extLst>
          </p:cNvPr>
          <p:cNvSpPr>
            <a:spLocks noGrp="1"/>
          </p:cNvSpPr>
          <p:nvPr>
            <p:ph type="title"/>
          </p:nvPr>
        </p:nvSpPr>
        <p:spPr/>
        <p:txBody>
          <a:bodyPr>
            <a:normAutofit/>
          </a:bodyPr>
          <a:lstStyle/>
          <a:p>
            <a:r>
              <a:rPr lang="en-US" dirty="0"/>
              <a:t>Function Declarations</a:t>
            </a:r>
          </a:p>
        </p:txBody>
      </p:sp>
      <p:sp>
        <p:nvSpPr>
          <p:cNvPr id="3" name="Content Placeholder 2">
            <a:extLst>
              <a:ext uri="{FF2B5EF4-FFF2-40B4-BE49-F238E27FC236}">
                <a16:creationId xmlns:a16="http://schemas.microsoft.com/office/drawing/2014/main" xmlns="" id="{8E3BB379-2514-44A0-9A2D-623BD7056BD0}"/>
              </a:ext>
            </a:extLst>
          </p:cNvPr>
          <p:cNvSpPr>
            <a:spLocks noGrp="1"/>
          </p:cNvSpPr>
          <p:nvPr>
            <p:ph idx="1"/>
          </p:nvPr>
        </p:nvSpPr>
        <p:spPr/>
        <p:txBody>
          <a:bodyPr>
            <a:normAutofit fontScale="92500" lnSpcReduction="10000"/>
          </a:bodyPr>
          <a:lstStyle/>
          <a:p>
            <a:r>
              <a:rPr lang="en-US" dirty="0"/>
              <a:t>A function declaration tells the compiler about a function name and how to call the function. The actual body of the function can be defined separately.</a:t>
            </a:r>
          </a:p>
          <a:p>
            <a:r>
              <a:rPr lang="en-US" dirty="0"/>
              <a:t>A function declaration has the following parts −</a:t>
            </a:r>
          </a:p>
          <a:p>
            <a:pPr marL="0" indent="0" algn="ctr">
              <a:buNone/>
            </a:pPr>
            <a:r>
              <a:rPr lang="en-US" dirty="0" err="1">
                <a:solidFill>
                  <a:srgbClr val="FF0000"/>
                </a:solidFill>
              </a:rPr>
              <a:t>return_type</a:t>
            </a:r>
            <a:r>
              <a:rPr lang="en-US" dirty="0">
                <a:solidFill>
                  <a:srgbClr val="FF0000"/>
                </a:solidFill>
              </a:rPr>
              <a:t> </a:t>
            </a:r>
            <a:r>
              <a:rPr lang="en-US" dirty="0" err="1">
                <a:solidFill>
                  <a:srgbClr val="FF0000"/>
                </a:solidFill>
              </a:rPr>
              <a:t>function_name</a:t>
            </a:r>
            <a:r>
              <a:rPr lang="en-US" dirty="0">
                <a:solidFill>
                  <a:srgbClr val="FF0000"/>
                </a:solidFill>
              </a:rPr>
              <a:t>( parameter list );</a:t>
            </a:r>
          </a:p>
          <a:p>
            <a:r>
              <a:rPr lang="en-US" dirty="0"/>
              <a:t>For the above defined function max(), the function declaration is as follows −</a:t>
            </a:r>
          </a:p>
          <a:p>
            <a:pPr marL="0" indent="0" algn="ctr">
              <a:buNone/>
            </a:pPr>
            <a:r>
              <a:rPr lang="en-US" dirty="0" err="1">
                <a:solidFill>
                  <a:srgbClr val="FF0000"/>
                </a:solidFill>
              </a:rPr>
              <a:t>int</a:t>
            </a:r>
            <a:r>
              <a:rPr lang="en-US" dirty="0">
                <a:solidFill>
                  <a:srgbClr val="FF0000"/>
                </a:solidFill>
              </a:rPr>
              <a:t> max(</a:t>
            </a:r>
            <a:r>
              <a:rPr lang="en-US" dirty="0" err="1">
                <a:solidFill>
                  <a:srgbClr val="FF0000"/>
                </a:solidFill>
              </a:rPr>
              <a:t>int</a:t>
            </a:r>
            <a:r>
              <a:rPr lang="en-US" dirty="0">
                <a:solidFill>
                  <a:srgbClr val="FF0000"/>
                </a:solidFill>
              </a:rPr>
              <a:t> num1, </a:t>
            </a:r>
            <a:r>
              <a:rPr lang="en-US" dirty="0" err="1">
                <a:solidFill>
                  <a:srgbClr val="FF0000"/>
                </a:solidFill>
              </a:rPr>
              <a:t>int</a:t>
            </a:r>
            <a:r>
              <a:rPr lang="en-US" dirty="0">
                <a:solidFill>
                  <a:srgbClr val="FF0000"/>
                </a:solidFill>
              </a:rPr>
              <a:t> num2);</a:t>
            </a:r>
          </a:p>
        </p:txBody>
      </p:sp>
    </p:spTree>
    <p:extLst>
      <p:ext uri="{BB962C8B-B14F-4D97-AF65-F5344CB8AC3E}">
        <p14:creationId xmlns:p14="http://schemas.microsoft.com/office/powerpoint/2010/main" val="1391615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B3F349-24FE-4A0C-B4C4-3C2FD9A1E605}"/>
              </a:ext>
            </a:extLst>
          </p:cNvPr>
          <p:cNvSpPr>
            <a:spLocks noGrp="1"/>
          </p:cNvSpPr>
          <p:nvPr>
            <p:ph type="title"/>
          </p:nvPr>
        </p:nvSpPr>
        <p:spPr/>
        <p:txBody>
          <a:bodyPr>
            <a:normAutofit/>
          </a:bodyPr>
          <a:lstStyle/>
          <a:p>
            <a:r>
              <a:rPr lang="en-US" dirty="0"/>
              <a:t>Calling a Function</a:t>
            </a:r>
          </a:p>
        </p:txBody>
      </p:sp>
      <p:sp>
        <p:nvSpPr>
          <p:cNvPr id="3" name="Content Placeholder 2">
            <a:extLst>
              <a:ext uri="{FF2B5EF4-FFF2-40B4-BE49-F238E27FC236}">
                <a16:creationId xmlns:a16="http://schemas.microsoft.com/office/drawing/2014/main" xmlns="" id="{8A00931C-78DD-4C02-9A2F-21D2BDCB5664}"/>
              </a:ext>
            </a:extLst>
          </p:cNvPr>
          <p:cNvSpPr>
            <a:spLocks noGrp="1"/>
          </p:cNvSpPr>
          <p:nvPr>
            <p:ph idx="1"/>
          </p:nvPr>
        </p:nvSpPr>
        <p:spPr/>
        <p:txBody>
          <a:bodyPr/>
          <a:lstStyle/>
          <a:p>
            <a:r>
              <a:rPr lang="en-US" dirty="0"/>
              <a:t>To call a function, you simply need to pass the required parameters along with the function name, and if the function returns a value, then you can store the returned value. For example </a:t>
            </a:r>
          </a:p>
        </p:txBody>
      </p:sp>
    </p:spTree>
    <p:extLst>
      <p:ext uri="{BB962C8B-B14F-4D97-AF65-F5344CB8AC3E}">
        <p14:creationId xmlns:p14="http://schemas.microsoft.com/office/powerpoint/2010/main" val="89642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2C6B60A-95B3-45F5-8E50-751168661F71}"/>
              </a:ext>
            </a:extLst>
          </p:cNvPr>
          <p:cNvSpPr>
            <a:spLocks noGrp="1"/>
          </p:cNvSpPr>
          <p:nvPr>
            <p:ph idx="1"/>
          </p:nvPr>
        </p:nvSpPr>
        <p:spPr>
          <a:xfrm>
            <a:off x="457200" y="260648"/>
            <a:ext cx="8229600" cy="6192688"/>
          </a:xfrm>
        </p:spPr>
        <p:txBody>
          <a:bodyPr numCol="2">
            <a:normAutofit lnSpcReduction="10000"/>
          </a:bodyPr>
          <a:lstStyle/>
          <a:p>
            <a:pPr marL="0" indent="0">
              <a:buNone/>
            </a:pPr>
            <a:r>
              <a:rPr lang="en-US" sz="2800" dirty="0"/>
              <a:t>/* function declaration */</a:t>
            </a:r>
          </a:p>
          <a:p>
            <a:pPr marL="0" indent="0">
              <a:buNone/>
            </a:pPr>
            <a:r>
              <a:rPr lang="en-US" sz="2800" dirty="0" err="1"/>
              <a:t>int</a:t>
            </a:r>
            <a:r>
              <a:rPr lang="en-US" sz="2800" dirty="0"/>
              <a:t> max(</a:t>
            </a:r>
            <a:r>
              <a:rPr lang="en-US" sz="2800" dirty="0" err="1"/>
              <a:t>int</a:t>
            </a:r>
            <a:r>
              <a:rPr lang="en-US" sz="2800" dirty="0"/>
              <a:t> num1, </a:t>
            </a:r>
            <a:r>
              <a:rPr lang="en-US" sz="2800" dirty="0" err="1"/>
              <a:t>int</a:t>
            </a:r>
            <a:r>
              <a:rPr lang="en-US" sz="2800" dirty="0"/>
              <a:t> num2);</a:t>
            </a:r>
          </a:p>
          <a:p>
            <a:pPr marL="0" indent="0">
              <a:buNone/>
            </a:pPr>
            <a:r>
              <a:rPr lang="en-US" sz="2800" dirty="0"/>
              <a:t> </a:t>
            </a:r>
            <a:r>
              <a:rPr lang="en-US" sz="2800" dirty="0" err="1"/>
              <a:t>int</a:t>
            </a:r>
            <a:r>
              <a:rPr lang="en-US" sz="2800" dirty="0"/>
              <a:t> main () {</a:t>
            </a:r>
          </a:p>
          <a:p>
            <a:pPr marL="0" indent="0">
              <a:buNone/>
            </a:pPr>
            <a:r>
              <a:rPr lang="en-US" sz="2800" dirty="0" err="1"/>
              <a:t>int</a:t>
            </a:r>
            <a:r>
              <a:rPr lang="en-US" sz="2800" dirty="0"/>
              <a:t> a = 100;</a:t>
            </a:r>
          </a:p>
          <a:p>
            <a:pPr marL="0" indent="0">
              <a:buNone/>
            </a:pPr>
            <a:r>
              <a:rPr lang="en-US" sz="2800" dirty="0"/>
              <a:t>   </a:t>
            </a:r>
            <a:r>
              <a:rPr lang="en-US" sz="2800" dirty="0" err="1"/>
              <a:t>int</a:t>
            </a:r>
            <a:r>
              <a:rPr lang="en-US" sz="2800" dirty="0"/>
              <a:t> b = 200;</a:t>
            </a:r>
          </a:p>
          <a:p>
            <a:pPr marL="0" indent="0">
              <a:buNone/>
            </a:pPr>
            <a:r>
              <a:rPr lang="en-US" sz="2800" dirty="0"/>
              <a:t>   </a:t>
            </a:r>
            <a:r>
              <a:rPr lang="en-US" sz="2800" dirty="0" err="1"/>
              <a:t>int</a:t>
            </a:r>
            <a:r>
              <a:rPr lang="en-US" sz="2800" dirty="0"/>
              <a:t> ret;</a:t>
            </a:r>
          </a:p>
          <a:p>
            <a:pPr marL="0" indent="0">
              <a:buNone/>
            </a:pPr>
            <a:r>
              <a:rPr lang="en-US" sz="2800" dirty="0"/>
              <a:t>    /* calling a function to get max value */</a:t>
            </a:r>
          </a:p>
          <a:p>
            <a:pPr marL="0" indent="0">
              <a:buNone/>
            </a:pPr>
            <a:r>
              <a:rPr lang="en-US" sz="2800" dirty="0"/>
              <a:t>   </a:t>
            </a:r>
            <a:r>
              <a:rPr lang="en-US" sz="2800" dirty="0">
                <a:solidFill>
                  <a:srgbClr val="FF0000"/>
                </a:solidFill>
              </a:rPr>
              <a:t>ret = max(a, b);</a:t>
            </a:r>
          </a:p>
          <a:p>
            <a:pPr marL="0" indent="0">
              <a:buNone/>
            </a:pPr>
            <a:r>
              <a:rPr lang="en-US" sz="2800" dirty="0"/>
              <a:t>    </a:t>
            </a:r>
            <a:r>
              <a:rPr lang="en-US" sz="2800" dirty="0" err="1"/>
              <a:t>printf</a:t>
            </a:r>
            <a:r>
              <a:rPr lang="en-US" sz="2800" dirty="0"/>
              <a:t>( "Max value is : %d\n", ret );</a:t>
            </a:r>
          </a:p>
          <a:p>
            <a:pPr marL="0" indent="0">
              <a:buNone/>
            </a:pPr>
            <a:r>
              <a:rPr lang="en-US" sz="2800" dirty="0"/>
              <a:t>    return 0; }</a:t>
            </a:r>
          </a:p>
          <a:p>
            <a:pPr marL="0" indent="0">
              <a:buNone/>
            </a:pPr>
            <a:r>
              <a:rPr lang="en-US" sz="2800" dirty="0"/>
              <a:t> /* function returning the max between two numbers */</a:t>
            </a:r>
          </a:p>
          <a:p>
            <a:pPr marL="0" indent="0">
              <a:buNone/>
            </a:pPr>
            <a:r>
              <a:rPr lang="en-US" sz="2800" dirty="0" err="1"/>
              <a:t>int</a:t>
            </a:r>
            <a:r>
              <a:rPr lang="en-US" sz="2800" dirty="0"/>
              <a:t> max(</a:t>
            </a:r>
            <a:r>
              <a:rPr lang="en-US" sz="2800" dirty="0" err="1"/>
              <a:t>int</a:t>
            </a:r>
            <a:r>
              <a:rPr lang="en-US" sz="2800" dirty="0"/>
              <a:t> num1, </a:t>
            </a:r>
            <a:r>
              <a:rPr lang="en-US" sz="2800" dirty="0" err="1"/>
              <a:t>int</a:t>
            </a:r>
            <a:r>
              <a:rPr lang="en-US" sz="2800" dirty="0"/>
              <a:t> num2) {</a:t>
            </a:r>
          </a:p>
          <a:p>
            <a:pPr marL="0" indent="0">
              <a:buNone/>
            </a:pPr>
            <a:r>
              <a:rPr lang="en-US" sz="2800" dirty="0"/>
              <a:t>   /* local variable declaration */</a:t>
            </a:r>
          </a:p>
          <a:p>
            <a:pPr marL="0" indent="0">
              <a:buNone/>
            </a:pPr>
            <a:r>
              <a:rPr lang="en-US" sz="2800" dirty="0"/>
              <a:t>   </a:t>
            </a:r>
            <a:r>
              <a:rPr lang="en-US" sz="2800" dirty="0" err="1"/>
              <a:t>int</a:t>
            </a:r>
            <a:r>
              <a:rPr lang="en-US" sz="2800" dirty="0"/>
              <a:t> result;</a:t>
            </a:r>
          </a:p>
          <a:p>
            <a:pPr marL="0" indent="0">
              <a:buNone/>
            </a:pPr>
            <a:r>
              <a:rPr lang="en-US" sz="2800" dirty="0"/>
              <a:t>    if (num1 &gt; num2)</a:t>
            </a:r>
          </a:p>
          <a:p>
            <a:pPr marL="0" indent="0">
              <a:buNone/>
            </a:pPr>
            <a:r>
              <a:rPr lang="en-US" sz="2800" dirty="0"/>
              <a:t>      result = num1;</a:t>
            </a:r>
          </a:p>
          <a:p>
            <a:pPr marL="0" indent="0">
              <a:buNone/>
            </a:pPr>
            <a:r>
              <a:rPr lang="en-US" sz="2800" dirty="0"/>
              <a:t>   else</a:t>
            </a:r>
          </a:p>
          <a:p>
            <a:pPr marL="0" indent="0">
              <a:buNone/>
            </a:pPr>
            <a:r>
              <a:rPr lang="en-US" sz="2800" dirty="0"/>
              <a:t>      result = num2;</a:t>
            </a:r>
          </a:p>
          <a:p>
            <a:pPr marL="0" indent="0">
              <a:buNone/>
            </a:pPr>
            <a:r>
              <a:rPr lang="en-US" sz="2800" dirty="0"/>
              <a:t>    return result; }</a:t>
            </a:r>
          </a:p>
        </p:txBody>
      </p:sp>
    </p:spTree>
    <p:extLst>
      <p:ext uri="{BB962C8B-B14F-4D97-AF65-F5344CB8AC3E}">
        <p14:creationId xmlns:p14="http://schemas.microsoft.com/office/powerpoint/2010/main" val="68536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1702CF-ACD3-4A3C-B63A-27EEA75A9A8C}"/>
              </a:ext>
            </a:extLst>
          </p:cNvPr>
          <p:cNvSpPr>
            <a:spLocks noGrp="1"/>
          </p:cNvSpPr>
          <p:nvPr>
            <p:ph type="title"/>
          </p:nvPr>
        </p:nvSpPr>
        <p:spPr/>
        <p:txBody>
          <a:bodyPr/>
          <a:lstStyle/>
          <a:p>
            <a:r>
              <a:rPr lang="en-US" dirty="0"/>
              <a:t>Practice Problems</a:t>
            </a:r>
          </a:p>
        </p:txBody>
      </p:sp>
      <p:sp>
        <p:nvSpPr>
          <p:cNvPr id="3" name="Content Placeholder 2">
            <a:extLst>
              <a:ext uri="{FF2B5EF4-FFF2-40B4-BE49-F238E27FC236}">
                <a16:creationId xmlns:a16="http://schemas.microsoft.com/office/drawing/2014/main" xmlns="" id="{21AE70B4-C185-4599-94B9-C4A754A1DB64}"/>
              </a:ext>
            </a:extLst>
          </p:cNvPr>
          <p:cNvSpPr>
            <a:spLocks noGrp="1"/>
          </p:cNvSpPr>
          <p:nvPr>
            <p:ph idx="1"/>
          </p:nvPr>
        </p:nvSpPr>
        <p:spPr/>
        <p:txBody>
          <a:bodyPr/>
          <a:lstStyle/>
          <a:p>
            <a:r>
              <a:rPr lang="en-US" dirty="0"/>
              <a:t>Calculator Application</a:t>
            </a:r>
          </a:p>
          <a:p>
            <a:pPr lvl="1"/>
            <a:r>
              <a:rPr lang="en-US" dirty="0"/>
              <a:t>4 functions </a:t>
            </a:r>
          </a:p>
          <a:p>
            <a:pPr lvl="1"/>
            <a:r>
              <a:rPr lang="en-US" dirty="0"/>
              <a:t>Switch statement with options for what operation needs to be done</a:t>
            </a:r>
          </a:p>
        </p:txBody>
      </p:sp>
    </p:spTree>
    <p:extLst>
      <p:ext uri="{BB962C8B-B14F-4D97-AF65-F5344CB8AC3E}">
        <p14:creationId xmlns:p14="http://schemas.microsoft.com/office/powerpoint/2010/main" val="181107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03200"/>
            <a:ext cx="8229600" cy="725470"/>
          </a:xfrm>
        </p:spPr>
        <p:txBody>
          <a:bodyPr>
            <a:normAutofit fontScale="90000"/>
          </a:bodyPr>
          <a:lstStyle/>
          <a:p>
            <a:r>
              <a:rPr lang="en-GB" dirty="0"/>
              <a:t>Passing Arguments</a:t>
            </a:r>
          </a:p>
        </p:txBody>
      </p:sp>
      <p:sp>
        <p:nvSpPr>
          <p:cNvPr id="3" name="Content Placeholder 2"/>
          <p:cNvSpPr>
            <a:spLocks noGrp="1"/>
          </p:cNvSpPr>
          <p:nvPr>
            <p:ph idx="1"/>
          </p:nvPr>
        </p:nvSpPr>
        <p:spPr>
          <a:xfrm>
            <a:off x="457200" y="1071546"/>
            <a:ext cx="8229600" cy="5357850"/>
          </a:xfrm>
        </p:spPr>
        <p:txBody>
          <a:bodyPr>
            <a:normAutofit/>
          </a:bodyPr>
          <a:lstStyle/>
          <a:p>
            <a:r>
              <a:rPr lang="en-US" dirty="0"/>
              <a:t>Call by value</a:t>
            </a:r>
          </a:p>
          <a:p>
            <a:pPr lvl="1"/>
            <a:r>
              <a:rPr lang="en-US" dirty="0"/>
              <a:t>Copy of argument passed to function</a:t>
            </a:r>
          </a:p>
          <a:p>
            <a:pPr lvl="1"/>
            <a:r>
              <a:rPr lang="en-US" dirty="0"/>
              <a:t>Changes in function do not effect original</a:t>
            </a:r>
          </a:p>
          <a:p>
            <a:pPr lvl="1"/>
            <a:r>
              <a:rPr lang="en-US" dirty="0"/>
              <a:t>Use when function does not need to modify argument</a:t>
            </a:r>
          </a:p>
          <a:p>
            <a:pPr lvl="2"/>
            <a:r>
              <a:rPr lang="en-US" dirty="0"/>
              <a:t>Avoids accidental changes</a:t>
            </a:r>
          </a:p>
          <a:p>
            <a:r>
              <a:rPr lang="en-US" dirty="0"/>
              <a:t>Call by reference </a:t>
            </a:r>
          </a:p>
          <a:p>
            <a:pPr lvl="1"/>
            <a:r>
              <a:rPr lang="en-US" dirty="0"/>
              <a:t>Passes original argument</a:t>
            </a:r>
          </a:p>
          <a:p>
            <a:pPr lvl="1"/>
            <a:r>
              <a:rPr lang="en-US" dirty="0"/>
              <a:t>Changes in function effect original</a:t>
            </a:r>
          </a:p>
          <a:p>
            <a:pPr lvl="1"/>
            <a:r>
              <a:rPr lang="en-US" dirty="0"/>
              <a:t>Only used with trusted functions</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08C68E-3030-422A-81F4-7CD8E355A366}"/>
              </a:ext>
            </a:extLst>
          </p:cNvPr>
          <p:cNvSpPr>
            <a:spLocks noGrp="1"/>
          </p:cNvSpPr>
          <p:nvPr>
            <p:ph type="title"/>
          </p:nvPr>
        </p:nvSpPr>
        <p:spPr/>
        <p:txBody>
          <a:bodyPr/>
          <a:lstStyle/>
          <a:p>
            <a:r>
              <a:rPr lang="en-US" dirty="0"/>
              <a:t>Pass by Value</a:t>
            </a:r>
          </a:p>
        </p:txBody>
      </p:sp>
      <p:sp>
        <p:nvSpPr>
          <p:cNvPr id="3" name="Content Placeholder 2">
            <a:extLst>
              <a:ext uri="{FF2B5EF4-FFF2-40B4-BE49-F238E27FC236}">
                <a16:creationId xmlns:a16="http://schemas.microsoft.com/office/drawing/2014/main" xmlns="" id="{E0CA215A-D5E9-4AD9-A3B7-C7F6CDC2F60B}"/>
              </a:ext>
            </a:extLst>
          </p:cNvPr>
          <p:cNvSpPr>
            <a:spLocks noGrp="1"/>
          </p:cNvSpPr>
          <p:nvPr>
            <p:ph idx="1"/>
          </p:nvPr>
        </p:nvSpPr>
        <p:spPr/>
        <p:txBody>
          <a:bodyPr>
            <a:normAutofit fontScale="92500" lnSpcReduction="10000"/>
          </a:bodyPr>
          <a:lstStyle/>
          <a:p>
            <a:r>
              <a:rPr lang="en-US" dirty="0"/>
              <a:t>The </a:t>
            </a:r>
            <a:r>
              <a:rPr lang="en-US" b="1" dirty="0"/>
              <a:t>call by value</a:t>
            </a:r>
            <a:r>
              <a:rPr lang="en-US" dirty="0"/>
              <a:t> method of passing arguments to a function copies the actual value of an argument into the formal parameter of the function. In this case, changes made to the parameter inside the function have no effect on the argument.</a:t>
            </a:r>
          </a:p>
          <a:p>
            <a:r>
              <a:rPr lang="en-US" dirty="0"/>
              <a:t>By default, C programming uses </a:t>
            </a:r>
            <a:r>
              <a:rPr lang="en-US" i="1" dirty="0"/>
              <a:t>call by value</a:t>
            </a:r>
            <a:r>
              <a:rPr lang="en-US" dirty="0"/>
              <a:t> to pass arguments. In general, it means the code within a function cannot alter the arguments used to call the function. Consider the function </a:t>
            </a:r>
            <a:r>
              <a:rPr lang="en-US" b="1" dirty="0"/>
              <a:t>swap()</a:t>
            </a:r>
            <a:r>
              <a:rPr lang="en-US" dirty="0"/>
              <a:t> definition as follows.</a:t>
            </a:r>
          </a:p>
          <a:p>
            <a:endParaRPr lang="en-US" dirty="0"/>
          </a:p>
        </p:txBody>
      </p:sp>
    </p:spTree>
    <p:extLst>
      <p:ext uri="{BB962C8B-B14F-4D97-AF65-F5344CB8AC3E}">
        <p14:creationId xmlns:p14="http://schemas.microsoft.com/office/powerpoint/2010/main" val="9860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2DCD60-A6FA-4C32-AA00-A9AF6650AE0C}"/>
              </a:ext>
            </a:extLst>
          </p:cNvPr>
          <p:cNvSpPr>
            <a:spLocks noGrp="1"/>
          </p:cNvSpPr>
          <p:nvPr>
            <p:ph type="title"/>
          </p:nvPr>
        </p:nvSpPr>
        <p:spPr/>
        <p:txBody>
          <a:bodyPr/>
          <a:lstStyle/>
          <a:p>
            <a:r>
              <a:rPr lang="en-US" dirty="0"/>
              <a:t>Swapping using Call by value</a:t>
            </a:r>
          </a:p>
        </p:txBody>
      </p:sp>
      <p:sp>
        <p:nvSpPr>
          <p:cNvPr id="3" name="Content Placeholder 2">
            <a:extLst>
              <a:ext uri="{FF2B5EF4-FFF2-40B4-BE49-F238E27FC236}">
                <a16:creationId xmlns:a16="http://schemas.microsoft.com/office/drawing/2014/main" xmlns="" id="{C9A53966-E306-45F2-8FE6-06BF97C60ECE}"/>
              </a:ext>
            </a:extLst>
          </p:cNvPr>
          <p:cNvSpPr>
            <a:spLocks noGrp="1"/>
          </p:cNvSpPr>
          <p:nvPr>
            <p:ph idx="1"/>
          </p:nvPr>
        </p:nvSpPr>
        <p:spPr>
          <a:xfrm>
            <a:off x="457200" y="1196752"/>
            <a:ext cx="4114800" cy="5544616"/>
          </a:xfrm>
        </p:spPr>
        <p:txBody>
          <a:bodyPr>
            <a:normAutofit/>
          </a:bodyPr>
          <a:lstStyle/>
          <a:p>
            <a:pPr marL="0" indent="0">
              <a:buNone/>
            </a:pPr>
            <a:r>
              <a:rPr lang="en-US" sz="1800" dirty="0"/>
              <a:t>void swap(</a:t>
            </a:r>
            <a:r>
              <a:rPr lang="en-US" sz="1800" dirty="0" err="1"/>
              <a:t>int</a:t>
            </a:r>
            <a:r>
              <a:rPr lang="en-US" sz="1800" dirty="0"/>
              <a:t> x, </a:t>
            </a:r>
            <a:r>
              <a:rPr lang="en-US" sz="1800" dirty="0" err="1"/>
              <a:t>int</a:t>
            </a:r>
            <a:r>
              <a:rPr lang="en-US" sz="1800" dirty="0"/>
              <a:t> y);</a:t>
            </a:r>
          </a:p>
          <a:p>
            <a:pPr marL="0" indent="0">
              <a:buNone/>
            </a:pPr>
            <a:r>
              <a:rPr lang="en-US" sz="1800" dirty="0" err="1"/>
              <a:t>int</a:t>
            </a:r>
            <a:r>
              <a:rPr lang="en-US" sz="1800" dirty="0"/>
              <a:t> main () {</a:t>
            </a:r>
          </a:p>
          <a:p>
            <a:pPr marL="0" indent="0">
              <a:buNone/>
            </a:pPr>
            <a:r>
              <a:rPr lang="en-US" sz="1800" dirty="0" err="1"/>
              <a:t>int</a:t>
            </a:r>
            <a:r>
              <a:rPr lang="en-US" sz="1800" dirty="0"/>
              <a:t> a = 100;</a:t>
            </a:r>
          </a:p>
          <a:p>
            <a:pPr marL="0" indent="0">
              <a:buNone/>
            </a:pPr>
            <a:r>
              <a:rPr lang="en-US" sz="1800" dirty="0"/>
              <a:t>   </a:t>
            </a:r>
            <a:r>
              <a:rPr lang="en-US" sz="1800" dirty="0" err="1"/>
              <a:t>int</a:t>
            </a:r>
            <a:r>
              <a:rPr lang="en-US" sz="1800" dirty="0"/>
              <a:t> b = 200;</a:t>
            </a:r>
          </a:p>
          <a:p>
            <a:pPr marL="0" indent="0">
              <a:buNone/>
            </a:pPr>
            <a:r>
              <a:rPr lang="en-US" sz="1800" dirty="0"/>
              <a:t>   </a:t>
            </a:r>
            <a:r>
              <a:rPr lang="en-US" sz="1800" dirty="0" err="1"/>
              <a:t>printf</a:t>
            </a:r>
            <a:r>
              <a:rPr lang="en-US" sz="1800" dirty="0"/>
              <a:t>("Before swap, value of a : %d\n", a );</a:t>
            </a:r>
          </a:p>
          <a:p>
            <a:pPr marL="0" indent="0">
              <a:buNone/>
            </a:pPr>
            <a:r>
              <a:rPr lang="en-US" sz="1800" dirty="0"/>
              <a:t>   </a:t>
            </a:r>
            <a:r>
              <a:rPr lang="en-US" sz="1800" dirty="0" err="1"/>
              <a:t>printf</a:t>
            </a:r>
            <a:r>
              <a:rPr lang="en-US" sz="1800" dirty="0"/>
              <a:t>("Before swap, value of b : %d\n", b );</a:t>
            </a:r>
          </a:p>
          <a:p>
            <a:pPr marL="0" indent="0">
              <a:buNone/>
            </a:pPr>
            <a:r>
              <a:rPr lang="en-US" sz="1800" dirty="0"/>
              <a:t>   /* calling a function to swap the values */</a:t>
            </a:r>
          </a:p>
          <a:p>
            <a:pPr marL="0" indent="0">
              <a:buNone/>
            </a:pPr>
            <a:r>
              <a:rPr lang="en-US" sz="1800" dirty="0"/>
              <a:t>   swap(a, b);</a:t>
            </a:r>
          </a:p>
          <a:p>
            <a:pPr marL="0" indent="0">
              <a:buNone/>
            </a:pPr>
            <a:r>
              <a:rPr lang="en-US" sz="1800" dirty="0"/>
              <a:t>   </a:t>
            </a:r>
            <a:r>
              <a:rPr lang="en-US" sz="1800" dirty="0" err="1"/>
              <a:t>printf</a:t>
            </a:r>
            <a:r>
              <a:rPr lang="en-US" sz="1800" dirty="0"/>
              <a:t>("After swap, value of a : %d\n", a );</a:t>
            </a:r>
          </a:p>
          <a:p>
            <a:pPr marL="0" indent="0">
              <a:buNone/>
            </a:pPr>
            <a:r>
              <a:rPr lang="en-US" sz="1800" dirty="0"/>
              <a:t>   </a:t>
            </a:r>
            <a:r>
              <a:rPr lang="en-US" sz="1800" dirty="0" err="1"/>
              <a:t>printf</a:t>
            </a:r>
            <a:r>
              <a:rPr lang="en-US" sz="1800" dirty="0"/>
              <a:t>("After swap, value of b : %d\n", b );</a:t>
            </a:r>
          </a:p>
          <a:p>
            <a:pPr marL="0" indent="0">
              <a:buNone/>
            </a:pPr>
            <a:r>
              <a:rPr lang="en-US" sz="1800" dirty="0"/>
              <a:t>   return 0;}</a:t>
            </a:r>
          </a:p>
        </p:txBody>
      </p:sp>
      <p:sp>
        <p:nvSpPr>
          <p:cNvPr id="10" name="Content Placeholder 2">
            <a:extLst>
              <a:ext uri="{FF2B5EF4-FFF2-40B4-BE49-F238E27FC236}">
                <a16:creationId xmlns:a16="http://schemas.microsoft.com/office/drawing/2014/main" xmlns="" id="{C67A941B-23A9-4108-A32B-68F4F7F4173B}"/>
              </a:ext>
            </a:extLst>
          </p:cNvPr>
          <p:cNvSpPr txBox="1">
            <a:spLocks/>
          </p:cNvSpPr>
          <p:nvPr/>
        </p:nvSpPr>
        <p:spPr>
          <a:xfrm>
            <a:off x="4553635" y="1600199"/>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dirty="0"/>
          </a:p>
        </p:txBody>
      </p:sp>
      <p:sp>
        <p:nvSpPr>
          <p:cNvPr id="13" name="Rectangle 12">
            <a:extLst>
              <a:ext uri="{FF2B5EF4-FFF2-40B4-BE49-F238E27FC236}">
                <a16:creationId xmlns:a16="http://schemas.microsoft.com/office/drawing/2014/main" xmlns="" id="{E0D00355-4967-41E0-B04C-6D5A49FC1AB1}"/>
              </a:ext>
            </a:extLst>
          </p:cNvPr>
          <p:cNvSpPr/>
          <p:nvPr/>
        </p:nvSpPr>
        <p:spPr>
          <a:xfrm>
            <a:off x="4913730" y="1588087"/>
            <a:ext cx="4114800" cy="3170099"/>
          </a:xfrm>
          <a:prstGeom prst="rect">
            <a:avLst/>
          </a:prstGeom>
        </p:spPr>
        <p:txBody>
          <a:bodyPr wrap="square">
            <a:spAutoFit/>
          </a:bodyPr>
          <a:lstStyle/>
          <a:p>
            <a:r>
              <a:rPr lang="en-US" sz="2000" dirty="0"/>
              <a:t>void swap(</a:t>
            </a:r>
            <a:r>
              <a:rPr lang="en-US" sz="2000" dirty="0" err="1"/>
              <a:t>int</a:t>
            </a:r>
            <a:r>
              <a:rPr lang="en-US" sz="2000" dirty="0"/>
              <a:t> x, </a:t>
            </a:r>
            <a:r>
              <a:rPr lang="en-US" sz="2000" dirty="0" err="1"/>
              <a:t>int</a:t>
            </a:r>
            <a:r>
              <a:rPr lang="en-US" sz="2000" dirty="0"/>
              <a:t> y) {</a:t>
            </a:r>
          </a:p>
          <a:p>
            <a:endParaRPr lang="en-US" sz="2000" dirty="0"/>
          </a:p>
          <a:p>
            <a:r>
              <a:rPr lang="en-US" sz="2000" dirty="0"/>
              <a:t>   </a:t>
            </a:r>
            <a:r>
              <a:rPr lang="en-US" sz="2000" dirty="0" err="1"/>
              <a:t>int</a:t>
            </a:r>
            <a:r>
              <a:rPr lang="en-US" sz="2000" dirty="0"/>
              <a:t> temp;</a:t>
            </a:r>
          </a:p>
          <a:p>
            <a:endParaRPr lang="en-US" sz="2000" dirty="0"/>
          </a:p>
          <a:p>
            <a:r>
              <a:rPr lang="en-US" sz="2000" dirty="0"/>
              <a:t>   temp = x; /* save the value of x */</a:t>
            </a:r>
          </a:p>
          <a:p>
            <a:r>
              <a:rPr lang="en-US" sz="2000" dirty="0"/>
              <a:t>   x = y;    /* put y into x */</a:t>
            </a:r>
          </a:p>
          <a:p>
            <a:r>
              <a:rPr lang="en-US" sz="2000" dirty="0"/>
              <a:t>   y = temp; /* put temp into y */</a:t>
            </a:r>
          </a:p>
          <a:p>
            <a:r>
              <a:rPr lang="en-US" sz="2000" dirty="0"/>
              <a:t>  </a:t>
            </a:r>
          </a:p>
          <a:p>
            <a:r>
              <a:rPr lang="en-US" sz="2000" dirty="0"/>
              <a:t>   return;</a:t>
            </a:r>
          </a:p>
          <a:p>
            <a:r>
              <a:rPr lang="en-US" sz="2000" dirty="0"/>
              <a:t>}</a:t>
            </a:r>
          </a:p>
        </p:txBody>
      </p:sp>
    </p:spTree>
    <p:extLst>
      <p:ext uri="{BB962C8B-B14F-4D97-AF65-F5344CB8AC3E}">
        <p14:creationId xmlns:p14="http://schemas.microsoft.com/office/powerpoint/2010/main" val="3494562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D2F346-7622-467F-8242-678D16306BBB}"/>
              </a:ext>
            </a:extLst>
          </p:cNvPr>
          <p:cNvSpPr>
            <a:spLocks noGrp="1"/>
          </p:cNvSpPr>
          <p:nvPr>
            <p:ph type="title"/>
          </p:nvPr>
        </p:nvSpPr>
        <p:spPr/>
        <p:txBody>
          <a:bodyPr/>
          <a:lstStyle/>
          <a:p>
            <a:r>
              <a:rPr lang="en-US" dirty="0"/>
              <a:t>Call by Reference</a:t>
            </a:r>
          </a:p>
        </p:txBody>
      </p:sp>
      <p:sp>
        <p:nvSpPr>
          <p:cNvPr id="3" name="Content Placeholder 2">
            <a:extLst>
              <a:ext uri="{FF2B5EF4-FFF2-40B4-BE49-F238E27FC236}">
                <a16:creationId xmlns:a16="http://schemas.microsoft.com/office/drawing/2014/main" xmlns="" id="{3D5303FC-682A-425F-8A3D-03E8FAED448F}"/>
              </a:ext>
            </a:extLst>
          </p:cNvPr>
          <p:cNvSpPr>
            <a:spLocks noGrp="1"/>
          </p:cNvSpPr>
          <p:nvPr>
            <p:ph idx="1"/>
          </p:nvPr>
        </p:nvSpPr>
        <p:spPr>
          <a:xfrm>
            <a:off x="457200" y="1268760"/>
            <a:ext cx="8229600" cy="4857403"/>
          </a:xfrm>
        </p:spPr>
        <p:txBody>
          <a:bodyPr>
            <a:normAutofit fontScale="85000" lnSpcReduction="20000"/>
          </a:bodyPr>
          <a:lstStyle/>
          <a:p>
            <a:pPr algn="just"/>
            <a:r>
              <a:rPr lang="en-US" dirty="0"/>
              <a:t>The </a:t>
            </a:r>
            <a:r>
              <a:rPr lang="en-US" b="1" dirty="0"/>
              <a:t>call by reference</a:t>
            </a:r>
            <a:r>
              <a:rPr lang="en-US" dirty="0"/>
              <a:t> method of passing arguments to a function copies the address of an argument into the formal parameter. </a:t>
            </a:r>
          </a:p>
          <a:p>
            <a:pPr algn="just"/>
            <a:r>
              <a:rPr lang="en-US" dirty="0"/>
              <a:t>Inside the function, the address is used to access the actual argument used in the call. </a:t>
            </a:r>
          </a:p>
          <a:p>
            <a:pPr algn="just"/>
            <a:r>
              <a:rPr lang="en-US" dirty="0"/>
              <a:t>It means the changes made to the parameter affect the passed argument.</a:t>
            </a:r>
          </a:p>
          <a:p>
            <a:pPr algn="just"/>
            <a:r>
              <a:rPr lang="en-US" dirty="0"/>
              <a:t>To pass a value by reference, argument pointers are passed to the functions just like any other value. So accordingly you need to declare the function parameters as pointer types as in the following function </a:t>
            </a:r>
            <a:r>
              <a:rPr lang="en-US" b="1" dirty="0"/>
              <a:t>swap()</a:t>
            </a:r>
            <a:r>
              <a:rPr lang="en-US" dirty="0"/>
              <a:t>, which exchanges the values of the two integer variables pointed to, by their arguments.</a:t>
            </a:r>
          </a:p>
        </p:txBody>
      </p:sp>
    </p:spTree>
    <p:extLst>
      <p:ext uri="{BB962C8B-B14F-4D97-AF65-F5344CB8AC3E}">
        <p14:creationId xmlns:p14="http://schemas.microsoft.com/office/powerpoint/2010/main" val="230709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2DCD60-A6FA-4C32-AA00-A9AF6650AE0C}"/>
              </a:ext>
            </a:extLst>
          </p:cNvPr>
          <p:cNvSpPr>
            <a:spLocks noGrp="1"/>
          </p:cNvSpPr>
          <p:nvPr>
            <p:ph type="title"/>
          </p:nvPr>
        </p:nvSpPr>
        <p:spPr/>
        <p:txBody>
          <a:bodyPr/>
          <a:lstStyle/>
          <a:p>
            <a:r>
              <a:rPr lang="en-US" dirty="0"/>
              <a:t>Swapping using Call by Reference</a:t>
            </a:r>
          </a:p>
        </p:txBody>
      </p:sp>
      <p:sp>
        <p:nvSpPr>
          <p:cNvPr id="3" name="Content Placeholder 2">
            <a:extLst>
              <a:ext uri="{FF2B5EF4-FFF2-40B4-BE49-F238E27FC236}">
                <a16:creationId xmlns:a16="http://schemas.microsoft.com/office/drawing/2014/main" xmlns="" id="{C9A53966-E306-45F2-8FE6-06BF97C60ECE}"/>
              </a:ext>
            </a:extLst>
          </p:cNvPr>
          <p:cNvSpPr>
            <a:spLocks noGrp="1"/>
          </p:cNvSpPr>
          <p:nvPr>
            <p:ph idx="1"/>
          </p:nvPr>
        </p:nvSpPr>
        <p:spPr>
          <a:xfrm>
            <a:off x="457200" y="1196752"/>
            <a:ext cx="4114800" cy="5544616"/>
          </a:xfrm>
        </p:spPr>
        <p:txBody>
          <a:bodyPr>
            <a:normAutofit fontScale="92500"/>
          </a:bodyPr>
          <a:lstStyle/>
          <a:p>
            <a:pPr marL="0" indent="0">
              <a:buNone/>
            </a:pPr>
            <a:r>
              <a:rPr lang="en-US" sz="1800" dirty="0"/>
              <a:t>void swap(</a:t>
            </a:r>
            <a:r>
              <a:rPr lang="en-US" sz="1800" dirty="0" err="1"/>
              <a:t>int</a:t>
            </a:r>
            <a:r>
              <a:rPr lang="en-US" sz="1800" dirty="0"/>
              <a:t> *x, </a:t>
            </a:r>
            <a:r>
              <a:rPr lang="en-US" sz="1800" dirty="0" err="1"/>
              <a:t>int</a:t>
            </a:r>
            <a:r>
              <a:rPr lang="en-US" sz="1800" dirty="0"/>
              <a:t> *y);</a:t>
            </a:r>
          </a:p>
          <a:p>
            <a:pPr marL="0" indent="0">
              <a:buNone/>
            </a:pPr>
            <a:r>
              <a:rPr lang="en-US" sz="1800" dirty="0" err="1"/>
              <a:t>int</a:t>
            </a:r>
            <a:r>
              <a:rPr lang="en-US" sz="1800" dirty="0"/>
              <a:t> main () {</a:t>
            </a:r>
          </a:p>
          <a:p>
            <a:pPr marL="0" indent="0">
              <a:buNone/>
            </a:pPr>
            <a:r>
              <a:rPr lang="en-US" sz="1800" dirty="0" err="1"/>
              <a:t>int</a:t>
            </a:r>
            <a:r>
              <a:rPr lang="en-US" sz="1800" dirty="0"/>
              <a:t> a = 100;</a:t>
            </a:r>
          </a:p>
          <a:p>
            <a:pPr marL="0" indent="0">
              <a:buNone/>
            </a:pPr>
            <a:r>
              <a:rPr lang="en-US" sz="1800" dirty="0"/>
              <a:t>   </a:t>
            </a:r>
            <a:r>
              <a:rPr lang="en-US" sz="1800" dirty="0" err="1"/>
              <a:t>int</a:t>
            </a:r>
            <a:r>
              <a:rPr lang="en-US" sz="1800" dirty="0"/>
              <a:t> b = 200;</a:t>
            </a:r>
          </a:p>
          <a:p>
            <a:pPr marL="0" indent="0">
              <a:buNone/>
            </a:pPr>
            <a:r>
              <a:rPr lang="en-US" sz="1800" dirty="0"/>
              <a:t>   </a:t>
            </a:r>
            <a:r>
              <a:rPr lang="en-US" sz="1800" dirty="0" err="1"/>
              <a:t>printf</a:t>
            </a:r>
            <a:r>
              <a:rPr lang="en-US" sz="1800" dirty="0"/>
              <a:t>("Before swap, value of a : %d\n", a );</a:t>
            </a:r>
          </a:p>
          <a:p>
            <a:pPr marL="0" indent="0">
              <a:buNone/>
            </a:pPr>
            <a:r>
              <a:rPr lang="en-US" sz="1800" dirty="0"/>
              <a:t>   </a:t>
            </a:r>
            <a:r>
              <a:rPr lang="en-US" sz="1800" dirty="0" err="1"/>
              <a:t>printf</a:t>
            </a:r>
            <a:r>
              <a:rPr lang="en-US" sz="1800" dirty="0"/>
              <a:t>("Before swap, value of b : %d\n", b );</a:t>
            </a:r>
          </a:p>
          <a:p>
            <a:pPr marL="0" indent="0">
              <a:buNone/>
            </a:pPr>
            <a:r>
              <a:rPr lang="en-US" sz="1800" dirty="0"/>
              <a:t>   /* calling a function to swap the values.</a:t>
            </a:r>
          </a:p>
          <a:p>
            <a:pPr marL="0" indent="0">
              <a:buNone/>
            </a:pPr>
            <a:r>
              <a:rPr lang="en-US" sz="1800" dirty="0"/>
              <a:t>      * &amp;a indicates pointer to a </a:t>
            </a:r>
            <a:r>
              <a:rPr lang="en-US" sz="1800" dirty="0" err="1"/>
              <a:t>ie</a:t>
            </a:r>
            <a:r>
              <a:rPr lang="en-US" sz="1800" dirty="0"/>
              <a:t>. address of variable a and </a:t>
            </a:r>
          </a:p>
          <a:p>
            <a:pPr marL="0" indent="0">
              <a:buNone/>
            </a:pPr>
            <a:r>
              <a:rPr lang="en-US" sz="1800" dirty="0"/>
              <a:t>      * &amp;b indicates pointer to b </a:t>
            </a:r>
            <a:r>
              <a:rPr lang="en-US" sz="1800" dirty="0" err="1"/>
              <a:t>ie</a:t>
            </a:r>
            <a:r>
              <a:rPr lang="en-US" sz="1800" dirty="0"/>
              <a:t>. address of variable b.</a:t>
            </a:r>
          </a:p>
          <a:p>
            <a:pPr marL="0" indent="0">
              <a:buNone/>
            </a:pPr>
            <a:r>
              <a:rPr lang="en-US" sz="1800" dirty="0"/>
              <a:t>   */</a:t>
            </a:r>
          </a:p>
          <a:p>
            <a:pPr marL="0" indent="0">
              <a:buNone/>
            </a:pPr>
            <a:r>
              <a:rPr lang="en-US" sz="1800" dirty="0"/>
              <a:t>   swap(&amp;a, &amp;b);</a:t>
            </a:r>
          </a:p>
          <a:p>
            <a:pPr marL="0" indent="0">
              <a:buNone/>
            </a:pPr>
            <a:r>
              <a:rPr lang="en-US" sz="1800" dirty="0"/>
              <a:t>   </a:t>
            </a:r>
            <a:r>
              <a:rPr lang="en-US" sz="1800" dirty="0" err="1"/>
              <a:t>printf</a:t>
            </a:r>
            <a:r>
              <a:rPr lang="en-US" sz="1800" dirty="0"/>
              <a:t>("After swap, value of a : %d\n", a );</a:t>
            </a:r>
          </a:p>
          <a:p>
            <a:pPr marL="0" indent="0">
              <a:buNone/>
            </a:pPr>
            <a:r>
              <a:rPr lang="en-US" sz="1800" dirty="0"/>
              <a:t>   </a:t>
            </a:r>
            <a:r>
              <a:rPr lang="en-US" sz="1800" dirty="0" err="1"/>
              <a:t>printf</a:t>
            </a:r>
            <a:r>
              <a:rPr lang="en-US" sz="1800" dirty="0"/>
              <a:t>("After swap, value of b : %d\n", b );</a:t>
            </a:r>
          </a:p>
          <a:p>
            <a:pPr marL="0" indent="0">
              <a:buNone/>
            </a:pPr>
            <a:r>
              <a:rPr lang="en-US" sz="1800" dirty="0"/>
              <a:t>   return 0;</a:t>
            </a:r>
          </a:p>
          <a:p>
            <a:pPr marL="0" indent="0">
              <a:buNone/>
            </a:pPr>
            <a:r>
              <a:rPr lang="en-US" sz="1800" dirty="0"/>
              <a:t>}</a:t>
            </a:r>
          </a:p>
        </p:txBody>
      </p:sp>
      <p:sp>
        <p:nvSpPr>
          <p:cNvPr id="10" name="Content Placeholder 2">
            <a:extLst>
              <a:ext uri="{FF2B5EF4-FFF2-40B4-BE49-F238E27FC236}">
                <a16:creationId xmlns:a16="http://schemas.microsoft.com/office/drawing/2014/main" xmlns="" id="{C67A941B-23A9-4108-A32B-68F4F7F4173B}"/>
              </a:ext>
            </a:extLst>
          </p:cNvPr>
          <p:cNvSpPr txBox="1">
            <a:spLocks/>
          </p:cNvSpPr>
          <p:nvPr/>
        </p:nvSpPr>
        <p:spPr>
          <a:xfrm>
            <a:off x="4553635" y="1600199"/>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dirty="0"/>
          </a:p>
        </p:txBody>
      </p:sp>
      <p:sp>
        <p:nvSpPr>
          <p:cNvPr id="13" name="Rectangle 12">
            <a:extLst>
              <a:ext uri="{FF2B5EF4-FFF2-40B4-BE49-F238E27FC236}">
                <a16:creationId xmlns:a16="http://schemas.microsoft.com/office/drawing/2014/main" xmlns="" id="{E0D00355-4967-41E0-B04C-6D5A49FC1AB1}"/>
              </a:ext>
            </a:extLst>
          </p:cNvPr>
          <p:cNvSpPr/>
          <p:nvPr/>
        </p:nvSpPr>
        <p:spPr>
          <a:xfrm>
            <a:off x="4913730" y="1588087"/>
            <a:ext cx="4114800" cy="3170099"/>
          </a:xfrm>
          <a:prstGeom prst="rect">
            <a:avLst/>
          </a:prstGeom>
        </p:spPr>
        <p:txBody>
          <a:bodyPr wrap="square">
            <a:spAutoFit/>
          </a:bodyPr>
          <a:lstStyle/>
          <a:p>
            <a:r>
              <a:rPr lang="en-US" sz="2000" dirty="0"/>
              <a:t>void swap(</a:t>
            </a:r>
            <a:r>
              <a:rPr lang="en-US" sz="2000" dirty="0" err="1"/>
              <a:t>int</a:t>
            </a:r>
            <a:r>
              <a:rPr lang="en-US" sz="2000" dirty="0"/>
              <a:t> *x, </a:t>
            </a:r>
            <a:r>
              <a:rPr lang="en-US" sz="2000" dirty="0" err="1"/>
              <a:t>int</a:t>
            </a:r>
            <a:r>
              <a:rPr lang="en-US" sz="2000" dirty="0"/>
              <a:t> *y) {</a:t>
            </a:r>
          </a:p>
          <a:p>
            <a:endParaRPr lang="en-US" sz="2000" dirty="0"/>
          </a:p>
          <a:p>
            <a:r>
              <a:rPr lang="en-US" sz="2000" dirty="0"/>
              <a:t>   </a:t>
            </a:r>
            <a:r>
              <a:rPr lang="en-US" sz="2000" dirty="0" err="1"/>
              <a:t>int</a:t>
            </a:r>
            <a:r>
              <a:rPr lang="en-US" sz="2000" dirty="0"/>
              <a:t> temp;</a:t>
            </a:r>
          </a:p>
          <a:p>
            <a:r>
              <a:rPr lang="en-US" sz="2000" dirty="0"/>
              <a:t>   temp = *x;    /* save the value at address x */</a:t>
            </a:r>
          </a:p>
          <a:p>
            <a:r>
              <a:rPr lang="en-US" sz="2000" dirty="0"/>
              <a:t>   *x = *y;      /* put y into x */</a:t>
            </a:r>
          </a:p>
          <a:p>
            <a:r>
              <a:rPr lang="en-US" sz="2000" dirty="0"/>
              <a:t>   *y = temp;    /* put temp into y */</a:t>
            </a:r>
          </a:p>
          <a:p>
            <a:r>
              <a:rPr lang="en-US" sz="2000" dirty="0"/>
              <a:t>  </a:t>
            </a:r>
          </a:p>
          <a:p>
            <a:r>
              <a:rPr lang="en-US" sz="2000" dirty="0"/>
              <a:t>   return 0;</a:t>
            </a:r>
          </a:p>
          <a:p>
            <a:r>
              <a:rPr lang="en-US" sz="2000" dirty="0"/>
              <a:t>}</a:t>
            </a:r>
          </a:p>
        </p:txBody>
      </p:sp>
    </p:spTree>
    <p:extLst>
      <p:ext uri="{BB962C8B-B14F-4D97-AF65-F5344CB8AC3E}">
        <p14:creationId xmlns:p14="http://schemas.microsoft.com/office/powerpoint/2010/main" val="151817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D6C511-CC68-4BDE-B643-516FA49AD31B}"/>
              </a:ext>
            </a:extLst>
          </p:cNvPr>
          <p:cNvSpPr>
            <a:spLocks noGrp="1"/>
          </p:cNvSpPr>
          <p:nvPr>
            <p:ph type="title"/>
          </p:nvPr>
        </p:nvSpPr>
        <p:spPr/>
        <p:txBody>
          <a:bodyPr/>
          <a:lstStyle/>
          <a:p>
            <a:r>
              <a:rPr lang="en-US" dirty="0"/>
              <a:t>Recursive functions</a:t>
            </a:r>
          </a:p>
        </p:txBody>
      </p:sp>
      <p:sp>
        <p:nvSpPr>
          <p:cNvPr id="3" name="Content Placeholder 2">
            <a:extLst>
              <a:ext uri="{FF2B5EF4-FFF2-40B4-BE49-F238E27FC236}">
                <a16:creationId xmlns:a16="http://schemas.microsoft.com/office/drawing/2014/main" xmlns="" id="{2BF6F3E8-E6FA-4932-A7A2-9DE09D718E6F}"/>
              </a:ext>
            </a:extLst>
          </p:cNvPr>
          <p:cNvSpPr>
            <a:spLocks noGrp="1"/>
          </p:cNvSpPr>
          <p:nvPr>
            <p:ph idx="1"/>
          </p:nvPr>
        </p:nvSpPr>
        <p:spPr/>
        <p:txBody>
          <a:bodyPr>
            <a:normAutofit fontScale="77500" lnSpcReduction="20000"/>
          </a:bodyPr>
          <a:lstStyle/>
          <a:p>
            <a:r>
              <a:rPr lang="en-US" dirty="0"/>
              <a:t>Recursion is the process of repeating items in a self-similar way. In programming languages, if a program allows you to call a function inside the same function, then it is called a recursive call of the function.</a:t>
            </a:r>
          </a:p>
          <a:p>
            <a:pPr marL="0" indent="0">
              <a:buNone/>
            </a:pPr>
            <a:endParaRPr lang="en-US" dirty="0"/>
          </a:p>
          <a:p>
            <a:pPr marL="0" indent="0">
              <a:buNone/>
            </a:pPr>
            <a:r>
              <a:rPr lang="en-US" sz="3100" dirty="0"/>
              <a:t>void recursion() {</a:t>
            </a:r>
          </a:p>
          <a:p>
            <a:pPr marL="0" indent="0">
              <a:buNone/>
            </a:pPr>
            <a:r>
              <a:rPr lang="en-US" sz="3100" dirty="0"/>
              <a:t>   recursion(); /* function calls itself */</a:t>
            </a:r>
          </a:p>
          <a:p>
            <a:pPr marL="0" indent="0">
              <a:buNone/>
            </a:pPr>
            <a:r>
              <a:rPr lang="en-US" sz="3100" dirty="0"/>
              <a:t>}</a:t>
            </a:r>
          </a:p>
          <a:p>
            <a:pPr marL="0" indent="0">
              <a:buNone/>
            </a:pPr>
            <a:endParaRPr lang="en-US" sz="3100" dirty="0"/>
          </a:p>
          <a:p>
            <a:pPr marL="0" indent="0">
              <a:buNone/>
            </a:pPr>
            <a:r>
              <a:rPr lang="en-US" sz="3100" dirty="0" err="1"/>
              <a:t>int</a:t>
            </a:r>
            <a:r>
              <a:rPr lang="en-US" sz="3100" dirty="0"/>
              <a:t> main() {</a:t>
            </a:r>
          </a:p>
          <a:p>
            <a:pPr marL="0" indent="0">
              <a:buNone/>
            </a:pPr>
            <a:r>
              <a:rPr lang="en-US" sz="3100" dirty="0"/>
              <a:t>   recursion();</a:t>
            </a:r>
          </a:p>
          <a:p>
            <a:pPr marL="0" indent="0">
              <a:buNone/>
            </a:pPr>
            <a:r>
              <a:rPr lang="en-US" sz="3100" dirty="0"/>
              <a:t>}</a:t>
            </a:r>
          </a:p>
        </p:txBody>
      </p:sp>
    </p:spTree>
    <p:extLst>
      <p:ext uri="{BB962C8B-B14F-4D97-AF65-F5344CB8AC3E}">
        <p14:creationId xmlns:p14="http://schemas.microsoft.com/office/powerpoint/2010/main" val="3503372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95607-30BA-43DC-A5A6-83D02F6A377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xmlns="" id="{2C939364-E279-4CBA-B16B-A85997D18D2E}"/>
              </a:ext>
            </a:extLst>
          </p:cNvPr>
          <p:cNvSpPr>
            <a:spLocks noGrp="1"/>
          </p:cNvSpPr>
          <p:nvPr>
            <p:ph idx="1"/>
          </p:nvPr>
        </p:nvSpPr>
        <p:spPr/>
        <p:txBody>
          <a:bodyPr>
            <a:normAutofit fontScale="70000" lnSpcReduction="20000"/>
          </a:bodyPr>
          <a:lstStyle/>
          <a:p>
            <a:pPr marL="0" indent="0">
              <a:buNone/>
            </a:pPr>
            <a:r>
              <a:rPr lang="en-US" dirty="0"/>
              <a:t>#include &lt;</a:t>
            </a:r>
            <a:r>
              <a:rPr lang="en-US" dirty="0" err="1"/>
              <a:t>stdio.h</a:t>
            </a:r>
            <a:r>
              <a:rPr lang="en-US" dirty="0"/>
              <a:t>&gt;</a:t>
            </a:r>
          </a:p>
          <a:p>
            <a:pPr marL="0" indent="0">
              <a:buNone/>
            </a:pPr>
            <a:r>
              <a:rPr lang="en-US" dirty="0" err="1"/>
              <a:t>int</a:t>
            </a:r>
            <a:r>
              <a:rPr lang="en-US" dirty="0"/>
              <a:t> factorial(unsigned </a:t>
            </a:r>
            <a:r>
              <a:rPr lang="en-US" dirty="0" err="1"/>
              <a:t>int</a:t>
            </a:r>
            <a:r>
              <a:rPr lang="en-US" dirty="0"/>
              <a:t> </a:t>
            </a:r>
            <a:r>
              <a:rPr lang="en-US" dirty="0" err="1"/>
              <a:t>i</a:t>
            </a:r>
            <a:r>
              <a:rPr lang="en-US" dirty="0"/>
              <a:t>) {</a:t>
            </a:r>
          </a:p>
          <a:p>
            <a:pPr marL="0" indent="0">
              <a:buNone/>
            </a:pPr>
            <a:r>
              <a:rPr lang="en-US" dirty="0"/>
              <a:t>   if(</a:t>
            </a:r>
            <a:r>
              <a:rPr lang="en-US" dirty="0" err="1"/>
              <a:t>i</a:t>
            </a:r>
            <a:r>
              <a:rPr lang="en-US" dirty="0"/>
              <a:t> &lt;= 1) {</a:t>
            </a:r>
          </a:p>
          <a:p>
            <a:pPr marL="0" indent="0">
              <a:buNone/>
            </a:pPr>
            <a:r>
              <a:rPr lang="en-US" dirty="0"/>
              <a:t>      return 1;</a:t>
            </a:r>
          </a:p>
          <a:p>
            <a:pPr marL="0" indent="0">
              <a:buNone/>
            </a:pPr>
            <a:r>
              <a:rPr lang="en-US" dirty="0"/>
              <a:t>   }</a:t>
            </a:r>
          </a:p>
          <a:p>
            <a:pPr marL="0" indent="0">
              <a:buNone/>
            </a:pPr>
            <a:r>
              <a:rPr lang="en-US" dirty="0"/>
              <a:t>   return </a:t>
            </a:r>
            <a:r>
              <a:rPr lang="en-US" dirty="0" err="1"/>
              <a:t>i</a:t>
            </a:r>
            <a:r>
              <a:rPr lang="en-US" dirty="0"/>
              <a:t> * factorial(</a:t>
            </a:r>
            <a:r>
              <a:rPr lang="en-US" dirty="0" err="1"/>
              <a:t>i</a:t>
            </a:r>
            <a:r>
              <a:rPr lang="en-US" dirty="0"/>
              <a:t> - 1);</a:t>
            </a:r>
          </a:p>
          <a:p>
            <a:pPr marL="0" indent="0">
              <a:buNone/>
            </a:pPr>
            <a:r>
              <a:rPr lang="en-US" dirty="0"/>
              <a:t>}</a:t>
            </a:r>
          </a:p>
          <a:p>
            <a:pPr marL="0" indent="0">
              <a:buNone/>
            </a:pPr>
            <a:r>
              <a:rPr lang="en-US" dirty="0" err="1"/>
              <a:t>int</a:t>
            </a:r>
            <a:r>
              <a:rPr lang="en-US" dirty="0"/>
              <a:t>  main() {</a:t>
            </a:r>
          </a:p>
          <a:p>
            <a:pPr marL="0" indent="0">
              <a:buNone/>
            </a:pPr>
            <a:r>
              <a:rPr lang="en-US" dirty="0"/>
              <a:t>   </a:t>
            </a:r>
            <a:r>
              <a:rPr lang="en-US" dirty="0" err="1"/>
              <a:t>int</a:t>
            </a:r>
            <a:r>
              <a:rPr lang="en-US" dirty="0"/>
              <a:t> </a:t>
            </a:r>
            <a:r>
              <a:rPr lang="en-US" dirty="0" err="1"/>
              <a:t>i</a:t>
            </a:r>
            <a:r>
              <a:rPr lang="en-US" dirty="0"/>
              <a:t> = 12;</a:t>
            </a:r>
          </a:p>
          <a:p>
            <a:pPr marL="0" indent="0">
              <a:buNone/>
            </a:pPr>
            <a:r>
              <a:rPr lang="en-US" dirty="0"/>
              <a:t>   </a:t>
            </a:r>
            <a:r>
              <a:rPr lang="en-US" dirty="0" err="1"/>
              <a:t>printf</a:t>
            </a:r>
            <a:r>
              <a:rPr lang="en-US" dirty="0"/>
              <a:t>("Factorial of %d is %d\n", </a:t>
            </a:r>
            <a:r>
              <a:rPr lang="en-US" dirty="0" err="1"/>
              <a:t>i</a:t>
            </a:r>
            <a:r>
              <a:rPr lang="en-US" dirty="0"/>
              <a:t>, factorial(</a:t>
            </a:r>
            <a:r>
              <a:rPr lang="en-US" dirty="0" err="1"/>
              <a:t>i</a:t>
            </a:r>
            <a:r>
              <a:rPr lang="en-US" dirty="0"/>
              <a:t>));</a:t>
            </a:r>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3859859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7893AC-1047-4FD1-AEBF-CDDE42C85D40}"/>
              </a:ext>
            </a:extLst>
          </p:cNvPr>
          <p:cNvSpPr>
            <a:spLocks noGrp="1"/>
          </p:cNvSpPr>
          <p:nvPr>
            <p:ph type="title"/>
          </p:nvPr>
        </p:nvSpPr>
        <p:spPr/>
        <p:txBody>
          <a:bodyPr/>
          <a:lstStyle/>
          <a:p>
            <a:r>
              <a:rPr lang="en-US" dirty="0"/>
              <a:t>Fibonacci Series</a:t>
            </a:r>
          </a:p>
        </p:txBody>
      </p:sp>
      <p:sp>
        <p:nvSpPr>
          <p:cNvPr id="3" name="Content Placeholder 2">
            <a:extLst>
              <a:ext uri="{FF2B5EF4-FFF2-40B4-BE49-F238E27FC236}">
                <a16:creationId xmlns:a16="http://schemas.microsoft.com/office/drawing/2014/main" xmlns="" id="{6141E477-19C8-4198-8849-23A2DA218970}"/>
              </a:ext>
            </a:extLst>
          </p:cNvPr>
          <p:cNvSpPr>
            <a:spLocks noGrp="1"/>
          </p:cNvSpPr>
          <p:nvPr>
            <p:ph idx="1"/>
          </p:nvPr>
        </p:nvSpPr>
        <p:spPr/>
        <p:txBody>
          <a:bodyPr>
            <a:normAutofit fontScale="85000" lnSpcReduction="20000"/>
          </a:bodyPr>
          <a:lstStyle/>
          <a:p>
            <a:pPr marL="0" indent="0">
              <a:buNone/>
            </a:pPr>
            <a:r>
              <a:rPr lang="en-US" dirty="0"/>
              <a:t>0	</a:t>
            </a:r>
          </a:p>
          <a:p>
            <a:pPr marL="0" indent="0">
              <a:buNone/>
            </a:pPr>
            <a:r>
              <a:rPr lang="en-US" dirty="0"/>
              <a:t>1	</a:t>
            </a:r>
          </a:p>
          <a:p>
            <a:pPr marL="0" indent="0">
              <a:buNone/>
            </a:pPr>
            <a:r>
              <a:rPr lang="en-US" dirty="0"/>
              <a:t>1	</a:t>
            </a:r>
          </a:p>
          <a:p>
            <a:pPr marL="0" indent="0">
              <a:buNone/>
            </a:pPr>
            <a:r>
              <a:rPr lang="en-US" dirty="0"/>
              <a:t>2	</a:t>
            </a:r>
          </a:p>
          <a:p>
            <a:pPr marL="0" indent="0">
              <a:buNone/>
            </a:pPr>
            <a:r>
              <a:rPr lang="en-US" dirty="0"/>
              <a:t>3	</a:t>
            </a:r>
          </a:p>
          <a:p>
            <a:pPr marL="0" indent="0">
              <a:buNone/>
            </a:pPr>
            <a:r>
              <a:rPr lang="en-US" dirty="0"/>
              <a:t>5	</a:t>
            </a:r>
          </a:p>
          <a:p>
            <a:pPr marL="0" indent="0">
              <a:buNone/>
            </a:pPr>
            <a:r>
              <a:rPr lang="en-US" dirty="0"/>
              <a:t>8	</a:t>
            </a:r>
          </a:p>
          <a:p>
            <a:pPr marL="0" indent="0">
              <a:buNone/>
            </a:pPr>
            <a:r>
              <a:rPr lang="en-US" dirty="0"/>
              <a:t>13	</a:t>
            </a:r>
          </a:p>
          <a:p>
            <a:pPr marL="0" indent="0">
              <a:buNone/>
            </a:pPr>
            <a:r>
              <a:rPr lang="en-US" dirty="0"/>
              <a:t>21	</a:t>
            </a:r>
          </a:p>
          <a:p>
            <a:pPr marL="0" indent="0">
              <a:buNone/>
            </a:pPr>
            <a:r>
              <a:rPr lang="en-US" dirty="0"/>
              <a:t>34</a:t>
            </a:r>
          </a:p>
        </p:txBody>
      </p:sp>
    </p:spTree>
    <p:extLst>
      <p:ext uri="{BB962C8B-B14F-4D97-AF65-F5344CB8AC3E}">
        <p14:creationId xmlns:p14="http://schemas.microsoft.com/office/powerpoint/2010/main" val="720395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54BBD93E6361045BDDC16B9DEBC7DA6" ma:contentTypeVersion="7" ma:contentTypeDescription="Create a new document." ma:contentTypeScope="" ma:versionID="019a2df849b193964d642781844ddc49">
  <xsd:schema xmlns:xsd="http://www.w3.org/2001/XMLSchema" xmlns:xs="http://www.w3.org/2001/XMLSchema" xmlns:p="http://schemas.microsoft.com/office/2006/metadata/properties" xmlns:ns2="6d170bfe-e2e2-4142-83d5-a6ef40cb8c49" targetNamespace="http://schemas.microsoft.com/office/2006/metadata/properties" ma:root="true" ma:fieldsID="73f12641ada140efdfba7346b11223b3" ns2:_="">
    <xsd:import namespace="6d170bfe-e2e2-4142-83d5-a6ef40cb8c4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70bfe-e2e2-4142-83d5-a6ef40cb8c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5AF78D-2A81-4949-B231-354A5B694D69}">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6d170bfe-e2e2-4142-83d5-a6ef40cb8c49"/>
    <ds:schemaRef ds:uri="http://www.w3.org/XML/1998/namespace"/>
    <ds:schemaRef ds:uri="http://purl.org/dc/dcmitype/"/>
  </ds:schemaRefs>
</ds:datastoreItem>
</file>

<file path=customXml/itemProps2.xml><?xml version="1.0" encoding="utf-8"?>
<ds:datastoreItem xmlns:ds="http://schemas.openxmlformats.org/officeDocument/2006/customXml" ds:itemID="{6FEC37CF-885F-4E72-A58E-92056B63AAD6}">
  <ds:schemaRefs>
    <ds:schemaRef ds:uri="http://schemas.microsoft.com/sharepoint/v3/contenttype/forms"/>
  </ds:schemaRefs>
</ds:datastoreItem>
</file>

<file path=customXml/itemProps3.xml><?xml version="1.0" encoding="utf-8"?>
<ds:datastoreItem xmlns:ds="http://schemas.openxmlformats.org/officeDocument/2006/customXml" ds:itemID="{25EC48AF-F6AE-46AF-AD04-B05B488C0C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70bfe-e2e2-4142-83d5-a6ef40cb8c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1631</TotalTime>
  <Words>1060</Words>
  <Application>Microsoft Office PowerPoint</Application>
  <PresentationFormat>On-screen Show (4:3)</PresentationFormat>
  <Paragraphs>163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Functions in C</vt:lpstr>
      <vt:lpstr>Functions in C</vt:lpstr>
      <vt:lpstr>Defining a Function</vt:lpstr>
      <vt:lpstr>Defining a Function</vt:lpstr>
      <vt:lpstr>Example</vt:lpstr>
      <vt:lpstr>Function Declarations</vt:lpstr>
      <vt:lpstr>Calling a Function</vt:lpstr>
      <vt:lpstr>PowerPoint Presentation</vt:lpstr>
      <vt:lpstr>Practice Problems</vt:lpstr>
      <vt:lpstr>Passing Arguments</vt:lpstr>
      <vt:lpstr>Pass by Value</vt:lpstr>
      <vt:lpstr>Swapping using Call by value</vt:lpstr>
      <vt:lpstr>Call by Reference</vt:lpstr>
      <vt:lpstr>Swapping using Call by Reference</vt:lpstr>
      <vt:lpstr>Recursive functions</vt:lpstr>
      <vt:lpstr>Example</vt:lpstr>
      <vt:lpstr>Fibonacci Series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Radha Ranganathan</cp:lastModifiedBy>
  <cp:revision>400</cp:revision>
  <dcterms:created xsi:type="dcterms:W3CDTF">2016-01-12T05:48:54Z</dcterms:created>
  <dcterms:modified xsi:type="dcterms:W3CDTF">2026-01-17T03:55:42Z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0x010100954BBD93E6361045BDDC16B9DEBC7DA6</vt:lpwstr>
  </property>
</Properties>
</file>